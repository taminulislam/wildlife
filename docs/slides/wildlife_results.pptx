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874519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8C2D3F"/>
                </a:solidFill>
                <a:latin typeface="Calibri"/>
              </a:rPr>
              <a:t>WACV 2027 SUBMISSION  ·  RESULTS TO 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06070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241C1E"/>
                </a:solidFill>
                <a:latin typeface="Calibri"/>
              </a:rPr>
              <a:t>Counting Is Not Detecting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31012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7A6E70"/>
                </a:solidFill>
                <a:latin typeface="Calibri"/>
              </a:rPr>
              <a:t>Localizing the bottleneck in thermal wildlife video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4315968"/>
            <a:ext cx="2743200" cy="18288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572000"/>
            <a:ext cx="10607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41C1E"/>
                </a:solidFill>
                <a:latin typeface="Calibri"/>
              </a:rPr>
              <a:t>White-tailed deer detection and counting from vehicle-mounted FLIR thermal transects</a:t>
            </a:r>
          </a:p>
          <a:p>
            <a:pPr algn="l">
              <a:lnSpc>
                <a:spcPct val="135000"/>
              </a:lnSpc>
              <a:spcBef>
                <a:spcPts val="900"/>
              </a:spcBef>
            </a:pPr>
            <a:r>
              <a:rPr sz="1500" b="0">
                <a:solidFill>
                  <a:srgbClr val="7A6E70"/>
                </a:solidFill>
                <a:latin typeface="Calibri"/>
              </a:rPr>
              <a:t>32 videos  ·  521,930 frames  ·  236 individually tracked animals  ·  4 sites, southern Illinois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50292" cy="475488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C2D3F"/>
                </a:solidFill>
                <a:latin typeface="Calibri"/>
              </a:rPr>
              <a:t>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786384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41C1E"/>
                </a:solidFill>
                <a:latin typeface="Calibri"/>
              </a:rPr>
              <a:t>One detector, one tracker, a three-parameter confirmation rule</a:t>
            </a:r>
          </a:p>
        </p:txBody>
      </p:sp>
      <p:pic>
        <p:nvPicPr>
          <p:cNvPr id="6" name="Picture 5" descr="wildlife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861" y="1783080"/>
            <a:ext cx="10031972" cy="2286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8368" y="4370832"/>
            <a:ext cx="10874959" cy="18288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617720"/>
            <a:ext cx="332018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8C2D3F"/>
                </a:solidFill>
                <a:latin typeface="Calibri"/>
              </a:rPr>
              <a:t>Detection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974336"/>
            <a:ext cx="3320186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YOLO11m @ 640 px, chosen from a 12-architecture benchmark on the criterion that matters downstream, not on mAP.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5754" y="4617720"/>
            <a:ext cx="332018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8C2D3F"/>
                </a:solidFill>
                <a:latin typeface="Calibri"/>
              </a:rPr>
              <a:t>Association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5754" y="4974336"/>
            <a:ext cx="3320186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BoT-SORT with global motion compensation — mandatory, the vehicle travels 25–90 km/h and the whole frame translates.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3140" y="4617720"/>
            <a:ext cx="332018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8C2D3F"/>
                </a:solidFill>
                <a:latin typeface="Calibri"/>
              </a:rPr>
              <a:t>Confirmation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3140" y="4974336"/>
            <a:ext cx="3320186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Accept a track on length, span and top-5 mean confidence. Three parameters, swept on training video and frozen.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50292" cy="475488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C2D3F"/>
                </a:solidFill>
                <a:latin typeface="Calibri"/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786384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41C1E"/>
                </a:solidFill>
                <a:latin typeface="Calibri"/>
              </a:rPr>
              <a:t>32 annotated thermal transects, 236 individually tracked animals</a:t>
            </a:r>
          </a:p>
        </p:txBody>
      </p:sp>
      <p:pic>
        <p:nvPicPr>
          <p:cNvPr id="6" name="Picture 5" descr="dataset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4437" y="1645920"/>
            <a:ext cx="5542820" cy="22128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395020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7A6E70"/>
                </a:solidFill>
                <a:latin typeface="Calibri"/>
              </a:rPr>
              <a:t>Top: frames as the detector receives them, after CLAHE normalization.   Bottom: the same frames with their annotation.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443984"/>
            <a:ext cx="124423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6E70"/>
                </a:solidFill>
                <a:latin typeface="Calibri"/>
              </a:rPr>
              <a:t>Split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2605" y="4443984"/>
            <a:ext cx="82949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7A6E70"/>
                </a:solidFill>
                <a:latin typeface="Calibri"/>
              </a:rPr>
              <a:t>Videos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32096" y="4443984"/>
            <a:ext cx="9539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7A6E70"/>
                </a:solidFill>
                <a:latin typeface="Calibri"/>
              </a:rPr>
              <a:t>Frames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6011" y="4443984"/>
            <a:ext cx="10368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7A6E70"/>
                </a:solidFill>
                <a:latin typeface="Calibri"/>
              </a:rPr>
              <a:t>With deer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2876" y="4443984"/>
            <a:ext cx="82949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7A6E70"/>
                </a:solidFill>
                <a:latin typeface="Calibri"/>
              </a:rPr>
              <a:t>Empty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2367" y="4443984"/>
            <a:ext cx="912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7A6E70"/>
                </a:solidFill>
                <a:latin typeface="Calibri"/>
              </a:rPr>
              <a:t>Boxes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690872"/>
            <a:ext cx="5806440" cy="16459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782312"/>
            <a:ext cx="1244237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Train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2605" y="4782312"/>
            <a:ext cx="829491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32096" y="4782312"/>
            <a:ext cx="953915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12,852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6011" y="4782312"/>
            <a:ext cx="1036864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5,013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2876" y="4782312"/>
            <a:ext cx="829491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7,839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52367" y="4782312"/>
            <a:ext cx="912440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7,547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001768"/>
            <a:ext cx="580644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5042916"/>
            <a:ext cx="1244237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02605" y="5042916"/>
            <a:ext cx="829491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32096" y="5042916"/>
            <a:ext cx="953915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2,337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6011" y="5042916"/>
            <a:ext cx="1036864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935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22876" y="5042916"/>
            <a:ext cx="829491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1,402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52367" y="5042916"/>
            <a:ext cx="912440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2,564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262372"/>
            <a:ext cx="580644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5303520"/>
            <a:ext cx="1244237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Test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02605" y="5303520"/>
            <a:ext cx="829491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32096" y="5303520"/>
            <a:ext cx="953915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3,725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86011" y="5303520"/>
            <a:ext cx="1036864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1,490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22876" y="5303520"/>
            <a:ext cx="829491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2,235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2367" y="5303520"/>
            <a:ext cx="912440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2,792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522976"/>
            <a:ext cx="5806440" cy="12801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5564124"/>
            <a:ext cx="1244237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41C1E"/>
                </a:solidFill>
                <a:latin typeface="Calibri"/>
              </a:rPr>
              <a:t>Total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02605" y="5564124"/>
            <a:ext cx="829491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>
                <a:solidFill>
                  <a:srgbClr val="241C1E"/>
                </a:solidFill>
                <a:latin typeface="Calibri"/>
              </a:rPr>
              <a:t>32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32096" y="5564124"/>
            <a:ext cx="953915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>
                <a:solidFill>
                  <a:srgbClr val="241C1E"/>
                </a:solidFill>
                <a:latin typeface="Calibri"/>
              </a:rPr>
              <a:t>18,914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86011" y="5564124"/>
            <a:ext cx="1036864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>
                <a:solidFill>
                  <a:srgbClr val="241C1E"/>
                </a:solidFill>
                <a:latin typeface="Calibri"/>
              </a:rPr>
              <a:t>7,438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22876" y="5564124"/>
            <a:ext cx="829491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>
                <a:solidFill>
                  <a:srgbClr val="241C1E"/>
                </a:solidFill>
                <a:latin typeface="Calibri"/>
              </a:rPr>
              <a:t>11,476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52367" y="5564124"/>
            <a:ext cx="912440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>
                <a:solidFill>
                  <a:srgbClr val="241C1E"/>
                </a:solidFill>
                <a:latin typeface="Calibri"/>
              </a:rPr>
              <a:t>12,903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03720" y="4443984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8C2D3F"/>
                </a:solidFill>
                <a:latin typeface="Calibri"/>
              </a:rPr>
              <a:t>What matters here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03720" y="4828032"/>
            <a:ext cx="46177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241C1E"/>
                </a:solidFill>
                <a:latin typeface="Calibri"/>
              </a:rPr>
              <a:t>11,476 frames are explicit negatives. A survey system must not fire on warm rocks or structures, so background frames are annotated, not discarded.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</a:pPr>
            <a:r>
              <a:rPr sz="1300" b="0">
                <a:solidFill>
                  <a:srgbClr val="241C1E"/>
                </a:solidFill>
                <a:latin typeface="Calibri"/>
              </a:rPr>
              <a:t>Splits are by video and site-stratified — no frame from a training video appears in evaluation.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50292" cy="475488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C2D3F"/>
                </a:solidFill>
                <a:latin typeface="Calibri"/>
              </a:rPr>
              <a:t>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786384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41C1E"/>
                </a:solidFill>
                <a:latin typeface="Calibri"/>
              </a:rPr>
              <a:t>Twelve architectures, and very little separates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524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6E70"/>
                </a:solidFill>
                <a:latin typeface="Calibri"/>
              </a:rPr>
              <a:t>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2368" y="1755648"/>
            <a:ext cx="7402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A6E70"/>
                </a:solidFill>
                <a:latin typeface="Calibri"/>
              </a:rPr>
              <a:t>AP50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2596" y="1755648"/>
            <a:ext cx="10014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A6E70"/>
                </a:solidFill>
                <a:latin typeface="Calibri"/>
              </a:rPr>
              <a:t>Precision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24082" y="1755648"/>
            <a:ext cx="78377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A6E70"/>
                </a:solidFill>
                <a:latin typeface="Calibri"/>
              </a:rPr>
              <a:t>Recall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7853" y="1755648"/>
            <a:ext cx="6966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A6E70"/>
                </a:solidFill>
                <a:latin typeface="Calibri"/>
              </a:rPr>
              <a:t>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04539" y="1755648"/>
            <a:ext cx="7402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A6E70"/>
                </a:solidFill>
                <a:latin typeface="Calibri"/>
              </a:rPr>
              <a:t>F0.5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002536"/>
            <a:ext cx="5486400" cy="16459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093976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YOLOv8m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82368" y="20939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0.459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2596" y="2093976"/>
            <a:ext cx="10014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0.780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24082" y="2093976"/>
            <a:ext cx="78377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0.572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7853" y="2093976"/>
            <a:ext cx="6966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0.660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4539" y="20939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0.727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2395728"/>
            <a:ext cx="548640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2436876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ATSS R50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82368" y="24368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0.380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2596" y="2436876"/>
            <a:ext cx="10014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0.683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24082" y="2436876"/>
            <a:ext cx="78377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0.635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7853" y="2436876"/>
            <a:ext cx="6966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0.658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4539" y="24368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0.673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738628"/>
            <a:ext cx="548640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2779776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TOOD R50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82368" y="27797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0.396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2596" y="2779776"/>
            <a:ext cx="10014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0.683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24082" y="2779776"/>
            <a:ext cx="78377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0.621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7853" y="2779776"/>
            <a:ext cx="6966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0.650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04539" y="27797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0.670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3081528"/>
            <a:ext cx="5486400" cy="12801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122676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41C1E"/>
                </a:solidFill>
                <a:latin typeface="Calibri"/>
              </a:rPr>
              <a:t>YOLO11m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82368" y="31226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>
                <a:solidFill>
                  <a:srgbClr val="241C1E"/>
                </a:solidFill>
                <a:latin typeface="Calibri"/>
              </a:rPr>
              <a:t>0.460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22596" y="3122676"/>
            <a:ext cx="10014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>
                <a:solidFill>
                  <a:srgbClr val="241C1E"/>
                </a:solidFill>
                <a:latin typeface="Calibri"/>
              </a:rPr>
              <a:t>0.897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24082" y="3122676"/>
            <a:ext cx="78377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>
                <a:solidFill>
                  <a:srgbClr val="241C1E"/>
                </a:solidFill>
                <a:latin typeface="Calibri"/>
              </a:rPr>
              <a:t>0.503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07853" y="3122676"/>
            <a:ext cx="6966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>
                <a:solidFill>
                  <a:srgbClr val="241C1E"/>
                </a:solidFill>
                <a:latin typeface="Calibri"/>
              </a:rPr>
              <a:t>0.645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04539" y="31226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>
                <a:solidFill>
                  <a:srgbClr val="241C1E"/>
                </a:solidFill>
                <a:latin typeface="Calibri"/>
              </a:rPr>
              <a:t>0.775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3424428"/>
            <a:ext cx="548640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3465576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RT-DETR-L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82368" y="34655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0.434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22596" y="3465576"/>
            <a:ext cx="10014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0.643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24082" y="3465576"/>
            <a:ext cx="78377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0.605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07853" y="3465576"/>
            <a:ext cx="6966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0.623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04539" y="34655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0.635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8368" y="3767328"/>
            <a:ext cx="548640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3808476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YOLO12m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82368" y="38084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0.508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22596" y="3808476"/>
            <a:ext cx="10014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0.929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24082" y="3808476"/>
            <a:ext cx="78377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0.452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07853" y="3808476"/>
            <a:ext cx="6966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0.608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04539" y="38084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0.767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8368" y="4110228"/>
            <a:ext cx="548640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" y="4151376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YOLOv9m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82368" y="41513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0.506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22596" y="4151376"/>
            <a:ext cx="10014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0.917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24082" y="4151376"/>
            <a:ext cx="78377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0.450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07853" y="4151376"/>
            <a:ext cx="6966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0.604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04539" y="41513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0.759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4453128"/>
            <a:ext cx="548640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4494276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YOLOv10m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82368" y="44942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0.510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2596" y="4494276"/>
            <a:ext cx="10014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0.874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24082" y="4494276"/>
            <a:ext cx="78377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0.453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07853" y="4494276"/>
            <a:ext cx="6966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0.597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04539" y="44942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0.737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58368" y="4796028"/>
            <a:ext cx="548640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4837176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DINO R50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82368" y="48371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0.365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922596" y="4837176"/>
            <a:ext cx="10014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0.560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24082" y="4837176"/>
            <a:ext cx="78377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0.572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07853" y="4837176"/>
            <a:ext cx="6966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0.566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04539" y="48371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0.562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8368" y="5138928"/>
            <a:ext cx="548640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5180076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Faster R-CNN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82368" y="51800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0.418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922596" y="5180076"/>
            <a:ext cx="10014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0.393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924082" y="5180076"/>
            <a:ext cx="78377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0.723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707853" y="5180076"/>
            <a:ext cx="6966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0.509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04539" y="51800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0.433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58368" y="5481828"/>
            <a:ext cx="548640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58368" y="5522976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RTMDet-m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82368" y="55229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0.466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22596" y="5522976"/>
            <a:ext cx="10014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0.325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924082" y="5522976"/>
            <a:ext cx="78377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0.779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707853" y="5522976"/>
            <a:ext cx="6966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0.459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04539" y="55229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0.368</a:t>
            </a:r>
          </a:p>
        </p:txBody>
      </p:sp>
      <p:pic>
        <p:nvPicPr>
          <p:cNvPr id="89" name="Picture 88" descr="detect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5786" y="1755648"/>
            <a:ext cx="2987827" cy="251460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6537960" y="438912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8C2D3F"/>
                </a:solidFill>
                <a:latin typeface="Calibri"/>
              </a:rPr>
              <a:t>Why YOLO11m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537960" y="4773168"/>
            <a:ext cx="49834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AP50 spans only 0.365–0.510 across designs as different as Faster R-CNN, DINO and YOLO12m — the signature of a data-limited rather than an architecture-limited regime.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</a:pPr>
            <a:r>
              <a:rPr sz="1250" b="0">
                <a:solidFill>
                  <a:srgbClr val="241C1E"/>
                </a:solidFill>
                <a:latin typeface="Calibri"/>
              </a:rPr>
              <a:t>The confirmation stage downstream must reject tens of thousands of false candidates against a few hundred true ones, so we select on precision-weighted F0.5, where YOLO11m ranks first at 0.775.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50292" cy="475488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C2D3F"/>
                </a:solidFill>
                <a:latin typeface="Calibr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786384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41C1E"/>
                </a:solidFill>
                <a:latin typeface="Calibri"/>
              </a:rPr>
              <a:t>Detection is not the bottleneck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74519"/>
            <a:ext cx="41148" cy="1170432"/>
          </a:xfrm>
          <a:prstGeom prst="rect">
            <a:avLst/>
          </a:prstGeom>
          <a:solidFill>
            <a:srgbClr val="4A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3" y="1819655"/>
            <a:ext cx="24688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241C1E"/>
                </a:solidFill>
                <a:latin typeface="Calibri"/>
              </a:rPr>
              <a:t>98.8%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3" y="2441448"/>
            <a:ext cx="24688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7A6E70"/>
                </a:solidFill>
                <a:latin typeface="Calibri"/>
              </a:rPr>
              <a:t>of held-out animals
are detected at all</a:t>
            </a:r>
          </a:p>
        </p:txBody>
      </p:sp>
      <p:sp>
        <p:nvSpPr>
          <p:cNvPr id="9" name="Rectangle 8"/>
          <p:cNvSpPr/>
          <p:nvPr/>
        </p:nvSpPr>
        <p:spPr>
          <a:xfrm>
            <a:off x="3456432" y="1874519"/>
            <a:ext cx="41148" cy="1170432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0168" y="1819655"/>
            <a:ext cx="24688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241C1E"/>
                </a:solidFill>
                <a:latin typeface="Calibri"/>
              </a:rPr>
              <a:t>88.0%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0168" y="2441448"/>
            <a:ext cx="24688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7A6E70"/>
                </a:solidFill>
                <a:latin typeface="Calibri"/>
              </a:rPr>
              <a:t>acquire their own
distinct track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54496" y="1874519"/>
            <a:ext cx="41148" cy="1170432"/>
          </a:xfrm>
          <a:prstGeom prst="rect">
            <a:avLst/>
          </a:prstGeom>
          <a:solidFill>
            <a:srgbClr val="C44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1819655"/>
            <a:ext cx="24688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241C1E"/>
                </a:solidFill>
                <a:latin typeface="Calibri"/>
              </a:rPr>
              <a:t>62.7%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2441448"/>
            <a:ext cx="24688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7A6E70"/>
                </a:solidFill>
                <a:latin typeface="Calibri"/>
              </a:rPr>
              <a:t>survive confirmation
and are counted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1874519"/>
            <a:ext cx="41148" cy="1170432"/>
          </a:xfrm>
          <a:prstGeom prst="rect">
            <a:avLst/>
          </a:prstGeom>
          <a:solidFill>
            <a:srgbClr val="7A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26296" y="1819655"/>
            <a:ext cx="24688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241C1E"/>
                </a:solidFill>
                <a:latin typeface="Calibri"/>
              </a:rPr>
              <a:t>2.38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6296" y="2441448"/>
            <a:ext cx="24688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7A6E70"/>
                </a:solidFill>
                <a:latin typeface="Calibri"/>
              </a:rPr>
              <a:t>mean absolute error,
animals per video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346704"/>
            <a:ext cx="10874959" cy="18288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509" y="3611880"/>
            <a:ext cx="5356997" cy="2788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37960" y="3611880"/>
            <a:ext cx="4983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8C2D3F"/>
                </a:solidFill>
                <a:latin typeface="Calibri"/>
              </a:rPr>
              <a:t>What this says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4005072"/>
            <a:ext cx="49834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241C1E"/>
                </a:solidFill>
                <a:latin typeface="Calibri"/>
              </a:rPr>
              <a:t>Nearly every animal is found. The loss is concentrated after detection — in association, and above all in the decision of which candidate tracks are real.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</a:pPr>
            <a:r>
              <a:rPr sz="1350" b="0">
                <a:solidFill>
                  <a:srgbClr val="241C1E"/>
                </a:solidFill>
                <a:latin typeface="Calibri"/>
              </a:rPr>
              <a:t>A better backbone cannot recover the 36 points between detected and counted, because those animals were never missed by the detector in the first place.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6144768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A6E70"/>
                </a:solidFill>
                <a:latin typeface="Calibri"/>
              </a:rPr>
              <a:t>Held out: rule swept on 19 training videos, frozen, reported on 13 unseen.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50292" cy="475488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C2D3F"/>
                </a:solidFill>
                <a:latin typeface="Calibri"/>
              </a:rPr>
              <a:t>PER-VIDEO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786384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41C1E"/>
                </a:solidFill>
                <a:latin typeface="Calibri"/>
              </a:rPr>
              <a:t>Reading a row left to right attributes that video's loss to a stage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719072"/>
            <a:ext cx="19085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6E70"/>
                </a:solidFill>
                <a:latin typeface="Calibri"/>
              </a:rPr>
              <a:t>Video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6965" y="1719072"/>
            <a:ext cx="60912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6E70"/>
                </a:solidFill>
                <a:latin typeface="Calibri"/>
              </a:rPr>
              <a:t>Site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6091" y="1719072"/>
            <a:ext cx="85277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A6E70"/>
                </a:solidFill>
                <a:latin typeface="Calibri"/>
              </a:rPr>
              <a:t>Animals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8869" y="1719072"/>
            <a:ext cx="85277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A6E70"/>
                </a:solidFill>
                <a:latin typeface="Calibri"/>
              </a:rPr>
              <a:t>Detected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81646" y="1719072"/>
            <a:ext cx="8933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A6E70"/>
                </a:solidFill>
                <a:latin typeface="Calibri"/>
              </a:rPr>
              <a:t>Own track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5032" y="1719072"/>
            <a:ext cx="771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A6E70"/>
                </a:solidFill>
                <a:latin typeface="Calibri"/>
              </a:rPr>
              <a:t>Counted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6592" y="1719072"/>
            <a:ext cx="6497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A6E70"/>
                </a:solidFill>
                <a:latin typeface="Calibri"/>
              </a:rPr>
              <a:t>Error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965960"/>
            <a:ext cx="6537960" cy="16459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057400"/>
            <a:ext cx="190859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NShelbyRd (blue)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6965" y="2057400"/>
            <a:ext cx="60912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SHB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76091" y="2057400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8869" y="2057400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1646" y="2057400"/>
            <a:ext cx="89338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5032" y="2057400"/>
            <a:ext cx="7715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6592" y="2057400"/>
            <a:ext cx="64973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−7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2322576"/>
            <a:ext cx="653796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363724"/>
            <a:ext cx="190859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GolfDr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6965" y="2363724"/>
            <a:ext cx="60912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SHB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6091" y="2363724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8869" y="2363724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81646" y="2363724"/>
            <a:ext cx="89338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75032" y="2363724"/>
            <a:ext cx="7715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46592" y="2363724"/>
            <a:ext cx="64973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+2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2628900"/>
            <a:ext cx="653796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2670048"/>
            <a:ext cx="190859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NWolfCreek (orange)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66965" y="2670048"/>
            <a:ext cx="60912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SHB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76091" y="2670048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8869" y="2670048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81646" y="2670048"/>
            <a:ext cx="89338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75032" y="2670048"/>
            <a:ext cx="7715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46592" y="2670048"/>
            <a:ext cx="64973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−4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2935224"/>
            <a:ext cx="653796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2976372"/>
            <a:ext cx="190859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GiantCityRd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66965" y="2976372"/>
            <a:ext cx="60912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TON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76091" y="2976372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28869" y="2976372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81646" y="2976372"/>
            <a:ext cx="89338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75032" y="2976372"/>
            <a:ext cx="7715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46592" y="2976372"/>
            <a:ext cx="64973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−5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3241548"/>
            <a:ext cx="653796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3282696"/>
            <a:ext cx="190859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Robinson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66965" y="3282696"/>
            <a:ext cx="60912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SHW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76091" y="3282696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28869" y="3282696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81646" y="3282696"/>
            <a:ext cx="89338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75032" y="3282696"/>
            <a:ext cx="7715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46592" y="3282696"/>
            <a:ext cx="64973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8368" y="3547872"/>
            <a:ext cx="653796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3589020"/>
            <a:ext cx="190859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Melvin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66965" y="3589020"/>
            <a:ext cx="60912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SHW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76091" y="3589020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28869" y="3589020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81646" y="3589020"/>
            <a:ext cx="89338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775032" y="3589020"/>
            <a:ext cx="7715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46592" y="3589020"/>
            <a:ext cx="64973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−4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3854196"/>
            <a:ext cx="653796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3895344"/>
            <a:ext cx="190859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AquaCultureRd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66965" y="3895344"/>
            <a:ext cx="60912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TON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76091" y="3895344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28869" y="3895344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81646" y="3895344"/>
            <a:ext cx="89338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75032" y="3895344"/>
            <a:ext cx="7715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46592" y="3895344"/>
            <a:ext cx="64973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−3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58368" y="4160520"/>
            <a:ext cx="653796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58368" y="4201668"/>
            <a:ext cx="190859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N25thBlue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566965" y="4201668"/>
            <a:ext cx="60912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MAS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176091" y="4201668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028869" y="4201668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81646" y="4201668"/>
            <a:ext cx="89338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775032" y="4201668"/>
            <a:ext cx="7715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546592" y="4201668"/>
            <a:ext cx="64973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58368" y="4466844"/>
            <a:ext cx="653796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8368" y="4507992"/>
            <a:ext cx="190859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NMarseilles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66965" y="4507992"/>
            <a:ext cx="60912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MAS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176091" y="4507992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28869" y="4507992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1646" y="4507992"/>
            <a:ext cx="89338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75032" y="4507992"/>
            <a:ext cx="7715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546592" y="4507992"/>
            <a:ext cx="64973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−2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58368" y="4773168"/>
            <a:ext cx="653796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58368" y="4814316"/>
            <a:ext cx="190859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OikosRd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566965" y="4814316"/>
            <a:ext cx="60912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TON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76091" y="4814316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028869" y="4814316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881646" y="4814316"/>
            <a:ext cx="89338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775032" y="4814316"/>
            <a:ext cx="7715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46592" y="4814316"/>
            <a:ext cx="64973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−1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58368" y="5079492"/>
            <a:ext cx="653796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58368" y="5120640"/>
            <a:ext cx="190859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TouchofNature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566965" y="5120640"/>
            <a:ext cx="60912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TON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176091" y="5120640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028869" y="5120640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881646" y="5120640"/>
            <a:ext cx="89338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775032" y="5120640"/>
            <a:ext cx="7715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546592" y="5120640"/>
            <a:ext cx="64973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−2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58368" y="5385816"/>
            <a:ext cx="653796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58368" y="5426964"/>
            <a:ext cx="190859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ChipsRd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566965" y="5426964"/>
            <a:ext cx="60912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TON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176091" y="5426964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28869" y="5426964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81646" y="5426964"/>
            <a:ext cx="89338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775032" y="5426964"/>
            <a:ext cx="7715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546592" y="5426964"/>
            <a:ext cx="64973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5692140"/>
            <a:ext cx="653796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58368" y="5733288"/>
            <a:ext cx="190859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SIron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566965" y="5733288"/>
            <a:ext cx="60912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SHW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76091" y="5733288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028869" y="5733288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81646" y="5733288"/>
            <a:ext cx="89338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775032" y="5733288"/>
            <a:ext cx="7715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46592" y="5733288"/>
            <a:ext cx="64973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+1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58368" y="5998464"/>
            <a:ext cx="6537960" cy="12801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58368" y="6039612"/>
            <a:ext cx="190859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41C1E"/>
                </a:solidFill>
                <a:latin typeface="Calibri"/>
              </a:rPr>
              <a:t>Total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566965" y="6039612"/>
            <a:ext cx="60912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41C1E"/>
                </a:solidFill>
                <a:latin typeface="Calibri"/>
              </a:rPr>
              <a:t/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176091" y="6039612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>
                <a:solidFill>
                  <a:srgbClr val="241C1E"/>
                </a:solidFill>
                <a:latin typeface="Calibri"/>
              </a:rPr>
              <a:t>83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028869" y="6039612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>
                <a:solidFill>
                  <a:srgbClr val="241C1E"/>
                </a:solidFill>
                <a:latin typeface="Calibri"/>
              </a:rPr>
              <a:t>74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881646" y="6039612"/>
            <a:ext cx="89338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>
                <a:solidFill>
                  <a:srgbClr val="241C1E"/>
                </a:solidFill>
                <a:latin typeface="Calibri"/>
              </a:rPr>
              <a:t>66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775032" y="6039612"/>
            <a:ext cx="7715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>
                <a:solidFill>
                  <a:srgbClr val="241C1E"/>
                </a:solidFill>
                <a:latin typeface="Calibri"/>
              </a:rPr>
              <a:t>58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546592" y="6039612"/>
            <a:ext cx="64973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>
                <a:solidFill>
                  <a:srgbClr val="241C1E"/>
                </a:solidFill>
                <a:latin typeface="Calibri"/>
              </a:rPr>
              <a:t>−25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818120" y="1719072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8C2D3F"/>
                </a:solidFill>
                <a:latin typeface="Calibri"/>
              </a:rPr>
              <a:t>How to read it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18120" y="2103120"/>
            <a:ext cx="370332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Animals is the annotated count. Detected and Own track are the two intermediate stages; Counted is what the system reports.</a:t>
            </a:r>
          </a:p>
          <a:p>
            <a:pPr algn="l">
              <a:lnSpc>
                <a:spcPct val="126000"/>
              </a:lnSpc>
              <a:spcBef>
                <a:spcPts val="1000"/>
              </a:spcBef>
            </a:pPr>
            <a:r>
              <a:rPr sz="1250" b="0">
                <a:solidFill>
                  <a:srgbClr val="241C1E"/>
                </a:solidFill>
                <a:latin typeface="Calibri"/>
              </a:rPr>
              <a:t>The error concentrates in dense-group footage. NShelbyRd loses 5 animals to detection and a further 6 to association — the largest tracking failure in the corpus, and the reason group video dominates the total.</a:t>
            </a:r>
          </a:p>
          <a:p>
            <a:pPr algn="l">
              <a:lnSpc>
                <a:spcPct val="126000"/>
              </a:lnSpc>
              <a:spcBef>
                <a:spcPts val="1000"/>
              </a:spcBef>
            </a:pPr>
            <a:r>
              <a:rPr sz="1250" b="0">
                <a:solidFill>
                  <a:srgbClr val="241C1E"/>
                </a:solidFill>
                <a:latin typeface="Calibri"/>
              </a:rPr>
              <a:t>Only two videos over-count, and both do so with their detection and association columns complete. Their error is confirmation accepting spurious tracks, not anything upstream.</a:t>
            </a:r>
          </a:p>
          <a:p>
            <a:pPr algn="l">
              <a:lnSpc>
                <a:spcPct val="126000"/>
              </a:lnSpc>
              <a:spcBef>
                <a:spcPts val="1000"/>
              </a:spcBef>
            </a:pPr>
            <a:r>
              <a:rPr sz="1250" b="0">
                <a:solidFill>
                  <a:srgbClr val="241C1E"/>
                </a:solidFill>
                <a:latin typeface="Calibri"/>
              </a:rPr>
              <a:t>MAE 2.38 animals per video; the system under-counts and essentially never inflates.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50292" cy="475488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C2D3F"/>
                </a:solidFill>
                <a:latin typeface="Calibri"/>
              </a:rPr>
              <a:t>QUALITATIVE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786384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41C1E"/>
                </a:solidFill>
                <a:latin typeface="Calibri"/>
              </a:rPr>
              <a:t>Tracking holds through overlap and low contrast</a:t>
            </a:r>
          </a:p>
        </p:txBody>
      </p:sp>
      <p:pic>
        <p:nvPicPr>
          <p:cNvPr id="6" name="Picture 5" descr="qualit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8310" y="1691640"/>
            <a:ext cx="7795074" cy="3246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8368" y="5138928"/>
            <a:ext cx="10874959" cy="18288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358384"/>
            <a:ext cx="332018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8C2D3F"/>
                </a:solidFill>
                <a:latin typeface="Calibri"/>
              </a:rPr>
              <a:t>Identities persist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687568"/>
            <a:ext cx="332018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241C1E"/>
                </a:solidFill>
                <a:latin typeface="Calibri"/>
              </a:rPr>
              <a:t>Top row is the same scene 0.3 s apart. Tracks keep their identities while the camera translates beneath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5754" y="5358384"/>
            <a:ext cx="332018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8C2D3F"/>
                </a:solidFill>
                <a:latin typeface="Calibri"/>
              </a:rPr>
              <a:t>Overlap is resolved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5754" y="5687568"/>
            <a:ext cx="332018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241C1E"/>
                </a:solidFill>
                <a:latin typeface="Calibri"/>
              </a:rPr>
              <a:t>Animals whose boxes intersect are still carried as separate tracks — the failure that silently merges two deer into one.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3140" y="5358384"/>
            <a:ext cx="332018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8C2D3F"/>
                </a:solidFill>
                <a:latin typeface="Calibri"/>
              </a:rPr>
              <a:t>Confidence is honest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3140" y="5687568"/>
            <a:ext cx="332018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241C1E"/>
                </a:solidFill>
                <a:latin typeface="Calibri"/>
              </a:rPr>
              <a:t>The per-track score falls with range, from a near animal at 87 px to a distant one at 22 px in a single frame.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50292" cy="475488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C2D3F"/>
                </a:solidFill>
                <a:latin typeface="Calibri"/>
              </a:rPr>
              <a:t>CENTRAL FINDING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786384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41C1E"/>
                </a:solidFill>
                <a:latin typeface="Calibri"/>
              </a:rPr>
              <a:t>Improving candidate generation makes counting worse</a:t>
            </a:r>
          </a:p>
        </p:txBody>
      </p:sp>
      <p:pic>
        <p:nvPicPr>
          <p:cNvPr id="6" name="Picture 5" descr="inv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39" y="1828800"/>
            <a:ext cx="5593976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28" y="4956048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7A6E70"/>
                </a:solidFill>
                <a:latin typeface="Calibri"/>
              </a:rPr>
              <a:t>Four independent interventions each enlarged the candidate pool as designed. Every one of them counted fewer animals.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1874519"/>
            <a:ext cx="4800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8C2D3F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2267712"/>
            <a:ext cx="4800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241C1E"/>
                </a:solidFill>
                <a:latin typeface="Calibri"/>
              </a:rPr>
              <a:t>Each intervention adds far more false candidates than real ones — the richest pool holds 219 true tracks against 27,460 false. A rule tuned to survive that ratio has to be aggressive enough to reject real animals along with the noise.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40" y="4315968"/>
            <a:ext cx="4800600" cy="18288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4553712"/>
            <a:ext cx="4800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8C2D3F"/>
                </a:solidFill>
                <a:latin typeface="Calibri"/>
              </a:rPr>
              <a:t>And it resists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4946904"/>
            <a:ext cx="48006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241C1E"/>
                </a:solidFill>
                <a:latin typeface="Calibri"/>
              </a:rPr>
              <a:t>A transformer, gradient boosting and logistic regression all lose to the three-parameter rule under three separate protocols. Error grows with model capacity — the constraint is supervision, not architecture.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50292" cy="475488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C2D3F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786384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41C1E"/>
                </a:solidFill>
                <a:latin typeface="Calibri"/>
              </a:rPr>
              <a:t>What we can claim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37943"/>
            <a:ext cx="32004" cy="420624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8308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8C2D3F"/>
                </a:solidFill>
                <a:latin typeface="Calibri"/>
              </a:rPr>
              <a:t>Corpus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4368" y="1764792"/>
            <a:ext cx="8588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241C1E"/>
                </a:solidFill>
                <a:latin typeface="Calibri"/>
              </a:rPr>
              <a:t>32 fully annotated thermal transects, 236 individually tracked deer, 21,646 boxes. Released with the paper.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697479"/>
            <a:ext cx="32004" cy="420624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642615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8C2D3F"/>
                </a:solidFill>
                <a:latin typeface="Calibri"/>
              </a:rPr>
              <a:t>Detector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2624327"/>
            <a:ext cx="8588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241C1E"/>
                </a:solidFill>
                <a:latin typeface="Calibri"/>
              </a:rPr>
              <a:t>12 architectures benchmarked under four matching criteria. YOLO11m @ 640 px, 0.897 precision, selected on the criterion the counter actually needs.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557015"/>
            <a:ext cx="32004" cy="420624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3502151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8C2D3F"/>
                </a:solidFill>
                <a:latin typeface="Calibri"/>
              </a:rPr>
              <a:t>Preprocessing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4368" y="3483863"/>
            <a:ext cx="8588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241C1E"/>
                </a:solidFill>
                <a:latin typeface="Calibri"/>
              </a:rPr>
              <a:t>CLAHE normalization is worth more than any architectural choice we tested — test mAP50 0.519 with it, 0.299 without.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416551"/>
            <a:ext cx="32004" cy="420624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4361688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8C2D3F"/>
                </a:solidFill>
                <a:latin typeface="Calibri"/>
              </a:rPr>
              <a:t>Counting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4368" y="4343400"/>
            <a:ext cx="8588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241C1E"/>
                </a:solidFill>
                <a:latin typeface="Calibri"/>
              </a:rPr>
              <a:t>98.8% detected, 88.0% distinctly tracked, 62.7% counted on video the detector never saw. MAE 2.38 animals per video, and the system under-counts rather than over-counts.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276087"/>
            <a:ext cx="32004" cy="420624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" y="5221223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8C2D3F"/>
                </a:solidFill>
                <a:latin typeface="Calibri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44368" y="5202936"/>
            <a:ext cx="8588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241C1E"/>
                </a:solidFill>
                <a:latin typeface="Calibri"/>
              </a:rPr>
              <a:t>Every counted animal carries a calibrated score and a contact sheet of its own frames; 92.1% score above 0.80.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6144768"/>
            <a:ext cx="10874959" cy="18288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A6E70"/>
                </a:solidFill>
                <a:latin typeface="Calibri"/>
              </a:rPr>
              <a:t>Manuscript drafted end to end; remaining work is length and final ablations.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50292" cy="475488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C2D3F"/>
                </a:solidFill>
                <a:latin typeface="Calibri"/>
              </a:rPr>
              <a:t>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786384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41C1E"/>
                </a:solidFill>
                <a:latin typeface="Calibri"/>
              </a:rPr>
              <a:t>Four workstreams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932688"/>
          </a:xfrm>
          <a:prstGeom prst="rect">
            <a:avLst/>
          </a:prstGeom>
          <a:solidFill>
            <a:srgbClr val="C44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46504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C4453C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1764792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41C1E"/>
                </a:solidFill>
                <a:latin typeface="Calibri"/>
              </a:rPr>
              <a:t>Counting paper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7048" y="2112264"/>
            <a:ext cx="72237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00" b="0">
                <a:solidFill>
                  <a:srgbClr val="7A6E70"/>
                </a:solidFill>
                <a:latin typeface="Calibri"/>
              </a:rPr>
              <a:t>Thermal transect detection and counting. Drafted end to end; remaining work is length and final ablations.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180136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>
                <a:solidFill>
                  <a:srgbClr val="C4453C"/>
                </a:solidFill>
                <a:latin typeface="Calibri"/>
              </a:rPr>
              <a:t>In progress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898648"/>
            <a:ext cx="45720" cy="932688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862072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8C2D3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27048" y="2880360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41C1E"/>
                </a:solidFill>
                <a:latin typeface="Calibri"/>
              </a:rPr>
              <a:t>Vision–language scene understanding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3227832"/>
            <a:ext cx="72237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00" b="0">
                <a:solidFill>
                  <a:srgbClr val="7A6E70"/>
                </a:solidFill>
                <a:latin typeface="Calibri"/>
              </a:rPr>
              <a:t>Move from a number to a description: how many, how far, what are they doing, what is occluding them.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0" y="291693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>
                <a:solidFill>
                  <a:srgbClr val="8C2D3F"/>
                </a:solidFill>
                <a:latin typeface="Calibri"/>
              </a:rPr>
              <a:t>Proposed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014215"/>
            <a:ext cx="45720" cy="932688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3977639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8C2D3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048" y="3995928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41C1E"/>
                </a:solidFill>
                <a:latin typeface="Calibri"/>
              </a:rPr>
              <a:t>Edge deployment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27048" y="4343400"/>
            <a:ext cx="72237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00" b="0">
                <a:solidFill>
                  <a:srgbClr val="7A6E70"/>
                </a:solidFill>
                <a:latin typeface="Calibri"/>
              </a:rPr>
              <a:t>Run the detector on the camera rather than on a cluster, so a trail camera or drone reports counts in the field.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4032503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>
                <a:solidFill>
                  <a:srgbClr val="8C2D3F"/>
                </a:solidFill>
                <a:latin typeface="Calibri"/>
              </a:rPr>
              <a:t>Proposed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129783"/>
            <a:ext cx="45720" cy="932688"/>
          </a:xfrm>
          <a:prstGeom prst="rect">
            <a:avLst/>
          </a:prstGeom>
          <a:solidFill>
            <a:srgbClr val="4A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093207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4A1B33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27048" y="5111496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41C1E"/>
                </a:solidFill>
                <a:latin typeface="Calibri"/>
              </a:rPr>
              <a:t>Collaborative grant writing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7048" y="5458968"/>
            <a:ext cx="72237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00" b="0">
                <a:solidFill>
                  <a:srgbClr val="7A6E70"/>
                </a:solidFill>
                <a:latin typeface="Calibri"/>
              </a:rPr>
              <a:t>Convert the corpus, the pipeline and the evaluation framework into funded, multi-institution work.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5148071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>
                <a:solidFill>
                  <a:srgbClr val="4A1B33"/>
                </a:solidFill>
                <a:latin typeface="Calibri"/>
              </a:rPr>
              <a:t>Proposed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50292" cy="475488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C2D3F"/>
                </a:solidFill>
                <a:latin typeface="Calibri"/>
              </a:rPr>
              <a:t>WORKSTREAM 2 · PROPOSED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786384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41C1E"/>
                </a:solidFill>
                <a:latin typeface="Calibri"/>
              </a:rPr>
              <a:t>From a count to an explanation of the scene</a:t>
            </a:r>
          </a:p>
        </p:txBody>
      </p:sp>
      <p:pic>
        <p:nvPicPr>
          <p:cNvPr id="6" name="Picture 5" descr="vlm_sc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9928"/>
            <a:ext cx="6583680" cy="3703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541264"/>
            <a:ext cx="6583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7A6E70"/>
                </a:solidFill>
                <a:latin typeface="Calibri"/>
              </a:rPr>
              <a:t>Trail-camera frame, TON11. The same scene our thermal pipeline would reduce to the single number 4. Boxes and ranges here illustrate the proposed output.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1664208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C2D3F"/>
                </a:solidFill>
                <a:latin typeface="Calibri"/>
              </a:rPr>
              <a:t>Proposed model output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2048256"/>
            <a:ext cx="397763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241C1E"/>
                </a:solidFill>
                <a:latin typeface="Calibri"/>
              </a:rPr>
              <a:t>“Four white-tailed deer. One adult foraging in the immediate foreground, two browsing together at mid-range and partly occluded by saplings, one adult at the far right beside a mature oak.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300" b="0">
                <a:solidFill>
                  <a:srgbClr val="241C1E"/>
                </a:solidFill>
                <a:latin typeface="Calibri"/>
              </a:rPr>
              <a:t>All four are head-down feeding, none alert, no antlers visible. The group is dispersed and stationary rather than travelling.”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4224528"/>
            <a:ext cx="3977639" cy="16459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4407408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8C2D3F"/>
                </a:solidFill>
                <a:latin typeface="Calibri"/>
              </a:rPr>
              <a:t>Structured fields alongside the prose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4773168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7A6E70"/>
                </a:solidFill>
                <a:latin typeface="Calibri"/>
              </a:rPr>
              <a:t>count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4773168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41C1E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5047488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7A6E70"/>
                </a:solidFill>
                <a:latin typeface="Calibri"/>
              </a:rPr>
              <a:t>range per animal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5047488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41C1E"/>
                </a:solidFill>
                <a:latin typeface="Calibri"/>
              </a:rPr>
              <a:t>~4, 14, 16, 19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5321807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7A6E70"/>
                </a:solidFill>
                <a:latin typeface="Calibri"/>
              </a:rPr>
              <a:t>mask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60" y="5321807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41C1E"/>
                </a:solidFill>
                <a:latin typeface="Calibri"/>
              </a:rPr>
              <a:t>per-animal segmentation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5596127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7A6E70"/>
                </a:solidFill>
                <a:latin typeface="Calibri"/>
              </a:rPr>
              <a:t>behaviour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5596127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41C1E"/>
                </a:solidFill>
                <a:latin typeface="Calibri"/>
              </a:rPr>
              <a:t>foraging, not 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5870448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7A6E70"/>
                </a:solidFill>
                <a:latin typeface="Calibri"/>
              </a:rPr>
              <a:t>occlusion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60" y="5870448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41C1E"/>
                </a:solidFill>
                <a:latin typeface="Calibri"/>
              </a:rPr>
              <a:t>2 of 4 partly hidden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6236208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A6E70"/>
                </a:solidFill>
                <a:latin typeface="Calibri"/>
              </a:rPr>
              <a:t>Illustrative — a target capability, not a current result.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50292" cy="475488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C2D3F"/>
                </a:solidFill>
                <a:latin typeface="Calibri"/>
              </a:rPr>
              <a:t>WORKSTREAM 3 · PROPOSED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786384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41C1E"/>
                </a:solidFill>
                <a:latin typeface="Calibri"/>
              </a:rPr>
              <a:t>Move the detector onto the camera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C2D3F"/>
                </a:solidFill>
                <a:latin typeface="Calibri"/>
              </a:rPr>
              <a:t>Why it is plausible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39696"/>
            <a:ext cx="51206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241C1E"/>
                </a:solidFill>
                <a:latin typeface="Calibri"/>
              </a:rPr>
              <a:t>The production detector is a 40 MB checkpoint running at 640 px on a single class. That is a small model by current standards, and the pipeline around it — motion compensation, association, the confirmation rule — carries no learned weights and negligible compute.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350" b="0">
                <a:solidFill>
                  <a:srgbClr val="241C1E"/>
                </a:solidFill>
                <a:latin typeface="Calibri"/>
              </a:rPr>
              <a:t>Nothing in the design assumes a cluster. The counting run is embarrassingly parallel across videos because each video is independent.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4617720"/>
            <a:ext cx="5120640" cy="16459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48006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C2D3F"/>
                </a:solidFill>
                <a:latin typeface="Calibri"/>
              </a:rPr>
              <a:t>What changes for the survey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184648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241C1E"/>
                </a:solidFill>
                <a:latin typeface="Calibri"/>
              </a:rPr>
              <a:t>A camera that reports a count instead of storing footage removes the retrieval and manual-review step that currently bounds how many sites a survey can cover.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755648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C2D3F"/>
                </a:solidFill>
                <a:latin typeface="Calibri"/>
              </a:rPr>
              <a:t>Plan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6520" y="2176272"/>
            <a:ext cx="32004" cy="384048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139696"/>
            <a:ext cx="1170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8C2D3F"/>
                </a:solidFill>
                <a:latin typeface="Calibri"/>
              </a:rPr>
              <a:t>Export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121408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TensorRT / ONNX, INT8 and FP16 variants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20" y="3072384"/>
            <a:ext cx="32004" cy="384048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3035808"/>
            <a:ext cx="1170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8C2D3F"/>
                </a:solidFill>
                <a:latin typeface="Calibri"/>
              </a:rPr>
              <a:t>Measure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301752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throughput, latency and power on the lab Jetson — no on-device numbers exist yet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3968496"/>
            <a:ext cx="32004" cy="384048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3931920"/>
            <a:ext cx="1170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8C2D3F"/>
                </a:solidFill>
                <a:latin typeface="Calibri"/>
              </a:rPr>
              <a:t>Verify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3913632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confirm counting accuracy is unchanged after quantization, using the same held-out protocol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6520" y="4864607"/>
            <a:ext cx="32004" cy="384048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4828031"/>
            <a:ext cx="1170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8C2D3F"/>
                </a:solidFill>
                <a:latin typeface="Calibri"/>
              </a:rPr>
              <a:t>Field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4809744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battery-powered trail-camera unit reporting counts over LTE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94360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7A6E70"/>
                </a:solidFill>
                <a:latin typeface="Calibri"/>
              </a:rPr>
              <a:t>Quantization is the open question: the animals are already at the sensor's resolution limit, so reduced precision may cost recall where it is scarcest.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50292" cy="475488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C2D3F"/>
                </a:solidFill>
                <a:latin typeface="Calibri"/>
              </a:rPr>
              <a:t>WORKSTREAM 4 · PROPOSED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786384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41C1E"/>
                </a:solidFill>
                <a:latin typeface="Calibri"/>
              </a:rPr>
              <a:t>What we can bring to a collaborative proposal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28800"/>
            <a:ext cx="32004" cy="457200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8308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8C2D3F"/>
                </a:solidFill>
                <a:latin typeface="Calibri"/>
              </a:rPr>
              <a:t>A released corpus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78808" y="1764792"/>
            <a:ext cx="38862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32 annotated thermal transects with per-individual tracks — rare enough that the scarcity is itself a contribution.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7"/>
            <a:ext cx="32004" cy="457200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715768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8C2D3F"/>
                </a:solidFill>
                <a:latin typeface="Calibri"/>
              </a:rPr>
              <a:t>An evaluation framework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78808" y="2697479"/>
            <a:ext cx="38862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The reach / own-track / counted decomposition transfers to any survey modality, not just thermal.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694176"/>
            <a:ext cx="32004" cy="457200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3648456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8C2D3F"/>
                </a:solidFill>
                <a:latin typeface="Calibri"/>
              </a:rPr>
              <a:t>A negative result worth citing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8" y="3630168"/>
            <a:ext cx="38862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Improving candidate generation degrades counting. That shapes how a funded effort should spend its money.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626864"/>
            <a:ext cx="32004" cy="457200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4581144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8C2D3F"/>
                </a:solidFill>
                <a:latin typeface="Calibri"/>
              </a:rPr>
              <a:t>A deployment path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78808" y="4562856"/>
            <a:ext cx="38862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Workstreams 2 and 3 turn a measurement into an instrument ecologists can actually operate.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623560"/>
            <a:ext cx="7086600" cy="16459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5806440"/>
            <a:ext cx="7086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7A6E70"/>
                </a:solidFill>
                <a:latin typeface="Calibri"/>
              </a:rPr>
              <a:t>Natural partners span computer vision, wildlife ecology and state agencies; the corpus is the piece none of them can produce alone.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1783080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8C2D3F"/>
                </a:solidFill>
                <a:latin typeface="Calibri"/>
              </a:rPr>
              <a:t>Funding directions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2167128"/>
            <a:ext cx="297180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200" b="0">
                <a:solidFill>
                  <a:srgbClr val="241C1E"/>
                </a:solidFill>
                <a:latin typeface="Calibri"/>
              </a:rPr>
              <a:t>Candidate targets to scope, not yet selected:</a:t>
            </a:r>
          </a:p>
          <a:p>
            <a:pPr algn="l">
              <a:lnSpc>
                <a:spcPct val="126000"/>
              </a:lnSpc>
              <a:spcBef>
                <a:spcPts val="800"/>
              </a:spcBef>
            </a:pPr>
            <a:r>
              <a:rPr sz="1200" b="0">
                <a:solidFill>
                  <a:srgbClr val="241C1E"/>
                </a:solidFill>
                <a:latin typeface="Calibri"/>
              </a:rPr>
              <a:t>· Federal science agencies supporting AI for environmental monitoring</a:t>
            </a:r>
          </a:p>
          <a:p>
            <a:pPr algn="l">
              <a:lnSpc>
                <a:spcPct val="126000"/>
              </a:lnSpc>
              <a:spcBef>
                <a:spcPts val="800"/>
              </a:spcBef>
            </a:pPr>
            <a:r>
              <a:rPr sz="1200" b="0">
                <a:solidFill>
                  <a:srgbClr val="241C1E"/>
                </a:solidFill>
                <a:latin typeface="Calibri"/>
              </a:rPr>
              <a:t>· Agricultural and natural-resource programmes concerned with deer population management</a:t>
            </a:r>
          </a:p>
          <a:p>
            <a:pPr algn="l">
              <a:lnSpc>
                <a:spcPct val="126000"/>
              </a:lnSpc>
              <a:spcBef>
                <a:spcPts val="800"/>
              </a:spcBef>
            </a:pPr>
            <a:r>
              <a:rPr sz="1200" b="0">
                <a:solidFill>
                  <a:srgbClr val="241C1E"/>
                </a:solidFill>
                <a:latin typeface="Calibri"/>
              </a:rPr>
              <a:t>· State wildlife agencies that already run transect surveys and carry the operational need</a:t>
            </a:r>
          </a:p>
          <a:p>
            <a:pPr algn="l">
              <a:lnSpc>
                <a:spcPct val="126000"/>
              </a:lnSpc>
              <a:spcBef>
                <a:spcPts val="800"/>
              </a:spcBef>
            </a:pPr>
            <a:r>
              <a:rPr sz="1200" b="0">
                <a:solidFill>
                  <a:srgbClr val="241C1E"/>
                </a:solidFill>
                <a:latin typeface="Calibri"/>
              </a:rPr>
              <a:t>· Instrumentation and sensor-development programmes for the edge hardware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