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8C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874519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C2D3F"/>
                </a:solidFill>
                <a:latin typeface="Calibri"/>
              </a:rPr>
              <a:t>WACV 2027 SUBMISSION  ·  RESULTS TO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241C1E"/>
                </a:solidFill>
                <a:latin typeface="Calibri"/>
              </a:rPr>
              <a:t>Counting Is Not Detecting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101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7A6E70"/>
                </a:solidFill>
                <a:latin typeface="Calibri"/>
              </a:rPr>
              <a:t>Localizing the bottleneck in thermal wildlife video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315968"/>
            <a:ext cx="2743200" cy="18288"/>
          </a:xfrm>
          <a:prstGeom prst="rect">
            <a:avLst/>
          </a:prstGeom>
          <a:solidFill>
            <a:srgbClr val="E4D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57200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241C1E"/>
                </a:solidFill>
                <a:latin typeface="Calibri"/>
              </a:rPr>
              <a:t>White-tailed deer detection and counting from vehicle-mounted FLIR thermal transects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500" b="0">
                <a:solidFill>
                  <a:srgbClr val="7A6E70"/>
                </a:solidFill>
                <a:latin typeface="Calibri"/>
              </a:rPr>
              <a:t>32 videos  ·  521,930 frames  ·  236 individually tracked animals  ·  4 sites, southern Illinois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50292" cy="475488"/>
          </a:xfrm>
          <a:prstGeom prst="rect">
            <a:avLst/>
          </a:prstGeom>
          <a:solidFill>
            <a:srgbClr val="8C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C2D3F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78638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41C1E"/>
                </a:solidFill>
                <a:latin typeface="Calibri"/>
              </a:rPr>
              <a:t>One detector, one tracker, a three-parameter confirmation rule</a:t>
            </a:r>
          </a:p>
        </p:txBody>
      </p:sp>
      <p:pic>
        <p:nvPicPr>
          <p:cNvPr id="6" name="Picture 5" descr="wildlif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861" y="1783080"/>
            <a:ext cx="10031972" cy="228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4370832"/>
            <a:ext cx="10874959" cy="18288"/>
          </a:xfrm>
          <a:prstGeom prst="rect">
            <a:avLst/>
          </a:prstGeom>
          <a:solidFill>
            <a:srgbClr val="E4D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617720"/>
            <a:ext cx="332018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8C2D3F"/>
                </a:solidFill>
                <a:latin typeface="Calibri"/>
              </a:rPr>
              <a:t>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974336"/>
            <a:ext cx="332018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41C1E"/>
                </a:solidFill>
                <a:latin typeface="Calibri"/>
              </a:rPr>
              <a:t>YOLO11m @ 640 px, chosen from a 12-architecture benchmark on the criterion that matters downstream, not on mAP.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5754" y="4617720"/>
            <a:ext cx="332018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8C2D3F"/>
                </a:solidFill>
                <a:latin typeface="Calibri"/>
              </a:rPr>
              <a:t>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5754" y="4974336"/>
            <a:ext cx="332018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41C1E"/>
                </a:solidFill>
                <a:latin typeface="Calibri"/>
              </a:rPr>
              <a:t>BoT-SORT with global motion compensation — mandatory, the vehicle travels 25–90 km/h and the whole frame translates.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3140" y="4617720"/>
            <a:ext cx="332018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8C2D3F"/>
                </a:solidFill>
                <a:latin typeface="Calibri"/>
              </a:rPr>
              <a:t>Confirmation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3140" y="4974336"/>
            <a:ext cx="332018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41C1E"/>
                </a:solidFill>
                <a:latin typeface="Calibri"/>
              </a:rPr>
              <a:t>Accept a track on length, span and top-5 mean confidence. Three parameters, swept on training video and frozen.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50292" cy="475488"/>
          </a:xfrm>
          <a:prstGeom prst="rect">
            <a:avLst/>
          </a:prstGeom>
          <a:solidFill>
            <a:srgbClr val="8C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C2D3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78638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41C1E"/>
                </a:solidFill>
                <a:latin typeface="Calibri"/>
              </a:rPr>
              <a:t>Detection is not the bottleneck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74519"/>
            <a:ext cx="41148" cy="1170432"/>
          </a:xfrm>
          <a:prstGeom prst="rect">
            <a:avLst/>
          </a:prstGeom>
          <a:solidFill>
            <a:srgbClr val="4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3" y="1819655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41C1E"/>
                </a:solidFill>
                <a:latin typeface="Calibri"/>
              </a:rPr>
              <a:t>98.8%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3" y="2441448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A6E70"/>
                </a:solidFill>
                <a:latin typeface="Calibri"/>
              </a:rPr>
              <a:t>of held-out animals
are detected at 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874519"/>
            <a:ext cx="41148" cy="1170432"/>
          </a:xfrm>
          <a:prstGeom prst="rect">
            <a:avLst/>
          </a:prstGeom>
          <a:solidFill>
            <a:srgbClr val="8C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819655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41C1E"/>
                </a:solidFill>
                <a:latin typeface="Calibri"/>
              </a:rPr>
              <a:t>88.0%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441448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A6E70"/>
                </a:solidFill>
                <a:latin typeface="Calibri"/>
              </a:rPr>
              <a:t>acquire their own
distinct track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874519"/>
            <a:ext cx="41148" cy="1170432"/>
          </a:xfrm>
          <a:prstGeom prst="rect">
            <a:avLst/>
          </a:prstGeom>
          <a:solidFill>
            <a:srgbClr val="C4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819655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41C1E"/>
                </a:solidFill>
                <a:latin typeface="Calibri"/>
              </a:rPr>
              <a:t>62.7%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441448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A6E70"/>
                </a:solidFill>
                <a:latin typeface="Calibri"/>
              </a:rPr>
              <a:t>survive confirmation
and are counted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874519"/>
            <a:ext cx="41148" cy="1170432"/>
          </a:xfrm>
          <a:prstGeom prst="rect">
            <a:avLst/>
          </a:prstGeom>
          <a:solidFill>
            <a:srgbClr val="7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6296" y="1819655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41C1E"/>
                </a:solidFill>
                <a:latin typeface="Calibri"/>
              </a:rPr>
              <a:t>2.38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296" y="2441448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A6E70"/>
                </a:solidFill>
                <a:latin typeface="Calibri"/>
              </a:rPr>
              <a:t>mean absolute error,
animals per video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46704"/>
            <a:ext cx="10874959" cy="18288"/>
          </a:xfrm>
          <a:prstGeom prst="rect">
            <a:avLst/>
          </a:prstGeom>
          <a:solidFill>
            <a:srgbClr val="E4D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09" y="3611880"/>
            <a:ext cx="5356997" cy="2788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7960" y="3611880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8C2D3F"/>
                </a:solidFill>
                <a:latin typeface="Calibri"/>
              </a:rPr>
              <a:t>What this says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005072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241C1E"/>
                </a:solidFill>
                <a:latin typeface="Calibri"/>
              </a:rPr>
              <a:t>Nearly every animal is found. The loss is concentrated after detection — in association, and above all in the decision of which candidate tracks are real.</a:t>
            </a:r>
          </a:p>
          <a:p>
            <a:pPr algn="l">
              <a:lnSpc>
                <a:spcPct val="128000"/>
              </a:lnSpc>
              <a:spcBef>
                <a:spcPts val="1100"/>
              </a:spcBef>
            </a:pPr>
            <a:r>
              <a:rPr sz="1350" b="0">
                <a:solidFill>
                  <a:srgbClr val="241C1E"/>
                </a:solidFill>
                <a:latin typeface="Calibri"/>
              </a:rPr>
              <a:t>A better backbone cannot recover the 36 points between detected and counted, because those animals were never missed by the detector in the first place.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614476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6E70"/>
                </a:solidFill>
                <a:latin typeface="Calibri"/>
              </a:rPr>
              <a:t>Held out: rule swept on 19 training videos, frozen, reported on 13 unseen.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50292" cy="475488"/>
          </a:xfrm>
          <a:prstGeom prst="rect">
            <a:avLst/>
          </a:prstGeom>
          <a:solidFill>
            <a:srgbClr val="8C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C2D3F"/>
                </a:solidFill>
                <a:latin typeface="Calibri"/>
              </a:rPr>
              <a:t>QUALITATIVE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78638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41C1E"/>
                </a:solidFill>
                <a:latin typeface="Calibri"/>
              </a:rPr>
              <a:t>Tracking holds through overlap and low contrast</a:t>
            </a:r>
          </a:p>
        </p:txBody>
      </p:sp>
      <p:pic>
        <p:nvPicPr>
          <p:cNvPr id="6" name="Picture 5" descr="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310" y="1691640"/>
            <a:ext cx="7795074" cy="3246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5138928"/>
            <a:ext cx="10874959" cy="18288"/>
          </a:xfrm>
          <a:prstGeom prst="rect">
            <a:avLst/>
          </a:prstGeom>
          <a:solidFill>
            <a:srgbClr val="E4D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358384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8C2D3F"/>
                </a:solidFill>
                <a:latin typeface="Calibri"/>
              </a:rPr>
              <a:t>Identities persist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87568"/>
            <a:ext cx="332018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241C1E"/>
                </a:solidFill>
                <a:latin typeface="Calibri"/>
              </a:rPr>
              <a:t>Top row is the same scene 0.3 s apart. Tracks keep their identities while the camera translates beneath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5754" y="5358384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8C2D3F"/>
                </a:solidFill>
                <a:latin typeface="Calibri"/>
              </a:rPr>
              <a:t>Overlap is resolved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5754" y="5687568"/>
            <a:ext cx="332018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241C1E"/>
                </a:solidFill>
                <a:latin typeface="Calibri"/>
              </a:rPr>
              <a:t>Animals whose boxes intersect are still carried as separate tracks — the failure that silently merges two deer into 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3140" y="5358384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8C2D3F"/>
                </a:solidFill>
                <a:latin typeface="Calibri"/>
              </a:rPr>
              <a:t>Confidence is honest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3140" y="5687568"/>
            <a:ext cx="332018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241C1E"/>
                </a:solidFill>
                <a:latin typeface="Calibri"/>
              </a:rPr>
              <a:t>The per-track score falls with range, from a near animal at 87 px to a distant one at 22 px in a single frame.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50292" cy="475488"/>
          </a:xfrm>
          <a:prstGeom prst="rect">
            <a:avLst/>
          </a:prstGeom>
          <a:solidFill>
            <a:srgbClr val="8C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C2D3F"/>
                </a:solidFill>
                <a:latin typeface="Calibri"/>
              </a:rPr>
              <a:t>CENTRAL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78638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41C1E"/>
                </a:solidFill>
                <a:latin typeface="Calibri"/>
              </a:rPr>
              <a:t>Improving candidate generation makes counting worse</a:t>
            </a:r>
          </a:p>
        </p:txBody>
      </p:sp>
      <p:pic>
        <p:nvPicPr>
          <p:cNvPr id="6" name="Picture 5" descr="i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39" y="1828800"/>
            <a:ext cx="5593976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4956048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7A6E70"/>
                </a:solidFill>
                <a:latin typeface="Calibri"/>
              </a:rPr>
              <a:t>Four independent interventions each enlarged the candidate pool as designed. Every one of them counted fewer animals.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874519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8C2D3F"/>
                </a:solidFill>
                <a:latin typeface="Calibri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267712"/>
            <a:ext cx="4800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241C1E"/>
                </a:solidFill>
                <a:latin typeface="Calibri"/>
              </a:rPr>
              <a:t>Each intervention adds far more false candidates than real ones — the richest pool holds 219 true tracks against 27,460 false. A rule tuned to survive that ratio has to be aggressive enough to reject real animals along with the noise.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4315968"/>
            <a:ext cx="4800600" cy="18288"/>
          </a:xfrm>
          <a:prstGeom prst="rect">
            <a:avLst/>
          </a:prstGeom>
          <a:solidFill>
            <a:srgbClr val="E4D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455371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8C2D3F"/>
                </a:solidFill>
                <a:latin typeface="Calibri"/>
              </a:rPr>
              <a:t>And it resists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946904"/>
            <a:ext cx="4800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241C1E"/>
                </a:solidFill>
                <a:latin typeface="Calibri"/>
              </a:rPr>
              <a:t>A transformer, gradient boosting and logistic regression all lose to the three-parameter rule under three separate protocols. Error grows with model capacity — the constraint is supervision, not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66928"/>
            <a:ext cx="50292" cy="475488"/>
          </a:xfrm>
          <a:prstGeom prst="rect">
            <a:avLst/>
          </a:prstGeom>
          <a:solidFill>
            <a:srgbClr val="8C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C2D3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78638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41C1E"/>
                </a:solidFill>
                <a:latin typeface="Calibri"/>
              </a:rPr>
              <a:t>What we can claim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37943"/>
            <a:ext cx="32004" cy="420624"/>
          </a:xfrm>
          <a:prstGeom prst="rect">
            <a:avLst/>
          </a:prstGeom>
          <a:solidFill>
            <a:srgbClr val="8C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8308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8C2D3F"/>
                </a:solidFill>
                <a:latin typeface="Calibri"/>
              </a:rPr>
              <a:t>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1764792"/>
            <a:ext cx="8588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241C1E"/>
                </a:solidFill>
                <a:latin typeface="Calibri"/>
              </a:rPr>
              <a:t>32 fully annotated thermal transects, 236 individually tracked deer, 21,646 boxes. Released with the paper.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97479"/>
            <a:ext cx="32004" cy="420624"/>
          </a:xfrm>
          <a:prstGeom prst="rect">
            <a:avLst/>
          </a:prstGeom>
          <a:solidFill>
            <a:srgbClr val="8C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642615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8C2D3F"/>
                </a:solidFill>
                <a:latin typeface="Calibri"/>
              </a:rPr>
              <a:t>Detector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624327"/>
            <a:ext cx="8588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241C1E"/>
                </a:solidFill>
                <a:latin typeface="Calibri"/>
              </a:rPr>
              <a:t>12 architectures benchmarked under four matching criteria. YOLO11m @ 640 px, 0.897 precision, selected on the criterion the counter actually needs.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557015"/>
            <a:ext cx="32004" cy="420624"/>
          </a:xfrm>
          <a:prstGeom prst="rect">
            <a:avLst/>
          </a:prstGeom>
          <a:solidFill>
            <a:srgbClr val="8C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502151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8C2D3F"/>
                </a:solidFill>
                <a:latin typeface="Calibri"/>
              </a:rP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483863"/>
            <a:ext cx="8588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241C1E"/>
                </a:solidFill>
                <a:latin typeface="Calibri"/>
              </a:rPr>
              <a:t>CLAHE normalization is worth more than any architectural choice we tested — test mAP50 0.519 with it, 0.299 without.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416551"/>
            <a:ext cx="32004" cy="420624"/>
          </a:xfrm>
          <a:prstGeom prst="rect">
            <a:avLst/>
          </a:prstGeom>
          <a:solidFill>
            <a:srgbClr val="8C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361688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8C2D3F"/>
                </a:solidFill>
                <a:latin typeface="Calibri"/>
              </a:rPr>
              <a:t>Counting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4343400"/>
            <a:ext cx="8588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241C1E"/>
                </a:solidFill>
                <a:latin typeface="Calibri"/>
              </a:rPr>
              <a:t>98.8% detected, 88.0% distinctly tracked, 62.7% counted on video the detector never saw. MAE 2.38 animals per video, and the system under-counts rather than over-counts.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276087"/>
            <a:ext cx="32004" cy="420624"/>
          </a:xfrm>
          <a:prstGeom prst="rect">
            <a:avLst/>
          </a:prstGeom>
          <a:solidFill>
            <a:srgbClr val="8C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5221223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8C2D3F"/>
                </a:solidFill>
                <a:latin typeface="Calibri"/>
              </a:rPr>
              <a:t>Auditability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5202936"/>
            <a:ext cx="8588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241C1E"/>
                </a:solidFill>
                <a:latin typeface="Calibri"/>
              </a:rPr>
              <a:t>Every counted animal carries a calibrated score and a contact sheet of its own frames; 92.1% score above 0.80.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144768"/>
            <a:ext cx="10874959" cy="18288"/>
          </a:xfrm>
          <a:prstGeom prst="rect">
            <a:avLst/>
          </a:prstGeom>
          <a:solidFill>
            <a:srgbClr val="E4D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6E70"/>
                </a:solidFill>
                <a:latin typeface="Calibri"/>
              </a:rPr>
              <a:t>Manuscript drafted end to end; remaining work is length and final ablations.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