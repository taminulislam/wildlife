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Eleven detectors, same split and preprocessing</a:t>
            </a:r>
          </a:p>
        </c:rich>
      </c:tx>
      <c:layout/>
      <c:overlay val="0"/>
    </c:title>
    <c:autoTitleDeleted val="0"/>
    <c:plotArea>
      <c:layout/>
      <c:barChart>
        <c:barDir val="col"/>
        <c:grouping val="clustered"/>
        <c:varyColors val="0"/>
        <c:ser>
          <c:idx val="0"/>
          <c:order val="0"/>
          <c:tx>
            <c:strRef>
              <c:f>Sheet1!$B$1</c:f>
              <c:strCache>
                <c:ptCount val="1"/>
                <c:pt idx="0">
                  <c:v>AP50 (per box)</c:v>
                </c:pt>
              </c:strCache>
            </c:strRef>
          </c:tx>
          <c:spPr>
            <a:solidFill>
              <a:srgbClr val="9DB4C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YOLOv8m</c:v>
                  </c:pt>
                  <c:pt idx="1">
                    <c:v>ATSS R50</c:v>
                  </c:pt>
                  <c:pt idx="2">
                    <c:v>TOOD R50</c:v>
                  </c:pt>
                  <c:pt idx="3">
                    <c:v>YOLO11m</c:v>
                  </c:pt>
                  <c:pt idx="4">
                    <c:v>RT-DETR-L</c:v>
                  </c:pt>
                  <c:pt idx="5">
                    <c:v>YOLO12m</c:v>
                  </c:pt>
                  <c:pt idx="6">
                    <c:v>YOLOv9m</c:v>
                  </c:pt>
                  <c:pt idx="7">
                    <c:v>YOLOv10m</c:v>
                  </c:pt>
                  <c:pt idx="8">
                    <c:v>DINO R50</c:v>
                  </c:pt>
                  <c:pt idx="9">
                    <c:v>Faster R-CNN</c:v>
                  </c:pt>
                  <c:pt idx="10">
                    <c:v>RTMDet-m</c:v>
                  </c:pt>
                </c:lvl>
              </c:multiLvlStrCache>
            </c:multiLvlStrRef>
          </c:cat>
          <c:val>
            <c:numRef>
              <c:f>Sheet1!$B$2:$B$12</c:f>
              <c:numCache>
                <c:formatCode>General</c:formatCode>
                <c:ptCount val="11"/>
                <c:pt idx="0">
                  <c:v>0.459</c:v>
                </c:pt>
                <c:pt idx="1">
                  <c:v>0.38</c:v>
                </c:pt>
                <c:pt idx="2">
                  <c:v>0.396</c:v>
                </c:pt>
                <c:pt idx="3">
                  <c:v>0.46</c:v>
                </c:pt>
                <c:pt idx="4">
                  <c:v>0.434</c:v>
                </c:pt>
                <c:pt idx="5">
                  <c:v>0.508</c:v>
                </c:pt>
                <c:pt idx="6">
                  <c:v>0.506</c:v>
                </c:pt>
                <c:pt idx="7">
                  <c:v>0.51</c:v>
                </c:pt>
                <c:pt idx="8">
                  <c:v>0.365</c:v>
                </c:pt>
                <c:pt idx="9">
                  <c:v>0.418</c:v>
                </c:pt>
                <c:pt idx="10">
                  <c:v>0.466</c:v>
                </c:pt>
              </c:numCache>
            </c:numRef>
          </c:val>
        </c:ser>
        <c:ser>
          <c:idx val="1"/>
          <c:order val="1"/>
          <c:tx>
            <c:strRef>
              <c:f>Sheet1!$C$1</c:f>
              <c:strCache>
                <c:ptCount val="1"/>
                <c:pt idx="0">
                  <c:v>Animals found (per animal)</c:v>
                </c:pt>
              </c:strCache>
            </c:strRef>
          </c:tx>
          <c:spPr>
            <a:solidFill>
              <a:srgbClr val="F2911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YOLOv8m</c:v>
                  </c:pt>
                  <c:pt idx="1">
                    <c:v>ATSS R50</c:v>
                  </c:pt>
                  <c:pt idx="2">
                    <c:v>TOOD R50</c:v>
                  </c:pt>
                  <c:pt idx="3">
                    <c:v>YOLO11m</c:v>
                  </c:pt>
                  <c:pt idx="4">
                    <c:v>RT-DETR-L</c:v>
                  </c:pt>
                  <c:pt idx="5">
                    <c:v>YOLO12m</c:v>
                  </c:pt>
                  <c:pt idx="6">
                    <c:v>YOLOv9m</c:v>
                  </c:pt>
                  <c:pt idx="7">
                    <c:v>YOLOv10m</c:v>
                  </c:pt>
                  <c:pt idx="8">
                    <c:v>DINO R50</c:v>
                  </c:pt>
                  <c:pt idx="9">
                    <c:v>Faster R-CNN</c:v>
                  </c:pt>
                  <c:pt idx="10">
                    <c:v>RTMDet-m</c:v>
                  </c:pt>
                </c:lvl>
              </c:multiLvlStrCache>
            </c:multiLvlStrRef>
          </c:cat>
          <c:val>
            <c:numRef>
              <c:f>Sheet1!$C$2:$C$12</c:f>
              <c:numCache>
                <c:formatCode>General</c:formatCode>
                <c:ptCount val="11"/>
                <c:pt idx="0">
                  <c:v>0.906</c:v>
                </c:pt>
                <c:pt idx="1">
                  <c:v>0.962</c:v>
                </c:pt>
                <c:pt idx="2">
                  <c:v>0.979</c:v>
                </c:pt>
                <c:pt idx="3">
                  <c:v>0.949</c:v>
                </c:pt>
                <c:pt idx="4">
                  <c:v>0.983</c:v>
                </c:pt>
                <c:pt idx="5">
                  <c:v>0.864</c:v>
                </c:pt>
                <c:pt idx="6">
                  <c:v>0.821</c:v>
                </c:pt>
                <c:pt idx="7">
                  <c:v>0.885</c:v>
                </c:pt>
                <c:pt idx="8">
                  <c:v>0.983</c:v>
                </c:pt>
                <c:pt idx="9">
                  <c:v>0.97</c:v>
                </c:pt>
                <c:pt idx="10">
                  <c:v>0.996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Held-out animals (of 83) by candidate pool size</a:t>
            </a:r>
          </a:p>
        </c:rich>
      </c:tx>
      <c:layout/>
      <c:overlay val="0"/>
    </c:title>
    <c:autoTitleDeleted val="0"/>
    <c:plotArea>
      <c:layout/>
      <c:barChart>
        <c:barDir val="col"/>
        <c:grouping val="clustered"/>
        <c:varyColors val="0"/>
        <c:ser>
          <c:idx val="0"/>
          <c:order val="0"/>
          <c:tx>
            <c:strRef>
              <c:f>Sheet1!$B$1</c:f>
              <c:strCache>
                <c:ptCount val="1"/>
                <c:pt idx="0">
                  <c:v>Reached</c:v>
                </c:pt>
              </c:strCache>
            </c:strRef>
          </c:tx>
          <c:spPr>
            <a:solidFill>
              <a:srgbClr val="9DB4C8"/>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lower gate (18,349)</c:v>
                  </c:pt>
                  <c:pt idx="2">
                    <c:v>+ appearance (27,679)</c:v>
                  </c:pt>
                  <c:pt idx="3">
                    <c:v>+ loose NMS (90,239)</c:v>
                  </c:pt>
                </c:lvl>
              </c:multiLvlStrCache>
            </c:multiLvlStrRef>
          </c:cat>
          <c:val>
            <c:numRef>
              <c:f>Sheet1!$B$2:$B$5</c:f>
              <c:numCache>
                <c:formatCode>General</c:formatCode>
                <c:ptCount val="4"/>
                <c:pt idx="0">
                  <c:v>74</c:v>
                </c:pt>
                <c:pt idx="1">
                  <c:v>79</c:v>
                </c:pt>
                <c:pt idx="2">
                  <c:v>82</c:v>
                </c:pt>
                <c:pt idx="3">
                  <c:v>79</c:v>
                </c:pt>
              </c:numCache>
            </c:numRef>
          </c:val>
        </c:ser>
        <c:ser>
          <c:idx val="1"/>
          <c:order val="1"/>
          <c:tx>
            <c:strRef>
              <c:f>Sheet1!$C$1</c:f>
              <c:strCache>
                <c:ptCount val="1"/>
                <c:pt idx="0">
                  <c:v>Primary</c:v>
                </c:pt>
              </c:strCache>
            </c:strRef>
          </c:tx>
          <c:spPr>
            <a:solidFill>
              <a:srgbClr val="4F6F8F"/>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lower gate (18,349)</c:v>
                  </c:pt>
                  <c:pt idx="2">
                    <c:v>+ appearance (27,679)</c:v>
                  </c:pt>
                  <c:pt idx="3">
                    <c:v>+ loose NMS (90,239)</c:v>
                  </c:pt>
                </c:lvl>
              </c:multiLvlStrCache>
            </c:multiLvlStrRef>
          </c:cat>
          <c:val>
            <c:numRef>
              <c:f>Sheet1!$C$2:$C$5</c:f>
              <c:numCache>
                <c:formatCode>General</c:formatCode>
                <c:ptCount val="4"/>
                <c:pt idx="0">
                  <c:v>66</c:v>
                </c:pt>
                <c:pt idx="1">
                  <c:v>69</c:v>
                </c:pt>
                <c:pt idx="2">
                  <c:v>73</c:v>
                </c:pt>
                <c:pt idx="3">
                  <c:v>70</c:v>
                </c:pt>
              </c:numCache>
            </c:numRef>
          </c:val>
        </c:ser>
        <c:ser>
          <c:idx val="2"/>
          <c:order val="2"/>
          <c:tx>
            <c:strRef>
              <c:f>Sheet1!$D$1</c:f>
              <c:strCache>
                <c:ptCount val="1"/>
                <c:pt idx="0">
                  <c:v>Counted</c:v>
                </c:pt>
              </c:strCache>
            </c:strRef>
          </c:tx>
          <c:spPr>
            <a:solidFill>
              <a:srgbClr val="F2911B"/>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lower gate (18,349)</c:v>
                  </c:pt>
                  <c:pt idx="2">
                    <c:v>+ appearance (27,679)</c:v>
                  </c:pt>
                  <c:pt idx="3">
                    <c:v>+ loose NMS (90,239)</c:v>
                  </c:pt>
                </c:lvl>
              </c:multiLvlStrCache>
            </c:multiLvlStrRef>
          </c:cat>
          <c:val>
            <c:numRef>
              <c:f>Sheet1!$D$2:$D$5</c:f>
              <c:numCache>
                <c:formatCode>General</c:formatCode>
                <c:ptCount val="4"/>
                <c:pt idx="0">
                  <c:v>55</c:v>
                </c:pt>
                <c:pt idx="1">
                  <c:v>54</c:v>
                </c:pt>
                <c:pt idx="2">
                  <c:v>52</c:v>
                </c:pt>
                <c:pt idx="3">
                  <c:v>41</c:v>
                </c:pt>
              </c:numCache>
            </c:numRef>
          </c:val>
        </c:ser>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30"/>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Count vs. confidence threshold c</a:t>
            </a:r>
          </a:p>
        </c:rich>
      </c:tx>
      <c:layout/>
      <c:overlay val="0"/>
    </c:title>
    <c:autoTitleDeleted val="0"/>
    <c:plotArea>
      <c:layout/>
      <c:lineChart>
        <c:varyColors val="0"/>
        <c:ser>
          <c:idx val="0"/>
          <c:order val="0"/>
          <c:tx>
            <c:strRef>
              <c:f>Sheet1!$B$1</c:f>
              <c:strCache>
                <c:ptCount val="1"/>
                <c:pt idx="0">
                  <c:v>Predicted count</c:v>
                </c:pt>
              </c:strCache>
            </c:strRef>
          </c:tx>
          <c:spPr>
            <a:solidFill>
              <a:srgbClr val="F2911B"/>
            </a:solidFill>
            <a:ln w="31750" cap="flat">
              <a:solidFill>
                <a:srgbClr val="F29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911B"/>
              </a:solidFill>
              <a:ln w="9525" cap="flat">
                <a:solidFill>
                  <a:srgbClr val="F2911B"/>
                </a:solidFill>
                <a:prstDash val="solid"/>
                <a:round/>
              </a:ln>
              <a:effectLst/>
            </c:spPr>
          </c:marker>
          <c:cat>
            <c:multiLvlStrRef>
              <c:f>Sheet1!$A$2:$A$10</c:f>
              <c:multiLvlStrCache>
                <c:ptCount val="9"/>
                <c:lvl>
                  <c:pt idx="0">
                    <c:v>0.00</c:v>
                  </c:pt>
                  <c:pt idx="1">
                    <c:v>0.15</c:v>
                  </c:pt>
                  <c:pt idx="2">
                    <c:v>0.25</c:v>
                  </c:pt>
                  <c:pt idx="3">
                    <c:v>0.35</c:v>
                  </c:pt>
                  <c:pt idx="4">
                    <c:v>0.45</c:v>
                  </c:pt>
                  <c:pt idx="5">
                    <c:v>0.55</c:v>
                  </c:pt>
                  <c:pt idx="6">
                    <c:v>0.65</c:v>
                  </c:pt>
                  <c:pt idx="7">
                    <c:v>0.75</c:v>
                  </c:pt>
                  <c:pt idx="8">
                    <c:v>0.85</c:v>
                  </c:pt>
                </c:lvl>
              </c:multiLvlStrCache>
            </c:multiLvlStrRef>
          </c:cat>
          <c:val>
            <c:numRef>
              <c:f>Sheet1!$B$2:$B$10</c:f>
              <c:numCache>
                <c:formatCode>General</c:formatCode>
                <c:ptCount val="9"/>
                <c:pt idx="0">
                  <c:v>111</c:v>
                </c:pt>
                <c:pt idx="1">
                  <c:v>111</c:v>
                </c:pt>
                <c:pt idx="2">
                  <c:v>108</c:v>
                </c:pt>
                <c:pt idx="3">
                  <c:v>99</c:v>
                </c:pt>
                <c:pt idx="4">
                  <c:v>81</c:v>
                </c:pt>
                <c:pt idx="5">
                  <c:v>70</c:v>
                </c:pt>
                <c:pt idx="6">
                  <c:v>58</c:v>
                </c:pt>
                <c:pt idx="7">
                  <c:v>24</c:v>
                </c:pt>
                <c:pt idx="8">
                  <c:v>0</c:v>
                </c:pt>
              </c:numCache>
            </c:numRef>
          </c:val>
          <c:smooth val="0"/>
        </c:ser>
        <c:ser>
          <c:idx val="1"/>
          <c:order val="1"/>
          <c:tx>
            <c:strRef>
              <c:f>Sheet1!$C$1</c:f>
              <c:strCache>
                <c:ptCount val="1"/>
                <c:pt idx="0">
                  <c:v>True count (83)</c:v>
                </c:pt>
              </c:strCache>
            </c:strRef>
          </c:tx>
          <c:spPr>
            <a:solidFill>
              <a:srgbClr val="4F6F8F"/>
            </a:solidFill>
            <a:ln w="31750" cap="flat">
              <a:solidFill>
                <a:srgbClr val="4F6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6F8F"/>
              </a:solidFill>
              <a:ln w="9525" cap="flat">
                <a:solidFill>
                  <a:srgbClr val="4F6F8F"/>
                </a:solidFill>
                <a:prstDash val="solid"/>
                <a:round/>
              </a:ln>
              <a:effectLst/>
            </c:spPr>
          </c:marker>
          <c:cat>
            <c:multiLvlStrRef>
              <c:f>Sheet1!$A$2:$A$10</c:f>
              <c:multiLvlStrCache>
                <c:ptCount val="9"/>
                <c:lvl>
                  <c:pt idx="0">
                    <c:v>0.00</c:v>
                  </c:pt>
                  <c:pt idx="1">
                    <c:v>0.15</c:v>
                  </c:pt>
                  <c:pt idx="2">
                    <c:v>0.25</c:v>
                  </c:pt>
                  <c:pt idx="3">
                    <c:v>0.35</c:v>
                  </c:pt>
                  <c:pt idx="4">
                    <c:v>0.45</c:v>
                  </c:pt>
                  <c:pt idx="5">
                    <c:v>0.55</c:v>
                  </c:pt>
                  <c:pt idx="6">
                    <c:v>0.65</c:v>
                  </c:pt>
                  <c:pt idx="7">
                    <c:v>0.75</c:v>
                  </c:pt>
                  <c:pt idx="8">
                    <c:v>0.85</c:v>
                  </c:pt>
                </c:lvl>
              </c:multiLvlStrCache>
            </c:multiLvlStrRef>
          </c:cat>
          <c:val>
            <c:numRef>
              <c:f>Sheet1!$C$2:$C$10</c:f>
              <c:numCache>
                <c:formatCode>General</c:formatCode>
                <c:ptCount val="9"/>
                <c:pt idx="0">
                  <c:v>83</c:v>
                </c:pt>
                <c:pt idx="1">
                  <c:v>83</c:v>
                </c:pt>
                <c:pt idx="2">
                  <c:v>83</c:v>
                </c:pt>
                <c:pt idx="3">
                  <c:v>83</c:v>
                </c:pt>
                <c:pt idx="4">
                  <c:v>83</c:v>
                </c:pt>
                <c:pt idx="5">
                  <c:v>83</c:v>
                </c:pt>
                <c:pt idx="6">
                  <c:v>83</c:v>
                </c:pt>
                <c:pt idx="7">
                  <c:v>83</c:v>
                </c:pt>
                <c:pt idx="8">
                  <c:v>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775"/>
                    </a:solidFill>
                    <a:latin typeface="Arial"/>
                  </a:defRPr>
                </a:pPr>
                <a:r>
                  <a:rPr sz="1000" b="0" i="0" u="none" strike="noStrike">
                    <a:solidFill>
                      <a:srgbClr val="5B6775"/>
                    </a:solidFill>
                    <a:latin typeface="Arial"/>
                  </a:rPr>
                  <a:t>confidence threshold c</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Leave-one-site-out, % of each site's animals</a:t>
            </a:r>
          </a:p>
        </c:rich>
      </c:tx>
      <c:layout/>
      <c:overlay val="0"/>
    </c:title>
    <c:autoTitleDeleted val="0"/>
    <c:plotArea>
      <c:layout/>
      <c:radarChart>
        <c:radarStyle val="marker"/>
        <c:varyColors val="0"/>
        <c:ser>
          <c:idx val="0"/>
          <c:order val="0"/>
          <c:tx>
            <c:strRef>
              <c:f>Sheet1!$B$1</c:f>
              <c:strCache>
                <c:ptCount val="1"/>
                <c:pt idx="0">
                  <c:v>Reached</c:v>
                </c:pt>
              </c:strCache>
            </c:strRef>
          </c:tx>
          <c:spPr>
            <a:solidFill>
              <a:srgbClr val="C9D3DD"/>
            </a:solidFill>
            <a:ln w="31750" cap="flat">
              <a:solidFill>
                <a:srgbClr val="C9D3DD"/>
              </a:solidFill>
              <a:prstDash val="solid"/>
              <a:round/>
            </a:ln>
            <a:effectLst/>
          </c:spPr>
          <c:invertIfNegative val="0"/>
          <c:marker>
            <c:symbol val="circle"/>
            <c:size val="6"/>
            <c:spPr>
              <a:solidFill>
                <a:srgbClr val="C9D3DD"/>
              </a:solidFill>
              <a:ln w="9525" cap="flat">
                <a:solidFill>
                  <a:srgbClr val="C9D3DD"/>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Sheet1!$B$2:$B$5</c:f>
              <c:numCache>
                <c:formatCode>General</c:formatCode>
                <c:ptCount val="4"/>
                <c:pt idx="0">
                  <c:v>90.9</c:v>
                </c:pt>
                <c:pt idx="1">
                  <c:v>92</c:v>
                </c:pt>
                <c:pt idx="2">
                  <c:v>94.7</c:v>
                </c:pt>
                <c:pt idx="3">
                  <c:v>80</c:v>
                </c:pt>
              </c:numCache>
            </c:numRef>
          </c:val>
        </c:ser>
        <c:ser>
          <c:idx val="1"/>
          <c:order val="1"/>
          <c:tx>
            <c:strRef>
              <c:f>Sheet1!$C$1</c:f>
              <c:strCache>
                <c:ptCount val="1"/>
                <c:pt idx="0">
                  <c:v>Primary</c:v>
                </c:pt>
              </c:strCache>
            </c:strRef>
          </c:tx>
          <c:spPr>
            <a:solidFill>
              <a:srgbClr val="4F9BE0"/>
            </a:solidFill>
            <a:ln w="31750" cap="flat">
              <a:solidFill>
                <a:srgbClr val="4F9BE0"/>
              </a:solidFill>
              <a:prstDash val="solid"/>
              <a:round/>
            </a:ln>
            <a:effectLst/>
          </c:spPr>
          <c:invertIfNegative val="0"/>
          <c:marker>
            <c:symbol val="circle"/>
            <c:size val="6"/>
            <c:spPr>
              <a:solidFill>
                <a:srgbClr val="4F9BE0"/>
              </a:solidFill>
              <a:ln w="9525" cap="flat">
                <a:solidFill>
                  <a:srgbClr val="4F9BE0"/>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Sheet1!$C$2:$C$5</c:f>
              <c:numCache>
                <c:formatCode>General</c:formatCode>
                <c:ptCount val="4"/>
                <c:pt idx="0">
                  <c:v>77.3</c:v>
                </c:pt>
                <c:pt idx="1">
                  <c:v>80</c:v>
                </c:pt>
                <c:pt idx="2">
                  <c:v>78.9</c:v>
                </c:pt>
                <c:pt idx="3">
                  <c:v>80</c:v>
                </c:pt>
              </c:numCache>
            </c:numRef>
          </c:val>
        </c:ser>
        <c:ser>
          <c:idx val="2"/>
          <c:order val="2"/>
          <c:tx>
            <c:strRef>
              <c:f>Sheet1!$D$1</c:f>
              <c:strCache>
                <c:ptCount val="1"/>
                <c:pt idx="0">
                  <c:v>Counted</c:v>
                </c:pt>
              </c:strCache>
            </c:strRef>
          </c:tx>
          <c:spPr>
            <a:solidFill>
              <a:srgbClr val="F2911B"/>
            </a:solidFill>
            <a:ln w="31750" cap="flat">
              <a:solidFill>
                <a:srgbClr val="F2911B"/>
              </a:solidFill>
              <a:prstDash val="solid"/>
              <a:round/>
            </a:ln>
            <a:effectLst/>
          </c:spPr>
          <c:invertIfNegative val="0"/>
          <c:marker>
            <c:symbol val="circle"/>
            <c:size val="6"/>
            <c:spPr>
              <a:solidFill>
                <a:srgbClr val="F2911B"/>
              </a:solidFill>
              <a:ln w="9525" cap="flat">
                <a:solidFill>
                  <a:srgbClr val="F2911B"/>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Sheet1!$D$2:$D$5</c:f>
              <c:numCache>
                <c:formatCode>General</c:formatCode>
                <c:ptCount val="4"/>
                <c:pt idx="0">
                  <c:v>68.9</c:v>
                </c:pt>
                <c:pt idx="1">
                  <c:v>40</c:v>
                </c:pt>
                <c:pt idx="2">
                  <c:v>28.9</c:v>
                </c:pt>
                <c:pt idx="3">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FFFF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3A43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C9D3DD"/>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FFFF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overview. TRACT is a pipeline that counts distinct deer in thermal video recorded from a vehicle driving road transects at night, together with a way of measuring where the counting error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32 nocturnal videos, 8 per site, every deer in every frame annotated in CVAT as an individual track. One track is one animal, so the same annotation gives detection, tracking and count ground truth. 235 of the 236 animals are detectable; one is occluded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is standard: CLAHE normalization, YOLO11m at 640 px, BoT-SORT with global motion compensation and its appearance term disabled, orphan recovery, and a confirmation rule with three thresholds (track length of at least 20 frames, mean of the five best confidences of at least 0.65). The system does track association within one video; it does not recognise individual animals. The contribution is the decomposition: for each ground-truth animal we ask three questions, and the gaps between them attribute error to detection, association and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Per-box metrics look poor because the animals are 27 pixels: a centre error of nine pixels already fails IoU 0.5. Scored per animal, every architecture finds 82 to 99.6 percent of the 235 detectable deer. End to end on the 13 held-out videos the reported pipeline reaches 89.2 percent of animals, gives 79.5 percent their own track and counts 66.3 percent, with a mean absolute error of 2.38 animals per video. The detector chosen for counting is YOLO11m, selected on precision-weighted F0.5, not the model with the best AP50.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result. We enriched the candidate pool three ways. The pools are nested, and ordered here by the number of candidate tracks they generate. Reached and primary go up, counted goes down: 55, 54, 52, 41 of 83. With 83 animals a difference of two or three is not significant on its own; the evidence is the consistent direction. The right chart holds the rule fixed and moves only the confidence threshold: the condition acts as a duplicate suppressor, not as a detector threshold. Appearance matching is an ablation only; the reported system does not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Leave-one-site-out: train on three sites, count on the fourth, with the confirmation rule unchanged. Pooled over the four folds, reached is 91.1 percent, primary 78.3 percent and counted 51.9 percent. Each site was surveyed on a single night, so site and night conditions are confounded. Limits of the study: one region, one winter, one species, 236 animals, and a ground truth that under-represents distant animals, as any visual survey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548640" y="822960"/>
            <a:ext cx="6035040" cy="365760"/>
          </a:xfrm>
          <a:prstGeom prst="rect">
            <a:avLst/>
          </a:prstGeom>
          <a:noFill/>
          <a:ln/>
        </p:spPr>
        <p:txBody>
          <a:bodyPr wrap="square" lIns="0" tIns="0" rIns="0" bIns="0" rtlCol="0" anchor="ctr"/>
          <a:lstStyle/>
          <a:p>
            <a:pPr indent="0" marL="0">
              <a:buNone/>
            </a:pPr>
            <a:r>
              <a:rPr lang="en-US" sz="1300" b="1" spc="100" kern="0" dirty="0">
                <a:solidFill>
                  <a:srgbClr val="F2911B"/>
                </a:solidFill>
                <a:latin typeface="Calibri" pitchFamily="34" charset="0"/>
                <a:ea typeface="Calibri" pitchFamily="34" charset="-122"/>
                <a:cs typeface="Calibri" pitchFamily="34" charset="-120"/>
              </a:rPr>
              <a:t>TRACT  |  Thermal Road-transect Animal Counting and Tracking</a:t>
            </a:r>
            <a:endParaRPr lang="en-US" sz="1300" dirty="0"/>
          </a:p>
        </p:txBody>
      </p:sp>
      <p:sp>
        <p:nvSpPr>
          <p:cNvPr id="3" name="Text 1"/>
          <p:cNvSpPr txBox="1"/>
          <p:nvPr/>
        </p:nvSpPr>
        <p:spPr>
          <a:xfrm>
            <a:off x="548640" y="1371600"/>
            <a:ext cx="6035040" cy="21031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Counting White-Tailed Deer in Vehicle-Mounted Thermal Video</a:t>
            </a:r>
            <a:endParaRPr lang="en-US" sz="3800" dirty="0"/>
          </a:p>
        </p:txBody>
      </p:sp>
      <p:sp>
        <p:nvSpPr>
          <p:cNvPr id="4" name="Text 2"/>
          <p:cNvSpPr txBox="1"/>
          <p:nvPr/>
        </p:nvSpPr>
        <p:spPr>
          <a:xfrm>
            <a:off x="548640" y="3611880"/>
            <a:ext cx="6035040" cy="457200"/>
          </a:xfrm>
          <a:prstGeom prst="rect">
            <a:avLst/>
          </a:prstGeom>
          <a:noFill/>
          <a:ln/>
        </p:spPr>
        <p:txBody>
          <a:bodyPr wrap="square" lIns="0" tIns="0" rIns="0" bIns="0" rtlCol="0" anchor="ctr"/>
          <a:lstStyle/>
          <a:p>
            <a:pPr indent="0" marL="0">
              <a:buNone/>
            </a:pPr>
            <a:r>
              <a:rPr lang="en-US" sz="1800" i="1" dirty="0">
                <a:solidFill>
                  <a:srgbClr val="C9D3DD"/>
                </a:solidFill>
                <a:latin typeface="Calibri" pitchFamily="34" charset="0"/>
                <a:ea typeface="Calibri" pitchFamily="34" charset="-122"/>
                <a:cs typeface="Calibri" pitchFamily="34" charset="-120"/>
              </a:rPr>
              <a:t>Detector benchmarking and a staged error decomposition</a:t>
            </a:r>
            <a:endParaRPr lang="en-US" sz="1800" dirty="0"/>
          </a:p>
        </p:txBody>
      </p:sp>
      <p:sp>
        <p:nvSpPr>
          <p:cNvPr id="5" name="Text 3"/>
          <p:cNvSpPr txBox="1"/>
          <p:nvPr/>
        </p:nvSpPr>
        <p:spPr>
          <a:xfrm>
            <a:off x="548640" y="4754880"/>
            <a:ext cx="6309360" cy="1188720"/>
          </a:xfrm>
          <a:prstGeom prst="rect">
            <a:avLst/>
          </a:prstGeom>
          <a:noFill/>
          <a:ln/>
        </p:spPr>
        <p:txBody>
          <a:bodyPr wrap="square" lIns="0" tIns="0" rIns="0" bIns="0" rtlCol="0" anchor="t"/>
          <a:lstStyle/>
          <a:p>
            <a:pPr indent="0" marL="0">
              <a:spcAft>
                <a:spcPts val="600"/>
              </a:spcAft>
              <a:buNone/>
            </a:pPr>
            <a:r>
              <a:rPr lang="en-US" sz="1250" dirty="0">
                <a:solidFill>
                  <a:srgbClr val="FFFFFF"/>
                </a:solidFill>
                <a:latin typeface="Calibri" pitchFamily="34" charset="0"/>
                <a:ea typeface="Calibri" pitchFamily="34" charset="-122"/>
                <a:cs typeface="Calibri" pitchFamily="34" charset="-120"/>
              </a:rPr>
              <a:t>Taminul Islam, Toqi Tahamid Sarker, Seth J. Morelock,</a:t>
            </a:r>
            <a:endParaRPr lang="en-US" sz="1250" dirty="0"/>
          </a:p>
          <a:p>
            <a:pPr indent="0" marL="0">
              <a:spcAft>
                <a:spcPts val="600"/>
              </a:spcAft>
              <a:buNone/>
            </a:pPr>
            <a:r>
              <a:rPr lang="en-US" sz="1250" dirty="0">
                <a:solidFill>
                  <a:srgbClr val="FFFFFF"/>
                </a:solidFill>
                <a:latin typeface="Calibri" pitchFamily="34" charset="0"/>
                <a:ea typeface="Calibri" pitchFamily="34" charset="-122"/>
                <a:cs typeface="Calibri" pitchFamily="34" charset="-120"/>
              </a:rPr>
              <a:t>Guillaume Bastille-Rousseau, Khaled R. Ahmed</a:t>
            </a:r>
            <a:endParaRPr lang="en-US" sz="1250" dirty="0"/>
          </a:p>
          <a:p>
            <a:pPr indent="0" marL="0">
              <a:spcAft>
                <a:spcPts val="600"/>
              </a:spcAft>
              <a:buNone/>
            </a:pPr>
            <a:r>
              <a:rPr lang="en-US" sz="1250" dirty="0">
                <a:solidFill>
                  <a:srgbClr val="9DB4C8"/>
                </a:solidFill>
                <a:latin typeface="Calibri" pitchFamily="34" charset="0"/>
                <a:ea typeface="Calibri" pitchFamily="34" charset="-122"/>
                <a:cs typeface="Calibri" pitchFamily="34" charset="-120"/>
              </a:rPr>
              <a:t>School of Computing and Center for Wildlife Sustainability, Southern Illinois University Carbondale</a:t>
            </a:r>
            <a:endParaRPr lang="en-US" sz="1250" dirty="0"/>
          </a:p>
        </p:txBody>
      </p:sp>
      <p:pic>
        <p:nvPicPr>
          <p:cNvPr id="6" name="Image 0" descr="Thermal frame of a white-tailed deer close to the vehicle with its ground-truth box">    </p:cNvPr>
          <p:cNvPicPr>
            <a:picLocks noChangeAspect="1"/>
          </p:cNvPicPr>
          <p:nvPr/>
        </p:nvPicPr>
        <p:blipFill>
          <a:blip r:embed="rId1"/>
          <a:stretch>
            <a:fillRect/>
          </a:stretch>
        </p:blipFill>
        <p:spPr>
          <a:xfrm>
            <a:off x="7178040" y="1143000"/>
            <a:ext cx="4480560" cy="3584448"/>
          </a:xfrm>
          <a:prstGeom prst="rect">
            <a:avLst/>
          </a:prstGeom>
        </p:spPr>
      </p:pic>
      <p:sp>
        <p:nvSpPr>
          <p:cNvPr id="7" name="Text 4"/>
          <p:cNvSpPr txBox="1"/>
          <p:nvPr/>
        </p:nvSpPr>
        <p:spPr>
          <a:xfrm>
            <a:off x="7178040" y="4818888"/>
            <a:ext cx="4480560" cy="365760"/>
          </a:xfrm>
          <a:prstGeom prst="rect">
            <a:avLst/>
          </a:prstGeom>
          <a:noFill/>
          <a:ln/>
        </p:spPr>
        <p:txBody>
          <a:bodyPr wrap="square" lIns="0" tIns="0" rIns="0" bIns="0" rtlCol="0" anchor="ctr"/>
          <a:lstStyle/>
          <a:p>
            <a:pPr indent="0" marL="0">
              <a:buNone/>
            </a:pPr>
            <a:r>
              <a:rPr lang="en-US" sz="1100" dirty="0">
                <a:solidFill>
                  <a:srgbClr val="9DB4C8"/>
                </a:solidFill>
                <a:latin typeface="Calibri" pitchFamily="34" charset="0"/>
                <a:ea typeface="Calibri" pitchFamily="34" charset="-122"/>
                <a:cs typeface="Calibri" pitchFamily="34" charset="-120"/>
              </a:rPr>
              <a:t>One annotated frame from the corpus: 640 x 512 px thermal, contrast-normalized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A survey needs animals counted, not boxes placed</a:t>
            </a:r>
            <a:endParaRPr lang="en-US" sz="3000" dirty="0"/>
          </a:p>
        </p:txBody>
      </p:sp>
      <p:sp>
        <p:nvSpPr>
          <p:cNvPr id="3" name="Text 1"/>
          <p:cNvSpPr txBox="1"/>
          <p:nvPr/>
        </p:nvSpPr>
        <p:spPr>
          <a:xfrm>
            <a:off x="548640" y="1371600"/>
            <a:ext cx="5394960" cy="2148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129"/>
                </a:solidFill>
                <a:latin typeface="Calibri" pitchFamily="34" charset="0"/>
                <a:ea typeface="Calibri" pitchFamily="34" charset="-122"/>
                <a:cs typeface="Calibri" pitchFamily="34" charset="-120"/>
              </a:rPr>
              <a:t>Wildlife pipelines are judged as object detectors, by accuracy per frame (mAP).</a:t>
            </a:r>
            <a:endParaRPr lang="en-US" sz="1600" dirty="0"/>
          </a:p>
          <a:p>
            <a:pPr marL="342900" indent="-342900">
              <a:spcAft>
                <a:spcPts val="1000"/>
              </a:spcAft>
              <a:buSzPct val="100000"/>
              <a:buChar char="•"/>
            </a:pPr>
            <a:r>
              <a:rPr lang="en-US" sz="1600" dirty="0">
                <a:solidFill>
                  <a:srgbClr val="1B2129"/>
                </a:solidFill>
                <a:latin typeface="Calibri" pitchFamily="34" charset="0"/>
                <a:ea typeface="Calibri" pitchFamily="34" charset="-122"/>
                <a:cs typeface="Calibri" pitchFamily="34" charset="-120"/>
              </a:rPr>
              <a:t>An abundance survey needs the number of distinct animals, which depends on tracking and on deciding which tracks are new animals.</a:t>
            </a:r>
            <a:endParaRPr lang="en-US" sz="1600" dirty="0"/>
          </a:p>
          <a:p>
            <a:pPr marL="342900" indent="-342900">
              <a:spcAft>
                <a:spcPts val="1000"/>
              </a:spcAft>
              <a:buSzPct val="100000"/>
              <a:buChar char="•"/>
            </a:pPr>
            <a:r>
              <a:rPr lang="en-US" sz="1600" b="1" dirty="0">
                <a:solidFill>
                  <a:srgbClr val="1B2129"/>
                </a:solidFill>
                <a:latin typeface="Calibri" pitchFamily="34" charset="0"/>
                <a:ea typeface="Calibri" pitchFamily="34" charset="-122"/>
                <a:cs typeface="Calibri" pitchFamily="34" charset="-120"/>
              </a:rPr>
              <a:t>Our question: does better detection give a better count?</a:t>
            </a:r>
            <a:endParaRPr lang="en-US" sz="1600" dirty="0"/>
          </a:p>
        </p:txBody>
      </p:sp>
      <p:sp>
        <p:nvSpPr>
          <p:cNvPr id="4" name="Shape 2"/>
          <p:cNvSpPr/>
          <p:nvPr/>
        </p:nvSpPr>
        <p:spPr>
          <a:xfrm>
            <a:off x="548640" y="3749040"/>
            <a:ext cx="2606040" cy="1234440"/>
          </a:xfrm>
          <a:prstGeom prst="roundRect">
            <a:avLst>
              <a:gd name="adj" fmla="val 5926"/>
            </a:avLst>
          </a:prstGeom>
          <a:solidFill>
            <a:srgbClr val="EEF1F4"/>
          </a:solidFill>
          <a:ln w="12700">
            <a:solidFill>
              <a:srgbClr val="EEF1F4"/>
            </a:solidFill>
            <a:prstDash val="solid"/>
          </a:ln>
        </p:spPr>
      </p:sp>
      <p:sp>
        <p:nvSpPr>
          <p:cNvPr id="5" name="Text 3"/>
          <p:cNvSpPr txBox="1"/>
          <p:nvPr/>
        </p:nvSpPr>
        <p:spPr>
          <a:xfrm>
            <a:off x="731520" y="3858768"/>
            <a:ext cx="2240280" cy="566928"/>
          </a:xfrm>
          <a:prstGeom prst="rect">
            <a:avLst/>
          </a:prstGeom>
          <a:noFill/>
          <a:ln/>
        </p:spPr>
        <p:txBody>
          <a:bodyPr wrap="square" lIns="0" tIns="0" rIns="0" bIns="0" rtlCol="0" anchor="ctr"/>
          <a:lstStyle/>
          <a:p>
            <a:pPr indent="0" marL="0">
              <a:buNone/>
            </a:pPr>
            <a:r>
              <a:rPr lang="en-US" sz="2800" b="1" dirty="0">
                <a:solidFill>
                  <a:srgbClr val="F2911B"/>
                </a:solidFill>
                <a:latin typeface="Cambria" pitchFamily="34" charset="0"/>
                <a:ea typeface="Cambria" pitchFamily="34" charset="-122"/>
                <a:cs typeface="Cambria" pitchFamily="34" charset="-120"/>
              </a:rPr>
              <a:t>32</a:t>
            </a:r>
            <a:endParaRPr lang="en-US" sz="2800" dirty="0"/>
          </a:p>
        </p:txBody>
      </p:sp>
      <p:sp>
        <p:nvSpPr>
          <p:cNvPr id="6" name="Text 4"/>
          <p:cNvSpPr txBox="1"/>
          <p:nvPr/>
        </p:nvSpPr>
        <p:spPr>
          <a:xfrm>
            <a:off x="731520" y="4425696"/>
            <a:ext cx="2240280" cy="45720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thermal road-transect videos, 4 Illinois sites</a:t>
            </a:r>
            <a:endParaRPr lang="en-US" sz="1200" dirty="0"/>
          </a:p>
        </p:txBody>
      </p:sp>
      <p:sp>
        <p:nvSpPr>
          <p:cNvPr id="7" name="Shape 5"/>
          <p:cNvSpPr/>
          <p:nvPr/>
        </p:nvSpPr>
        <p:spPr>
          <a:xfrm>
            <a:off x="3337560" y="3749040"/>
            <a:ext cx="2606040" cy="1234440"/>
          </a:xfrm>
          <a:prstGeom prst="roundRect">
            <a:avLst>
              <a:gd name="adj" fmla="val 5926"/>
            </a:avLst>
          </a:prstGeom>
          <a:solidFill>
            <a:srgbClr val="EEF1F4"/>
          </a:solidFill>
          <a:ln w="12700">
            <a:solidFill>
              <a:srgbClr val="EEF1F4"/>
            </a:solidFill>
            <a:prstDash val="solid"/>
          </a:ln>
        </p:spPr>
      </p:sp>
      <p:sp>
        <p:nvSpPr>
          <p:cNvPr id="8" name="Text 6"/>
          <p:cNvSpPr txBox="1"/>
          <p:nvPr/>
        </p:nvSpPr>
        <p:spPr>
          <a:xfrm>
            <a:off x="3520440" y="3858768"/>
            <a:ext cx="2240280" cy="566928"/>
          </a:xfrm>
          <a:prstGeom prst="rect">
            <a:avLst/>
          </a:prstGeom>
          <a:noFill/>
          <a:ln/>
        </p:spPr>
        <p:txBody>
          <a:bodyPr wrap="square" lIns="0" tIns="0" rIns="0" bIns="0" rtlCol="0" anchor="ctr"/>
          <a:lstStyle/>
          <a:p>
            <a:pPr indent="0" marL="0">
              <a:buNone/>
            </a:pPr>
            <a:r>
              <a:rPr lang="en-US" sz="2800" b="1" dirty="0">
                <a:solidFill>
                  <a:srgbClr val="F2911B"/>
                </a:solidFill>
                <a:latin typeface="Cambria" pitchFamily="34" charset="0"/>
                <a:ea typeface="Cambria" pitchFamily="34" charset="-122"/>
                <a:cs typeface="Cambria" pitchFamily="34" charset="-120"/>
              </a:rPr>
              <a:t>236</a:t>
            </a:r>
            <a:endParaRPr lang="en-US" sz="2800" dirty="0"/>
          </a:p>
        </p:txBody>
      </p:sp>
      <p:sp>
        <p:nvSpPr>
          <p:cNvPr id="9" name="Text 7"/>
          <p:cNvSpPr txBox="1"/>
          <p:nvPr/>
        </p:nvSpPr>
        <p:spPr>
          <a:xfrm>
            <a:off x="3520440" y="4425696"/>
            <a:ext cx="2240280" cy="45720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deer, each annotated as its own track</a:t>
            </a:r>
            <a:endParaRPr lang="en-US" sz="1200" dirty="0"/>
          </a:p>
        </p:txBody>
      </p:sp>
      <p:sp>
        <p:nvSpPr>
          <p:cNvPr id="10" name="Shape 8"/>
          <p:cNvSpPr/>
          <p:nvPr/>
        </p:nvSpPr>
        <p:spPr>
          <a:xfrm>
            <a:off x="548640" y="5166360"/>
            <a:ext cx="2606040" cy="1234440"/>
          </a:xfrm>
          <a:prstGeom prst="roundRect">
            <a:avLst>
              <a:gd name="adj" fmla="val 5926"/>
            </a:avLst>
          </a:prstGeom>
          <a:solidFill>
            <a:srgbClr val="EEF1F4"/>
          </a:solidFill>
          <a:ln w="12700">
            <a:solidFill>
              <a:srgbClr val="EEF1F4"/>
            </a:solidFill>
            <a:prstDash val="solid"/>
          </a:ln>
        </p:spPr>
      </p:sp>
      <p:sp>
        <p:nvSpPr>
          <p:cNvPr id="11" name="Text 9"/>
          <p:cNvSpPr txBox="1"/>
          <p:nvPr/>
        </p:nvSpPr>
        <p:spPr>
          <a:xfrm>
            <a:off x="731520" y="5276088"/>
            <a:ext cx="2240280" cy="566928"/>
          </a:xfrm>
          <a:prstGeom prst="rect">
            <a:avLst/>
          </a:prstGeom>
          <a:noFill/>
          <a:ln/>
        </p:spPr>
        <p:txBody>
          <a:bodyPr wrap="square" lIns="0" tIns="0" rIns="0" bIns="0" rtlCol="0" anchor="ctr"/>
          <a:lstStyle/>
          <a:p>
            <a:pPr indent="0" marL="0">
              <a:buNone/>
            </a:pPr>
            <a:r>
              <a:rPr lang="en-US" sz="2800" b="1" dirty="0">
                <a:solidFill>
                  <a:srgbClr val="F2911B"/>
                </a:solidFill>
                <a:latin typeface="Cambria" pitchFamily="34" charset="0"/>
                <a:ea typeface="Cambria" pitchFamily="34" charset="-122"/>
                <a:cs typeface="Cambria" pitchFamily="34" charset="-120"/>
              </a:rPr>
              <a:t>521,930</a:t>
            </a:r>
            <a:endParaRPr lang="en-US" sz="2800" dirty="0"/>
          </a:p>
        </p:txBody>
      </p:sp>
      <p:sp>
        <p:nvSpPr>
          <p:cNvPr id="12" name="Text 10"/>
          <p:cNvSpPr txBox="1"/>
          <p:nvPr/>
        </p:nvSpPr>
        <p:spPr>
          <a:xfrm>
            <a:off x="731520" y="5843016"/>
            <a:ext cx="2240280" cy="45720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frames at 60 fps, all annotated</a:t>
            </a:r>
            <a:endParaRPr lang="en-US" sz="1200" dirty="0"/>
          </a:p>
        </p:txBody>
      </p:sp>
      <p:sp>
        <p:nvSpPr>
          <p:cNvPr id="13" name="Shape 11"/>
          <p:cNvSpPr/>
          <p:nvPr/>
        </p:nvSpPr>
        <p:spPr>
          <a:xfrm>
            <a:off x="3337560" y="5166360"/>
            <a:ext cx="2606040" cy="1234440"/>
          </a:xfrm>
          <a:prstGeom prst="roundRect">
            <a:avLst>
              <a:gd name="adj" fmla="val 5926"/>
            </a:avLst>
          </a:prstGeom>
          <a:solidFill>
            <a:srgbClr val="EEF1F4"/>
          </a:solidFill>
          <a:ln w="12700">
            <a:solidFill>
              <a:srgbClr val="EEF1F4"/>
            </a:solidFill>
            <a:prstDash val="solid"/>
          </a:ln>
        </p:spPr>
      </p:sp>
      <p:sp>
        <p:nvSpPr>
          <p:cNvPr id="14" name="Text 12"/>
          <p:cNvSpPr txBox="1"/>
          <p:nvPr/>
        </p:nvSpPr>
        <p:spPr>
          <a:xfrm>
            <a:off x="3520440" y="5276088"/>
            <a:ext cx="2240280" cy="566928"/>
          </a:xfrm>
          <a:prstGeom prst="rect">
            <a:avLst/>
          </a:prstGeom>
          <a:noFill/>
          <a:ln/>
        </p:spPr>
        <p:txBody>
          <a:bodyPr wrap="square" lIns="0" tIns="0" rIns="0" bIns="0" rtlCol="0" anchor="ctr"/>
          <a:lstStyle/>
          <a:p>
            <a:pPr indent="0" marL="0">
              <a:buNone/>
            </a:pPr>
            <a:r>
              <a:rPr lang="en-US" sz="2800" b="1" dirty="0">
                <a:solidFill>
                  <a:srgbClr val="F2911B"/>
                </a:solidFill>
                <a:latin typeface="Cambria" pitchFamily="34" charset="0"/>
                <a:ea typeface="Cambria" pitchFamily="34" charset="-122"/>
                <a:cs typeface="Cambria" pitchFamily="34" charset="-120"/>
              </a:rPr>
              <a:t>29 x 24 px</a:t>
            </a:r>
            <a:endParaRPr lang="en-US" sz="2800" dirty="0"/>
          </a:p>
        </p:txBody>
      </p:sp>
      <p:sp>
        <p:nvSpPr>
          <p:cNvPr id="15" name="Text 13"/>
          <p:cNvSpPr txBox="1"/>
          <p:nvPr/>
        </p:nvSpPr>
        <p:spPr>
          <a:xfrm>
            <a:off x="3520440" y="5843016"/>
            <a:ext cx="2240280" cy="45720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median animal size</a:t>
            </a:r>
            <a:endParaRPr lang="en-US" sz="1200" dirty="0"/>
          </a:p>
        </p:txBody>
      </p:sp>
      <p:pic>
        <p:nvPicPr>
          <p:cNvPr id="16" name="Image 0" descr="Thermal frame as the detector receives it, two deer at different ranges">    </p:cNvPr>
          <p:cNvPicPr>
            <a:picLocks noChangeAspect="1"/>
          </p:cNvPicPr>
          <p:nvPr/>
        </p:nvPicPr>
        <p:blipFill>
          <a:blip r:embed="rId1"/>
          <a:stretch>
            <a:fillRect/>
          </a:stretch>
        </p:blipFill>
        <p:spPr>
          <a:xfrm>
            <a:off x="6400800" y="1371600"/>
            <a:ext cx="2560320" cy="2048256"/>
          </a:xfrm>
          <a:prstGeom prst="rect">
            <a:avLst/>
          </a:prstGeom>
        </p:spPr>
      </p:pic>
      <p:pic>
        <p:nvPicPr>
          <p:cNvPr id="17" name="Image 1" descr="Thermal frame as the detector receives it, a group of deer">    </p:cNvPr>
          <p:cNvPicPr>
            <a:picLocks noChangeAspect="1"/>
          </p:cNvPicPr>
          <p:nvPr/>
        </p:nvPicPr>
        <p:blipFill>
          <a:blip r:embed="rId2"/>
          <a:stretch>
            <a:fillRect/>
          </a:stretch>
        </p:blipFill>
        <p:spPr>
          <a:xfrm>
            <a:off x="9144000" y="1371600"/>
            <a:ext cx="2560320" cy="2048256"/>
          </a:xfrm>
          <a:prstGeom prst="rect">
            <a:avLst/>
          </a:prstGeom>
        </p:spPr>
      </p:pic>
      <p:pic>
        <p:nvPicPr>
          <p:cNvPr id="18" name="Image 2" descr="The same frame with ground-truth boxes on two deer">    </p:cNvPr>
          <p:cNvPicPr>
            <a:picLocks noChangeAspect="1"/>
          </p:cNvPicPr>
          <p:nvPr/>
        </p:nvPicPr>
        <p:blipFill>
          <a:blip r:embed="rId3"/>
          <a:stretch>
            <a:fillRect/>
          </a:stretch>
        </p:blipFill>
        <p:spPr>
          <a:xfrm>
            <a:off x="6400800" y="3886200"/>
            <a:ext cx="2560320" cy="2048256"/>
          </a:xfrm>
          <a:prstGeom prst="rect">
            <a:avLst/>
          </a:prstGeom>
        </p:spPr>
      </p:pic>
      <p:pic>
        <p:nvPicPr>
          <p:cNvPr id="19" name="Image 3" descr="The same frame with ground-truth boxes on the group">    </p:cNvPr>
          <p:cNvPicPr>
            <a:picLocks noChangeAspect="1"/>
          </p:cNvPicPr>
          <p:nvPr/>
        </p:nvPicPr>
        <p:blipFill>
          <a:blip r:embed="rId4"/>
          <a:stretch>
            <a:fillRect/>
          </a:stretch>
        </p:blipFill>
        <p:spPr>
          <a:xfrm>
            <a:off x="9144000" y="3886200"/>
            <a:ext cx="2560320" cy="2048256"/>
          </a:xfrm>
          <a:prstGeom prst="rect">
            <a:avLst/>
          </a:prstGeom>
        </p:spPr>
      </p:pic>
      <p:sp>
        <p:nvSpPr>
          <p:cNvPr id="20" name="Text 14"/>
          <p:cNvSpPr txBox="1"/>
          <p:nvPr/>
        </p:nvSpPr>
        <p:spPr>
          <a:xfrm>
            <a:off x="6400800" y="3456432"/>
            <a:ext cx="5303520" cy="274320"/>
          </a:xfrm>
          <a:prstGeom prst="rect">
            <a:avLst/>
          </a:prstGeom>
          <a:noFill/>
          <a:ln/>
        </p:spPr>
        <p:txBody>
          <a:bodyPr wrap="square" lIns="0" tIns="0" rIns="0" bIns="0" rtlCol="0" anchor="ctr"/>
          <a:lstStyle/>
          <a:p>
            <a:pPr indent="0" marL="0">
              <a:buNone/>
            </a:pPr>
            <a:r>
              <a:rPr lang="en-US" sz="1100" dirty="0">
                <a:solidFill>
                  <a:srgbClr val="5B6775"/>
                </a:solidFill>
                <a:latin typeface="Calibri" pitchFamily="34" charset="0"/>
                <a:ea typeface="Calibri" pitchFamily="34" charset="-122"/>
                <a:cs typeface="Calibri" pitchFamily="34" charset="-120"/>
              </a:rPr>
              <a:t>What the detector receives</a:t>
            </a:r>
            <a:endParaRPr lang="en-US" sz="1100" dirty="0"/>
          </a:p>
        </p:txBody>
      </p:sp>
      <p:sp>
        <p:nvSpPr>
          <p:cNvPr id="21" name="Text 15"/>
          <p:cNvSpPr txBox="1"/>
          <p:nvPr/>
        </p:nvSpPr>
        <p:spPr>
          <a:xfrm>
            <a:off x="6400800" y="5971032"/>
            <a:ext cx="5303520" cy="274320"/>
          </a:xfrm>
          <a:prstGeom prst="rect">
            <a:avLst/>
          </a:prstGeom>
          <a:noFill/>
          <a:ln/>
        </p:spPr>
        <p:txBody>
          <a:bodyPr wrap="square" lIns="0" tIns="0" rIns="0" bIns="0" rtlCol="0" anchor="ctr"/>
          <a:lstStyle/>
          <a:p>
            <a:pPr indent="0" marL="0">
              <a:buNone/>
            </a:pPr>
            <a:r>
              <a:rPr lang="en-US" sz="1100" dirty="0">
                <a:solidFill>
                  <a:srgbClr val="5B6775"/>
                </a:solidFill>
                <a:latin typeface="Calibri" pitchFamily="34" charset="0"/>
                <a:ea typeface="Calibri" pitchFamily="34" charset="-122"/>
                <a:cs typeface="Calibri" pitchFamily="34" charset="-120"/>
              </a:rPr>
              <a:t>Ground truth: one track per animal, in every frame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Method: a standard pipeline, measured stage by stage</a:t>
            </a:r>
            <a:endParaRPr lang="en-US" sz="3000" dirty="0"/>
          </a:p>
        </p:txBody>
      </p:sp>
      <p:pic>
        <p:nvPicPr>
          <p:cNvPr id="3" name="Image 0" descr="Pipeline diagram: CLAHE contrast normalization, YOLO11m detection, BoT-SORT tracking with motion compensation, three-parameter confirmation rule, count">    </p:cNvPr>
          <p:cNvPicPr>
            <a:picLocks noChangeAspect="1"/>
          </p:cNvPicPr>
          <p:nvPr/>
        </p:nvPicPr>
        <p:blipFill>
          <a:blip r:embed="rId1"/>
          <a:stretch>
            <a:fillRect/>
          </a:stretch>
        </p:blipFill>
        <p:spPr>
          <a:xfrm>
            <a:off x="548640" y="1280160"/>
            <a:ext cx="11064240" cy="2521001"/>
          </a:xfrm>
          <a:prstGeom prst="rect">
            <a:avLst/>
          </a:prstGeom>
        </p:spPr>
      </p:pic>
      <p:sp>
        <p:nvSpPr>
          <p:cNvPr id="4" name="Shape 1"/>
          <p:cNvSpPr/>
          <p:nvPr/>
        </p:nvSpPr>
        <p:spPr>
          <a:xfrm>
            <a:off x="548640" y="4069080"/>
            <a:ext cx="2651760" cy="2240280"/>
          </a:xfrm>
          <a:prstGeom prst="roundRect">
            <a:avLst>
              <a:gd name="adj" fmla="val 3265"/>
            </a:avLst>
          </a:prstGeom>
          <a:solidFill>
            <a:srgbClr val="EEF1F4"/>
          </a:solidFill>
          <a:ln w="12700">
            <a:solidFill>
              <a:srgbClr val="EEF1F4"/>
            </a:solidFill>
            <a:prstDash val="solid"/>
          </a:ln>
        </p:spPr>
      </p:sp>
      <p:sp>
        <p:nvSpPr>
          <p:cNvPr id="5" name="Shape 2"/>
          <p:cNvSpPr/>
          <p:nvPr/>
        </p:nvSpPr>
        <p:spPr>
          <a:xfrm>
            <a:off x="731520" y="4251960"/>
            <a:ext cx="420624" cy="420624"/>
          </a:xfrm>
          <a:prstGeom prst="ellipse">
            <a:avLst/>
          </a:prstGeom>
          <a:solidFill>
            <a:srgbClr val="F2911B"/>
          </a:solidFill>
          <a:ln w="12700">
            <a:solidFill>
              <a:srgbClr val="F2911B"/>
            </a:solidFill>
            <a:prstDash val="solid"/>
          </a:ln>
        </p:spPr>
      </p:sp>
      <p:sp>
        <p:nvSpPr>
          <p:cNvPr id="6" name="Text 3"/>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8016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REACHED</a:t>
            </a:r>
            <a:endParaRPr lang="en-US" sz="1600" dirty="0"/>
          </a:p>
        </p:txBody>
      </p:sp>
      <p:sp>
        <p:nvSpPr>
          <p:cNvPr id="8" name="Text 5"/>
          <p:cNvSpPr txBox="1"/>
          <p:nvPr/>
        </p:nvSpPr>
        <p:spPr>
          <a:xfrm>
            <a:off x="731520" y="4800600"/>
            <a:ext cx="2286000" cy="868680"/>
          </a:xfrm>
          <a:prstGeom prst="rect">
            <a:avLst/>
          </a:prstGeom>
          <a:noFill/>
          <a:ln/>
        </p:spPr>
        <p:txBody>
          <a:bodyPr wrap="square" lIns="0" tIns="0" rIns="0" bIns="0" rtlCol="0" anchor="t"/>
          <a:lstStyle/>
          <a:p>
            <a:pPr indent="0" marL="0">
              <a:buNone/>
            </a:pPr>
            <a:r>
              <a:rPr lang="en-US" sz="1300" dirty="0">
                <a:solidFill>
                  <a:srgbClr val="1B2129"/>
                </a:solidFill>
                <a:latin typeface="Calibri" pitchFamily="34" charset="0"/>
                <a:ea typeface="Calibri" pitchFamily="34" charset="-122"/>
                <a:cs typeface="Calibri" pitchFamily="34" charset="-120"/>
              </a:rPr>
              <a:t>Did any candidate track touch the animal on at least one frame?</a:t>
            </a:r>
            <a:endParaRPr lang="en-US" sz="1300" dirty="0"/>
          </a:p>
        </p:txBody>
      </p:sp>
      <p:sp>
        <p:nvSpPr>
          <p:cNvPr id="9" name="Text 6"/>
          <p:cNvSpPr txBox="1"/>
          <p:nvPr/>
        </p:nvSpPr>
        <p:spPr>
          <a:xfrm>
            <a:off x="731520" y="5760720"/>
            <a:ext cx="2286000" cy="365760"/>
          </a:xfrm>
          <a:prstGeom prst="rect">
            <a:avLst/>
          </a:prstGeom>
          <a:noFill/>
          <a:ln/>
        </p:spPr>
        <p:txBody>
          <a:bodyPr wrap="square" lIns="0" tIns="0" rIns="0" bIns="0" rtlCol="0" anchor="ctr"/>
          <a:lstStyle/>
          <a:p>
            <a:pPr indent="0" marL="0">
              <a:buNone/>
            </a:pPr>
            <a:r>
              <a:rPr lang="en-US" sz="1200" i="1" dirty="0">
                <a:solidFill>
                  <a:srgbClr val="4F6F8F"/>
                </a:solidFill>
                <a:latin typeface="Calibri" pitchFamily="34" charset="0"/>
                <a:ea typeface="Calibri" pitchFamily="34" charset="-122"/>
                <a:cs typeface="Calibri" pitchFamily="34" charset="-120"/>
              </a:rPr>
              <a:t>Measures detection and tracking</a:t>
            </a:r>
            <a:endParaRPr lang="en-US" sz="1200" dirty="0"/>
          </a:p>
        </p:txBody>
      </p:sp>
      <p:sp>
        <p:nvSpPr>
          <p:cNvPr id="10" name="Shape 7"/>
          <p:cNvSpPr/>
          <p:nvPr/>
        </p:nvSpPr>
        <p:spPr>
          <a:xfrm>
            <a:off x="3383280" y="4069080"/>
            <a:ext cx="2651760" cy="2240280"/>
          </a:xfrm>
          <a:prstGeom prst="roundRect">
            <a:avLst>
              <a:gd name="adj" fmla="val 3265"/>
            </a:avLst>
          </a:prstGeom>
          <a:solidFill>
            <a:srgbClr val="EEF1F4"/>
          </a:solidFill>
          <a:ln w="12700">
            <a:solidFill>
              <a:srgbClr val="EEF1F4"/>
            </a:solidFill>
            <a:prstDash val="solid"/>
          </a:ln>
        </p:spPr>
      </p:sp>
      <p:sp>
        <p:nvSpPr>
          <p:cNvPr id="11" name="Shape 8"/>
          <p:cNvSpPr/>
          <p:nvPr/>
        </p:nvSpPr>
        <p:spPr>
          <a:xfrm>
            <a:off x="3566160" y="4251960"/>
            <a:ext cx="420624" cy="420624"/>
          </a:xfrm>
          <a:prstGeom prst="ellipse">
            <a:avLst/>
          </a:prstGeom>
          <a:solidFill>
            <a:srgbClr val="F2911B"/>
          </a:solidFill>
          <a:ln w="12700">
            <a:solidFill>
              <a:srgbClr val="F2911B"/>
            </a:solidFill>
            <a:prstDash val="solid"/>
          </a:ln>
        </p:spPr>
      </p:sp>
      <p:sp>
        <p:nvSpPr>
          <p:cNvPr id="12" name="Text 9"/>
          <p:cNvSpPr txBox="1"/>
          <p:nvPr/>
        </p:nvSpPr>
        <p:spPr>
          <a:xfrm>
            <a:off x="356616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411480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PRIMARY</a:t>
            </a:r>
            <a:endParaRPr lang="en-US" sz="1600" dirty="0"/>
          </a:p>
        </p:txBody>
      </p:sp>
      <p:sp>
        <p:nvSpPr>
          <p:cNvPr id="14" name="Text 11"/>
          <p:cNvSpPr txBox="1"/>
          <p:nvPr/>
        </p:nvSpPr>
        <p:spPr>
          <a:xfrm>
            <a:off x="3566160" y="4800600"/>
            <a:ext cx="2286000" cy="868680"/>
          </a:xfrm>
          <a:prstGeom prst="rect">
            <a:avLst/>
          </a:prstGeom>
          <a:noFill/>
          <a:ln/>
        </p:spPr>
        <p:txBody>
          <a:bodyPr wrap="square" lIns="0" tIns="0" rIns="0" bIns="0" rtlCol="0" anchor="t"/>
          <a:lstStyle/>
          <a:p>
            <a:pPr indent="0" marL="0">
              <a:buNone/>
            </a:pPr>
            <a:r>
              <a:rPr lang="en-US" sz="1300" dirty="0">
                <a:solidFill>
                  <a:srgbClr val="1B2129"/>
                </a:solidFill>
                <a:latin typeface="Calibri" pitchFamily="34" charset="0"/>
                <a:ea typeface="Calibri" pitchFamily="34" charset="-122"/>
                <a:cs typeface="Calibri" pitchFamily="34" charset="-120"/>
              </a:rPr>
              <a:t>Does the animal have a best-covering track of its own?</a:t>
            </a:r>
            <a:endParaRPr lang="en-US" sz="1300" dirty="0"/>
          </a:p>
        </p:txBody>
      </p:sp>
      <p:sp>
        <p:nvSpPr>
          <p:cNvPr id="15" name="Text 12"/>
          <p:cNvSpPr txBox="1"/>
          <p:nvPr/>
        </p:nvSpPr>
        <p:spPr>
          <a:xfrm>
            <a:off x="3566160" y="5760720"/>
            <a:ext cx="2286000" cy="365760"/>
          </a:xfrm>
          <a:prstGeom prst="rect">
            <a:avLst/>
          </a:prstGeom>
          <a:noFill/>
          <a:ln/>
        </p:spPr>
        <p:txBody>
          <a:bodyPr wrap="square" lIns="0" tIns="0" rIns="0" bIns="0" rtlCol="0" anchor="ctr"/>
          <a:lstStyle/>
          <a:p>
            <a:pPr indent="0" marL="0">
              <a:buNone/>
            </a:pPr>
            <a:r>
              <a:rPr lang="en-US" sz="1200" i="1" dirty="0">
                <a:solidFill>
                  <a:srgbClr val="4F6F8F"/>
                </a:solidFill>
                <a:latin typeface="Calibri" pitchFamily="34" charset="0"/>
                <a:ea typeface="Calibri" pitchFamily="34" charset="-122"/>
                <a:cs typeface="Calibri" pitchFamily="34" charset="-120"/>
              </a:rPr>
              <a:t>Measures association</a:t>
            </a:r>
            <a:endParaRPr lang="en-US" sz="1200" dirty="0"/>
          </a:p>
        </p:txBody>
      </p:sp>
      <p:sp>
        <p:nvSpPr>
          <p:cNvPr id="16" name="Shape 13"/>
          <p:cNvSpPr/>
          <p:nvPr/>
        </p:nvSpPr>
        <p:spPr>
          <a:xfrm>
            <a:off x="6217920" y="4069080"/>
            <a:ext cx="2651760" cy="2240280"/>
          </a:xfrm>
          <a:prstGeom prst="roundRect">
            <a:avLst>
              <a:gd name="adj" fmla="val 3265"/>
            </a:avLst>
          </a:prstGeom>
          <a:solidFill>
            <a:srgbClr val="EEF1F4"/>
          </a:solidFill>
          <a:ln w="12700">
            <a:solidFill>
              <a:srgbClr val="EEF1F4"/>
            </a:solidFill>
            <a:prstDash val="solid"/>
          </a:ln>
        </p:spPr>
      </p:sp>
      <p:sp>
        <p:nvSpPr>
          <p:cNvPr id="17" name="Shape 14"/>
          <p:cNvSpPr/>
          <p:nvPr/>
        </p:nvSpPr>
        <p:spPr>
          <a:xfrm>
            <a:off x="6400800" y="4251960"/>
            <a:ext cx="420624" cy="420624"/>
          </a:xfrm>
          <a:prstGeom prst="ellipse">
            <a:avLst/>
          </a:prstGeom>
          <a:solidFill>
            <a:srgbClr val="F2911B"/>
          </a:solidFill>
          <a:ln w="12700">
            <a:solidFill>
              <a:srgbClr val="F2911B"/>
            </a:solidFill>
            <a:prstDash val="solid"/>
          </a:ln>
        </p:spPr>
      </p:sp>
      <p:sp>
        <p:nvSpPr>
          <p:cNvPr id="18" name="Text 15"/>
          <p:cNvSpPr txBox="1"/>
          <p:nvPr/>
        </p:nvSpPr>
        <p:spPr>
          <a:xfrm>
            <a:off x="640080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694944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COUNTED</a:t>
            </a:r>
            <a:endParaRPr lang="en-US" sz="1600" dirty="0"/>
          </a:p>
        </p:txBody>
      </p:sp>
      <p:sp>
        <p:nvSpPr>
          <p:cNvPr id="20" name="Text 17"/>
          <p:cNvSpPr txBox="1"/>
          <p:nvPr/>
        </p:nvSpPr>
        <p:spPr>
          <a:xfrm>
            <a:off x="6400800" y="4800600"/>
            <a:ext cx="2286000" cy="868680"/>
          </a:xfrm>
          <a:prstGeom prst="rect">
            <a:avLst/>
          </a:prstGeom>
          <a:noFill/>
          <a:ln/>
        </p:spPr>
        <p:txBody>
          <a:bodyPr wrap="square" lIns="0" tIns="0" rIns="0" bIns="0" rtlCol="0" anchor="t"/>
          <a:lstStyle/>
          <a:p>
            <a:pPr indent="0" marL="0">
              <a:buNone/>
            </a:pPr>
            <a:r>
              <a:rPr lang="en-US" sz="1300" dirty="0">
                <a:solidFill>
                  <a:srgbClr val="1B2129"/>
                </a:solidFill>
                <a:latin typeface="Calibri" pitchFamily="34" charset="0"/>
                <a:ea typeface="Calibri" pitchFamily="34" charset="-122"/>
                <a:cs typeface="Calibri" pitchFamily="34" charset="-120"/>
              </a:rPr>
              <a:t>Did the confirmation rule accept a track on the animal?</a:t>
            </a:r>
            <a:endParaRPr lang="en-US" sz="1300" dirty="0"/>
          </a:p>
        </p:txBody>
      </p:sp>
      <p:sp>
        <p:nvSpPr>
          <p:cNvPr id="21" name="Text 18"/>
          <p:cNvSpPr txBox="1"/>
          <p:nvPr/>
        </p:nvSpPr>
        <p:spPr>
          <a:xfrm>
            <a:off x="6400800" y="5760720"/>
            <a:ext cx="2286000" cy="365760"/>
          </a:xfrm>
          <a:prstGeom prst="rect">
            <a:avLst/>
          </a:prstGeom>
          <a:noFill/>
          <a:ln/>
        </p:spPr>
        <p:txBody>
          <a:bodyPr wrap="square" lIns="0" tIns="0" rIns="0" bIns="0" rtlCol="0" anchor="ctr"/>
          <a:lstStyle/>
          <a:p>
            <a:pPr indent="0" marL="0">
              <a:buNone/>
            </a:pPr>
            <a:r>
              <a:rPr lang="en-US" sz="1200" i="1" dirty="0">
                <a:solidFill>
                  <a:srgbClr val="4F6F8F"/>
                </a:solidFill>
                <a:latin typeface="Calibri" pitchFamily="34" charset="0"/>
                <a:ea typeface="Calibri" pitchFamily="34" charset="-122"/>
                <a:cs typeface="Calibri" pitchFamily="34" charset="-120"/>
              </a:rPr>
              <a:t>Measures confirmation</a:t>
            </a:r>
            <a:endParaRPr lang="en-US" sz="1200" dirty="0"/>
          </a:p>
        </p:txBody>
      </p:sp>
      <p:sp>
        <p:nvSpPr>
          <p:cNvPr id="22" name="Shape 19"/>
          <p:cNvSpPr/>
          <p:nvPr/>
        </p:nvSpPr>
        <p:spPr>
          <a:xfrm>
            <a:off x="9052560" y="4069080"/>
            <a:ext cx="2560320" cy="2240280"/>
          </a:xfrm>
          <a:prstGeom prst="roundRect">
            <a:avLst>
              <a:gd name="adj" fmla="val 3265"/>
            </a:avLst>
          </a:prstGeom>
          <a:solidFill>
            <a:srgbClr val="12161C"/>
          </a:solidFill>
          <a:ln w="12700">
            <a:solidFill>
              <a:srgbClr val="12161C"/>
            </a:solidFill>
            <a:prstDash val="solid"/>
          </a:ln>
        </p:spPr>
      </p:sp>
      <p:sp>
        <p:nvSpPr>
          <p:cNvPr id="23" name="Text 20"/>
          <p:cNvSpPr txBox="1"/>
          <p:nvPr/>
        </p:nvSpPr>
        <p:spPr>
          <a:xfrm>
            <a:off x="9235440" y="4251960"/>
            <a:ext cx="2194560" cy="420624"/>
          </a:xfrm>
          <a:prstGeom prst="rect">
            <a:avLst/>
          </a:prstGeom>
          <a:noFill/>
          <a:ln/>
        </p:spPr>
        <p:txBody>
          <a:bodyPr wrap="square" lIns="0" tIns="0" rIns="0" bIns="0" rtlCol="0" anchor="ctr"/>
          <a:lstStyle/>
          <a:p>
            <a:pPr indent="0" marL="0">
              <a:buNone/>
            </a:pPr>
            <a:r>
              <a:rPr lang="en-US" sz="1600" b="1" dirty="0">
                <a:solidFill>
                  <a:srgbClr val="F2911B"/>
                </a:solidFill>
                <a:latin typeface="Calibri" pitchFamily="34" charset="0"/>
                <a:ea typeface="Calibri" pitchFamily="34" charset="-122"/>
                <a:cs typeface="Calibri" pitchFamily="34" charset="-120"/>
              </a:rPr>
              <a:t>Held-out protocol</a:t>
            </a:r>
            <a:endParaRPr lang="en-US" sz="1600" dirty="0"/>
          </a:p>
        </p:txBody>
      </p:sp>
      <p:sp>
        <p:nvSpPr>
          <p:cNvPr id="24" name="Text 21"/>
          <p:cNvSpPr txBox="1"/>
          <p:nvPr/>
        </p:nvSpPr>
        <p:spPr>
          <a:xfrm>
            <a:off x="9235440" y="4800600"/>
            <a:ext cx="2194560" cy="13716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rule is fitted by grid search on the 19 training videos, frozen, and reported on 13 videos the detector never saw (83 deer).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Detection is close to solved; the count is lost afterwards</a:t>
            </a:r>
            <a:endParaRPr lang="en-US" sz="3000" dirty="0"/>
          </a:p>
        </p:txBody>
      </p:sp>
      <p:graphicFrame>
        <p:nvGraphicFramePr>
          <p:cNvPr id="3" name="Chart 0" descr=""/>
          <p:cNvGraphicFramePr/>
          <p:nvPr/>
        </p:nvGraphicFramePr>
        <p:xfrm>
          <a:off x="457200" y="1280160"/>
          <a:ext cx="6949440" cy="51206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371600"/>
            <a:ext cx="3886200" cy="1508760"/>
          </a:xfrm>
          <a:prstGeom prst="roundRect">
            <a:avLst>
              <a:gd name="adj" fmla="val 4848"/>
            </a:avLst>
          </a:prstGeom>
          <a:solidFill>
            <a:srgbClr val="EEF1F4"/>
          </a:solidFill>
          <a:ln w="12700">
            <a:solidFill>
              <a:srgbClr val="EEF1F4"/>
            </a:solidFill>
            <a:prstDash val="solid"/>
          </a:ln>
        </p:spPr>
      </p:sp>
      <p:sp>
        <p:nvSpPr>
          <p:cNvPr id="5" name="Text 2"/>
          <p:cNvSpPr txBox="1"/>
          <p:nvPr/>
        </p:nvSpPr>
        <p:spPr>
          <a:xfrm>
            <a:off x="8001000" y="1481328"/>
            <a:ext cx="3474720" cy="566928"/>
          </a:xfrm>
          <a:prstGeom prst="rect">
            <a:avLst/>
          </a:prstGeom>
          <a:noFill/>
          <a:ln/>
        </p:spPr>
        <p:txBody>
          <a:bodyPr wrap="square" lIns="0" tIns="0" rIns="0" bIns="0" rtlCol="0" anchor="ctr"/>
          <a:lstStyle/>
          <a:p>
            <a:pPr indent="0" marL="0">
              <a:buNone/>
            </a:pPr>
            <a:r>
              <a:rPr lang="en-US" sz="2600" b="1" dirty="0">
                <a:solidFill>
                  <a:srgbClr val="F2911B"/>
                </a:solidFill>
                <a:latin typeface="Cambria" pitchFamily="34" charset="0"/>
                <a:ea typeface="Cambria" pitchFamily="34" charset="-122"/>
                <a:cs typeface="Cambria" pitchFamily="34" charset="-120"/>
              </a:rPr>
              <a:t>82 to 99.6%</a:t>
            </a:r>
            <a:endParaRPr lang="en-US" sz="2600" dirty="0"/>
          </a:p>
        </p:txBody>
      </p:sp>
      <p:sp>
        <p:nvSpPr>
          <p:cNvPr id="6" name="Text 3"/>
          <p:cNvSpPr txBox="1"/>
          <p:nvPr/>
        </p:nvSpPr>
        <p:spPr>
          <a:xfrm>
            <a:off x="8001000" y="2066544"/>
            <a:ext cx="3474720" cy="73152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of animals are found in at least one frame by every detector, although AP50 is only 0.37 to 0.51</a:t>
            </a:r>
            <a:endParaRPr lang="en-US" sz="1250" dirty="0"/>
          </a:p>
        </p:txBody>
      </p:sp>
      <p:sp>
        <p:nvSpPr>
          <p:cNvPr id="7" name="Shape 4"/>
          <p:cNvSpPr/>
          <p:nvPr/>
        </p:nvSpPr>
        <p:spPr>
          <a:xfrm>
            <a:off x="7772400" y="3063240"/>
            <a:ext cx="3886200" cy="1508760"/>
          </a:xfrm>
          <a:prstGeom prst="roundRect">
            <a:avLst>
              <a:gd name="adj" fmla="val 4848"/>
            </a:avLst>
          </a:prstGeom>
          <a:solidFill>
            <a:srgbClr val="EEF1F4"/>
          </a:solidFill>
          <a:ln w="12700">
            <a:solidFill>
              <a:srgbClr val="EEF1F4"/>
            </a:solidFill>
            <a:prstDash val="solid"/>
          </a:ln>
        </p:spPr>
      </p:sp>
      <p:sp>
        <p:nvSpPr>
          <p:cNvPr id="8" name="Text 5"/>
          <p:cNvSpPr txBox="1"/>
          <p:nvPr/>
        </p:nvSpPr>
        <p:spPr>
          <a:xfrm>
            <a:off x="8001000" y="3172968"/>
            <a:ext cx="3474720" cy="566928"/>
          </a:xfrm>
          <a:prstGeom prst="rect">
            <a:avLst/>
          </a:prstGeom>
          <a:noFill/>
          <a:ln/>
        </p:spPr>
        <p:txBody>
          <a:bodyPr wrap="square" lIns="0" tIns="0" rIns="0" bIns="0" rtlCol="0" anchor="ctr"/>
          <a:lstStyle/>
          <a:p>
            <a:pPr indent="0" marL="0">
              <a:buNone/>
            </a:pPr>
            <a:r>
              <a:rPr lang="en-US" sz="2600" b="1" dirty="0">
                <a:solidFill>
                  <a:srgbClr val="F2911B"/>
                </a:solidFill>
                <a:latin typeface="Cambria" pitchFamily="34" charset="0"/>
                <a:ea typeface="Cambria" pitchFamily="34" charset="-122"/>
                <a:cs typeface="Cambria" pitchFamily="34" charset="-120"/>
              </a:rPr>
              <a:t>89 &gt; 80 &gt; 66%</a:t>
            </a:r>
            <a:endParaRPr lang="en-US" sz="2600" dirty="0"/>
          </a:p>
        </p:txBody>
      </p:sp>
      <p:sp>
        <p:nvSpPr>
          <p:cNvPr id="9" name="Text 6"/>
          <p:cNvSpPr txBox="1"/>
          <p:nvPr/>
        </p:nvSpPr>
        <p:spPr>
          <a:xfrm>
            <a:off x="8001000" y="3758184"/>
            <a:ext cx="3474720" cy="73152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reached, primary and counted on held-out video: most animals are lost at confirmation</a:t>
            </a:r>
            <a:endParaRPr lang="en-US" sz="1250" dirty="0"/>
          </a:p>
        </p:txBody>
      </p:sp>
      <p:sp>
        <p:nvSpPr>
          <p:cNvPr id="10" name="Shape 7"/>
          <p:cNvSpPr/>
          <p:nvPr/>
        </p:nvSpPr>
        <p:spPr>
          <a:xfrm>
            <a:off x="7772400" y="4754880"/>
            <a:ext cx="3886200" cy="1508760"/>
          </a:xfrm>
          <a:prstGeom prst="roundRect">
            <a:avLst>
              <a:gd name="adj" fmla="val 4848"/>
            </a:avLst>
          </a:prstGeom>
          <a:solidFill>
            <a:srgbClr val="EEF1F4"/>
          </a:solidFill>
          <a:ln w="12700">
            <a:solidFill>
              <a:srgbClr val="EEF1F4"/>
            </a:solidFill>
            <a:prstDash val="solid"/>
          </a:ln>
        </p:spPr>
      </p:sp>
      <p:sp>
        <p:nvSpPr>
          <p:cNvPr id="11" name="Text 8"/>
          <p:cNvSpPr txBox="1"/>
          <p:nvPr/>
        </p:nvSpPr>
        <p:spPr>
          <a:xfrm>
            <a:off x="8001000" y="4864608"/>
            <a:ext cx="3474720" cy="566928"/>
          </a:xfrm>
          <a:prstGeom prst="rect">
            <a:avLst/>
          </a:prstGeom>
          <a:noFill/>
          <a:ln/>
        </p:spPr>
        <p:txBody>
          <a:bodyPr wrap="square" lIns="0" tIns="0" rIns="0" bIns="0" rtlCol="0" anchor="ctr"/>
          <a:lstStyle/>
          <a:p>
            <a:pPr indent="0" marL="0">
              <a:buNone/>
            </a:pPr>
            <a:r>
              <a:rPr lang="en-US" sz="2600" b="1" dirty="0">
                <a:solidFill>
                  <a:srgbClr val="F2911B"/>
                </a:solidFill>
                <a:latin typeface="Cambria" pitchFamily="34" charset="0"/>
                <a:ea typeface="Cambria" pitchFamily="34" charset="-122"/>
                <a:cs typeface="Cambria" pitchFamily="34" charset="-120"/>
              </a:rPr>
              <a:t>MAE 2.38</a:t>
            </a:r>
            <a:endParaRPr lang="en-US" sz="2600" dirty="0"/>
          </a:p>
        </p:txBody>
      </p:sp>
      <p:sp>
        <p:nvSpPr>
          <p:cNvPr id="12" name="Text 9"/>
          <p:cNvSpPr txBox="1"/>
          <p:nvPr/>
        </p:nvSpPr>
        <p:spPr>
          <a:xfrm>
            <a:off x="8001000" y="5449824"/>
            <a:ext cx="3474720" cy="73152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animals per video; the pipeline under-counts and almost never over-counts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Richer candidate pools count fewer animals</a:t>
            </a:r>
            <a:endParaRPr lang="en-US" sz="3000" dirty="0"/>
          </a:p>
        </p:txBody>
      </p:sp>
      <p:graphicFrame>
        <p:nvGraphicFramePr>
          <p:cNvPr id="3" name="Chart 0" descr=""/>
          <p:cNvGraphicFramePr/>
          <p:nvPr/>
        </p:nvGraphicFramePr>
        <p:xfrm>
          <a:off x="457200" y="1280160"/>
          <a:ext cx="612648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766560" y="1280160"/>
          <a:ext cx="4937760" cy="397764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5440680"/>
            <a:ext cx="3566160" cy="1005840"/>
          </a:xfrm>
          <a:prstGeom prst="roundRect">
            <a:avLst>
              <a:gd name="adj" fmla="val 7273"/>
            </a:avLst>
          </a:prstGeom>
          <a:solidFill>
            <a:srgbClr val="EEF1F4"/>
          </a:solidFill>
          <a:ln w="12700">
            <a:solidFill>
              <a:srgbClr val="EEF1F4"/>
            </a:solidFill>
            <a:prstDash val="solid"/>
          </a:ln>
        </p:spPr>
      </p:sp>
      <p:sp>
        <p:nvSpPr>
          <p:cNvPr id="6" name="Text 2"/>
          <p:cNvSpPr txBox="1"/>
          <p:nvPr/>
        </p:nvSpPr>
        <p:spPr>
          <a:xfrm>
            <a:off x="713232" y="548640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Every richer pool reaches more animals than the baseline and counts fewer: the extra candidates are re-sightings of animals already counted.</a:t>
            </a:r>
            <a:endParaRPr lang="en-US" sz="1200" dirty="0"/>
          </a:p>
        </p:txBody>
      </p:sp>
      <p:sp>
        <p:nvSpPr>
          <p:cNvPr id="7" name="Shape 3"/>
          <p:cNvSpPr/>
          <p:nvPr/>
        </p:nvSpPr>
        <p:spPr>
          <a:xfrm>
            <a:off x="4297680" y="5440680"/>
            <a:ext cx="3566160" cy="1005840"/>
          </a:xfrm>
          <a:prstGeom prst="roundRect">
            <a:avLst>
              <a:gd name="adj" fmla="val 7273"/>
            </a:avLst>
          </a:prstGeom>
          <a:solidFill>
            <a:srgbClr val="EEF1F4"/>
          </a:solidFill>
          <a:ln w="12700">
            <a:solidFill>
              <a:srgbClr val="EEF1F4"/>
            </a:solidFill>
            <a:prstDash val="solid"/>
          </a:ln>
        </p:spPr>
      </p:sp>
      <p:sp>
        <p:nvSpPr>
          <p:cNvPr id="8" name="Text 4"/>
          <p:cNvSpPr txBox="1"/>
          <p:nvPr/>
        </p:nvSpPr>
        <p:spPr>
          <a:xfrm>
            <a:off x="4462272" y="548640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Lowering c recovers animals but admits about two duplicates for each; the count is unbiased near c = 0.45 (81 of 83).</a:t>
            </a:r>
            <a:endParaRPr lang="en-US" sz="1200" dirty="0"/>
          </a:p>
        </p:txBody>
      </p:sp>
      <p:sp>
        <p:nvSpPr>
          <p:cNvPr id="9" name="Shape 5"/>
          <p:cNvSpPr/>
          <p:nvPr/>
        </p:nvSpPr>
        <p:spPr>
          <a:xfrm>
            <a:off x="8046720" y="5440680"/>
            <a:ext cx="3566160" cy="1005840"/>
          </a:xfrm>
          <a:prstGeom prst="roundRect">
            <a:avLst>
              <a:gd name="adj" fmla="val 7273"/>
            </a:avLst>
          </a:prstGeom>
          <a:solidFill>
            <a:srgbClr val="EEF1F4"/>
          </a:solidFill>
          <a:ln w="12700">
            <a:solidFill>
              <a:srgbClr val="EEF1F4"/>
            </a:solidFill>
            <a:prstDash val="solid"/>
          </a:ln>
        </p:spPr>
      </p:sp>
      <p:sp>
        <p:nvSpPr>
          <p:cNvPr id="10" name="Text 6"/>
          <p:cNvSpPr txBox="1"/>
          <p:nvPr/>
        </p:nvSpPr>
        <p:spPr>
          <a:xfrm>
            <a:off x="8211312" y="548640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Learned confirmers (logistic regression, boosting, transformer) lose to the 3-parameter rule: MAE 2.85 to 3.00 vs. 2.38.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Across sites, and what to take away</a:t>
            </a:r>
            <a:endParaRPr lang="en-US" sz="3000" dirty="0"/>
          </a:p>
        </p:txBody>
      </p:sp>
      <p:graphicFrame>
        <p:nvGraphicFramePr>
          <p:cNvPr id="3" name="Chart 0" descr=""/>
          <p:cNvGraphicFramePr/>
          <p:nvPr/>
        </p:nvGraphicFramePr>
        <p:xfrm>
          <a:off x="457200" y="1280160"/>
          <a:ext cx="5394960" cy="4434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60720"/>
            <a:ext cx="5212080" cy="685800"/>
          </a:xfrm>
          <a:prstGeom prst="rect">
            <a:avLst/>
          </a:prstGeom>
          <a:noFill/>
          <a:ln/>
        </p:spPr>
        <p:txBody>
          <a:bodyPr wrap="square" lIns="0" tIns="0" rIns="0" bIns="0" rtlCol="0" anchor="t"/>
          <a:lstStyle/>
          <a:p>
            <a:pPr indent="0" marL="0">
              <a:buNone/>
            </a:pPr>
            <a:r>
              <a:rPr lang="en-US" sz="1200" dirty="0">
                <a:solidFill>
                  <a:srgbClr val="C9D3DD"/>
                </a:solidFill>
                <a:latin typeface="Calibri" pitchFamily="34" charset="0"/>
                <a:ea typeface="Calibri" pitchFamily="34" charset="-122"/>
                <a:cs typeface="Calibri" pitchFamily="34" charset="-120"/>
              </a:rPr>
              <a:t>Detection and association transfer to an unseen site; the count does not. An absolute threshold of 0.65 accepts nothing at MAS, where no track scores above 0.585.</a:t>
            </a:r>
            <a:endParaRPr lang="en-US" sz="1200" dirty="0"/>
          </a:p>
        </p:txBody>
      </p:sp>
      <p:sp>
        <p:nvSpPr>
          <p:cNvPr id="5" name="Shape 2"/>
          <p:cNvSpPr/>
          <p:nvPr/>
        </p:nvSpPr>
        <p:spPr>
          <a:xfrm>
            <a:off x="6309360" y="1417320"/>
            <a:ext cx="420624" cy="420624"/>
          </a:xfrm>
          <a:prstGeom prst="ellipse">
            <a:avLst/>
          </a:prstGeom>
          <a:solidFill>
            <a:srgbClr val="F2911B"/>
          </a:solidFill>
          <a:ln w="12700">
            <a:solidFill>
              <a:srgbClr val="F2911B"/>
            </a:solidFill>
            <a:prstDash val="solid"/>
          </a:ln>
        </p:spPr>
      </p:sp>
      <p:sp>
        <p:nvSpPr>
          <p:cNvPr id="6" name="Text 3"/>
          <p:cNvSpPr txBox="1"/>
          <p:nvPr/>
        </p:nvSpPr>
        <p:spPr>
          <a:xfrm>
            <a:off x="6309360" y="141732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6903720" y="1371600"/>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Detection is not the bottleneck</a:t>
            </a:r>
            <a:endParaRPr lang="en-US" sz="1600" dirty="0"/>
          </a:p>
        </p:txBody>
      </p:sp>
      <p:sp>
        <p:nvSpPr>
          <p:cNvPr id="8" name="Text 5"/>
          <p:cNvSpPr txBox="1"/>
          <p:nvPr/>
        </p:nvSpPr>
        <p:spPr>
          <a:xfrm>
            <a:off x="6903720" y="1773936"/>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Per animal, detection is near-saturated on this corpus. Confirmation is where animals are lost.</a:t>
            </a:r>
            <a:endParaRPr lang="en-US" sz="1250" dirty="0"/>
          </a:p>
        </p:txBody>
      </p:sp>
      <p:sp>
        <p:nvSpPr>
          <p:cNvPr id="9" name="Shape 6"/>
          <p:cNvSpPr/>
          <p:nvPr/>
        </p:nvSpPr>
        <p:spPr>
          <a:xfrm>
            <a:off x="6309360" y="2606040"/>
            <a:ext cx="420624" cy="420624"/>
          </a:xfrm>
          <a:prstGeom prst="ellipse">
            <a:avLst/>
          </a:prstGeom>
          <a:solidFill>
            <a:srgbClr val="F2911B"/>
          </a:solidFill>
          <a:ln w="12700">
            <a:solidFill>
              <a:srgbClr val="F2911B"/>
            </a:solidFill>
            <a:prstDash val="solid"/>
          </a:ln>
        </p:spPr>
      </p:sp>
      <p:sp>
        <p:nvSpPr>
          <p:cNvPr id="10" name="Text 7"/>
          <p:cNvSpPr txBox="1"/>
          <p:nvPr/>
        </p:nvSpPr>
        <p:spPr>
          <a:xfrm>
            <a:off x="6309360" y="260604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6903720" y="2560320"/>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Improving the candidate pool did not help</a:t>
            </a:r>
            <a:endParaRPr lang="en-US" sz="1600" dirty="0"/>
          </a:p>
        </p:txBody>
      </p:sp>
      <p:sp>
        <p:nvSpPr>
          <p:cNvPr id="12" name="Text 9"/>
          <p:cNvSpPr txBox="1"/>
          <p:nvPr/>
        </p:nvSpPr>
        <p:spPr>
          <a:xfrm>
            <a:off x="6903720" y="2962656"/>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Better detection, association and looser suppression each left the count equal or lower.</a:t>
            </a:r>
            <a:endParaRPr lang="en-US" sz="1250" dirty="0"/>
          </a:p>
        </p:txBody>
      </p:sp>
      <p:sp>
        <p:nvSpPr>
          <p:cNvPr id="13" name="Shape 10"/>
          <p:cNvSpPr/>
          <p:nvPr/>
        </p:nvSpPr>
        <p:spPr>
          <a:xfrm>
            <a:off x="6309360" y="3794760"/>
            <a:ext cx="420624" cy="420624"/>
          </a:xfrm>
          <a:prstGeom prst="ellipse">
            <a:avLst/>
          </a:prstGeom>
          <a:solidFill>
            <a:srgbClr val="F2911B"/>
          </a:solidFill>
          <a:ln w="12700">
            <a:solidFill>
              <a:srgbClr val="F2911B"/>
            </a:solidFill>
            <a:prstDash val="solid"/>
          </a:ln>
        </p:spPr>
      </p:sp>
      <p:sp>
        <p:nvSpPr>
          <p:cNvPr id="14" name="Text 11"/>
          <p:cNvSpPr txBox="1"/>
          <p:nvPr/>
        </p:nvSpPr>
        <p:spPr>
          <a:xfrm>
            <a:off x="6309360" y="37947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6903720" y="3749040"/>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limit is supervision, not model capacity</a:t>
            </a:r>
            <a:endParaRPr lang="en-US" sz="1600" dirty="0"/>
          </a:p>
        </p:txBody>
      </p:sp>
      <p:sp>
        <p:nvSpPr>
          <p:cNvPr id="16" name="Text 13"/>
          <p:cNvSpPr txBox="1"/>
          <p:nvPr/>
        </p:nvSpPr>
        <p:spPr>
          <a:xfrm>
            <a:off x="6903720" y="4151376"/>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About 200 positive tracks; duplicates sit between true animals and false candidates on every feature.</a:t>
            </a:r>
            <a:endParaRPr lang="en-US" sz="1250" dirty="0"/>
          </a:p>
        </p:txBody>
      </p:sp>
      <p:sp>
        <p:nvSpPr>
          <p:cNvPr id="17" name="Shape 14"/>
          <p:cNvSpPr/>
          <p:nvPr/>
        </p:nvSpPr>
        <p:spPr>
          <a:xfrm>
            <a:off x="6309360" y="4983480"/>
            <a:ext cx="420624" cy="420624"/>
          </a:xfrm>
          <a:prstGeom prst="ellipse">
            <a:avLst/>
          </a:prstGeom>
          <a:solidFill>
            <a:srgbClr val="F2911B"/>
          </a:solidFill>
          <a:ln w="12700">
            <a:solidFill>
              <a:srgbClr val="F2911B"/>
            </a:solidFill>
            <a:prstDash val="solid"/>
          </a:ln>
        </p:spPr>
      </p:sp>
      <p:sp>
        <p:nvSpPr>
          <p:cNvPr id="18" name="Text 15"/>
          <p:cNvSpPr txBox="1"/>
          <p:nvPr/>
        </p:nvSpPr>
        <p:spPr>
          <a:xfrm>
            <a:off x="6309360" y="498348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6903720" y="4937760"/>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Choose the operating point for the purpose</a:t>
            </a:r>
            <a:endParaRPr lang="en-US" sz="1600" dirty="0"/>
          </a:p>
        </p:txBody>
      </p:sp>
      <p:sp>
        <p:nvSpPr>
          <p:cNvPr id="20" name="Text 17"/>
          <p:cNvSpPr txBox="1"/>
          <p:nvPr/>
        </p:nvSpPr>
        <p:spPr>
          <a:xfrm>
            <a:off x="6903720" y="5340096"/>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Minimum error per transect (c = 0.65) or an unbiased total for abundance (c = 0.45); re-fit at a new site.</a:t>
            </a:r>
            <a:endParaRPr lang="en-US" sz="1250" dirty="0"/>
          </a:p>
        </p:txBody>
      </p:sp>
      <p:sp>
        <p:nvSpPr>
          <p:cNvPr id="21" name="Text 18"/>
          <p:cNvSpPr txBox="1"/>
          <p:nvPr/>
        </p:nvSpPr>
        <p:spPr>
          <a:xfrm>
            <a:off x="6309360" y="6035040"/>
            <a:ext cx="5349240" cy="365760"/>
          </a:xfrm>
          <a:prstGeom prst="rect">
            <a:avLst/>
          </a:prstGeom>
          <a:noFill/>
          <a:ln/>
        </p:spPr>
        <p:txBody>
          <a:bodyPr wrap="square" lIns="0" tIns="0" rIns="0" bIns="0" rtlCol="0" anchor="ctr"/>
          <a:lstStyle/>
          <a:p>
            <a:pPr indent="0" marL="0">
              <a:buNone/>
            </a:pPr>
            <a:r>
              <a:rPr lang="en-US" sz="1200" i="1" dirty="0">
                <a:solidFill>
                  <a:srgbClr val="F2911B"/>
                </a:solidFill>
                <a:latin typeface="Calibri" pitchFamily="34" charset="0"/>
                <a:ea typeface="Calibri" pitchFamily="34" charset="-122"/>
                <a:cs typeface="Calibri" pitchFamily="34" charset="-120"/>
              </a:rPr>
              <a:t>Dataset, annotations and evaluation code will be released with the paper.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 counting white-tailed deer in thermal road-transect video</dc:title>
  <dc:subject>PptxGenJS Presentation</dc:subject>
  <dc:creator>Taminul Islam</dc:creator>
  <cp:lastModifiedBy>Taminul Islam</cp:lastModifiedBy>
  <cp:revision>1</cp:revision>
  <dcterms:created xsi:type="dcterms:W3CDTF">2026-09-28T19:29:24Z</dcterms:created>
  <dcterms:modified xsi:type="dcterms:W3CDTF">2026-09-28T19:29:24Z</dcterms:modified>
</cp:coreProperties>
</file>