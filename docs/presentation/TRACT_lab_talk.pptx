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29"/>
                </a:solidFill>
                <a:latin typeface="Calibri"/>
              </a:defRPr>
            </a:pPr>
            <a:r>
              <a:rPr sz="1400" b="0" i="0" u="none" strike="noStrike">
                <a:solidFill>
                  <a:srgbClr val="1B2129"/>
                </a:solidFill>
                <a:latin typeface="Calibri"/>
              </a:rPr>
              <a:t>Annotated deer per site (236 in total)</a:t>
            </a:r>
          </a:p>
        </c:rich>
      </c:tx>
      <c:layout/>
      <c:overlay val="0"/>
    </c:title>
    <c:autoTitleDeleted val="0"/>
    <c:plotArea>
      <c:layout/>
      <c:barChart>
        <c:barDir val="col"/>
        <c:grouping val="clustered"/>
        <c:varyColors val="0"/>
        <c:ser>
          <c:idx val="0"/>
          <c:order val="0"/>
          <c:tx>
            <c:strRef>
              <c:f>Sheet1!$B$1</c:f>
              <c:strCache>
                <c:ptCount val="1"/>
                <c:pt idx="0">
                  <c:v>Annotated deer</c:v>
                </c:pt>
              </c:strCache>
            </c:strRef>
          </c:tx>
          <c:spPr>
            <a:solidFill>
              <a:srgbClr val="F2911B"/>
            </a:solidFill>
            <a:effectLst/>
          </c:spPr>
          <c:invertIfNegative val="0"/>
          <c:dLbls>
            <c:numFmt formatCode="#,##0" sourceLinked="0"/>
            <c:txPr>
              <a:bodyPr/>
              <a:lstStyle/>
              <a:p>
                <a:pPr>
                  <a:defRPr b="0" i="0" strike="noStrike" sz="1200" u="none">
                    <a:solidFill>
                      <a:srgbClr val="1B2129"/>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SHB</c:v>
                  </c:pt>
                  <c:pt idx="1">
                    <c:v>TON</c:v>
                  </c:pt>
                  <c:pt idx="2">
                    <c:v>SHW</c:v>
                  </c:pt>
                  <c:pt idx="3">
                    <c:v>MAS</c:v>
                  </c:pt>
                </c:lvl>
              </c:multiLvlStrCache>
            </c:multiLvlStrRef>
          </c:cat>
          <c:val>
            <c:numRef>
              <c:f>Sheet1!$B$2:$B$5</c:f>
              <c:numCache>
                <c:formatCode>General</c:formatCode>
                <c:ptCount val="4"/>
                <c:pt idx="0">
                  <c:v>132</c:v>
                </c:pt>
                <c:pt idx="1">
                  <c:v>51</c:v>
                </c:pt>
                <c:pt idx="2">
                  <c:v>38</c:v>
                </c:pt>
                <c:pt idx="3">
                  <c:v>15</c:v>
                </c:pt>
              </c:numCache>
            </c:numRef>
          </c:val>
        </c:ser>
        <c:dLbls>
          <c:numFmt formatCode="#,##0" sourceLinked="0"/>
          <c:txPr>
            <a:bodyPr/>
            <a:lstStyle/>
            <a:p>
              <a:pPr>
                <a:defRPr b="0" i="0" strike="noStrike" sz="1200" u="none">
                  <a:solidFill>
                    <a:srgbClr val="1B2129"/>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29"/>
                </a:solidFill>
                <a:latin typeface="Calibri"/>
              </a:defRPr>
            </a:pPr>
            <a:r>
              <a:rPr sz="1400" b="0" i="0" u="none" strike="noStrike">
                <a:solidFill>
                  <a:srgbClr val="1B2129"/>
                </a:solidFill>
                <a:latin typeface="Calibri"/>
              </a:rPr>
              <a:t>Mean of the five best confidences per track</a:t>
            </a:r>
          </a:p>
        </c:rich>
      </c:tx>
      <c:layout/>
      <c:overlay val="0"/>
    </c:title>
    <c:autoTitleDeleted val="0"/>
    <c:plotArea>
      <c:layout/>
      <c:barChart>
        <c:barDir val="col"/>
        <c:grouping val="stacked"/>
        <c:varyColors val="0"/>
        <c:ser>
          <c:idx val="0"/>
          <c:order val="0"/>
          <c:tx>
            <c:strRef>
              <c:f>Sheet1!$B$1</c:f>
              <c:strCache>
                <c:ptCount val="1"/>
                <c:pt idx="0">
                  <c:v>Accepted</c:v>
                </c:pt>
              </c:strCache>
            </c:strRef>
          </c:tx>
          <c:spPr>
            <a:solidFill>
              <a:srgbClr val="F2911B"/>
            </a:solidFill>
            <a:effectLst/>
          </c:spPr>
          <c:invertIfNegative val="0"/>
          <c:dLbls>
            <c:numFmt formatCode="0.00;;;" sourceLinked="0"/>
            <c:txPr>
              <a:bodyPr/>
              <a:lstStyle/>
              <a:p>
                <a:pPr>
                  <a:defRPr b="0" i="0" strike="noStrike" sz="11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Sheet1!$A$2:$A$6</c:f>
              <c:multiLvlStrCache>
                <c:ptCount val="5"/>
                <c:lvl>
                  <c:pt idx="0">
                    <c:v>ID 232 (110)</c:v>
                  </c:pt>
                  <c:pt idx="1">
                    <c:v>ID 238 (108)</c:v>
                  </c:pt>
                  <c:pt idx="2">
                    <c:v>ID 246 (23)</c:v>
                  </c:pt>
                  <c:pt idx="3">
                    <c:v>ID 249 (41)</c:v>
                  </c:pt>
                  <c:pt idx="4">
                    <c:v>ID 250 (49)</c:v>
                  </c:pt>
                </c:lvl>
              </c:multiLvlStrCache>
            </c:multiLvlStrRef>
          </c:cat>
          <c:val>
            <c:numRef>
              <c:f>Sheet1!$B$2:$B$6</c:f>
              <c:numCache>
                <c:formatCode>General</c:formatCode>
                <c:ptCount val="5"/>
                <c:pt idx="0">
                  <c:v>0.735</c:v>
                </c:pt>
                <c:pt idx="1">
                  <c:v>0.796</c:v>
                </c:pt>
                <c:pt idx="2">
                  <c:v>0</c:v>
                </c:pt>
                <c:pt idx="3">
                  <c:v>0.749</c:v>
                </c:pt>
                <c:pt idx="4">
                  <c:v>0.776</c:v>
                </c:pt>
              </c:numCache>
            </c:numRef>
          </c:val>
        </c:ser>
        <c:ser>
          <c:idx val="1"/>
          <c:order val="1"/>
          <c:tx>
            <c:strRef>
              <c:f>Sheet1!$C$1</c:f>
              <c:strCache>
                <c:ptCount val="1"/>
                <c:pt idx="0">
                  <c:v>Rejected (below 0.65)</c:v>
                </c:pt>
              </c:strCache>
            </c:strRef>
          </c:tx>
          <c:spPr>
            <a:solidFill>
              <a:srgbClr val="D9534F"/>
            </a:solidFill>
            <a:effectLst/>
          </c:spPr>
          <c:invertIfNegative val="0"/>
          <c:dLbls>
            <c:numFmt formatCode="0.00;;;" sourceLinked="0"/>
            <c:txPr>
              <a:bodyPr/>
              <a:lstStyle/>
              <a:p>
                <a:pPr>
                  <a:defRPr b="0" i="0" strike="noStrike" sz="11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Sheet1!$A$2:$A$6</c:f>
              <c:multiLvlStrCache>
                <c:ptCount val="5"/>
                <c:lvl>
                  <c:pt idx="0">
                    <c:v>ID 232 (110)</c:v>
                  </c:pt>
                  <c:pt idx="1">
                    <c:v>ID 238 (108)</c:v>
                  </c:pt>
                  <c:pt idx="2">
                    <c:v>ID 246 (23)</c:v>
                  </c:pt>
                  <c:pt idx="3">
                    <c:v>ID 249 (41)</c:v>
                  </c:pt>
                  <c:pt idx="4">
                    <c:v>ID 250 (49)</c:v>
                  </c:pt>
                </c:lvl>
              </c:multiLvlStrCache>
            </c:multiLvlStrRef>
          </c:cat>
          <c:val>
            <c:numRef>
              <c:f>Sheet1!$C$2:$C$6</c:f>
              <c:numCache>
                <c:formatCode>General</c:formatCode>
                <c:ptCount val="5"/>
                <c:pt idx="0">
                  <c:v>0</c:v>
                </c:pt>
                <c:pt idx="1">
                  <c:v>0</c:v>
                </c:pt>
                <c:pt idx="2">
                  <c:v>0.602</c:v>
                </c:pt>
                <c:pt idx="3">
                  <c:v>0</c:v>
                </c:pt>
                <c:pt idx="4">
                  <c:v>0</c:v>
                </c:pt>
              </c:numCache>
            </c:numRef>
          </c:val>
        </c:ser>
        <c:dLbls>
          <c:numFmt formatCode="0.00;;;" sourceLinked="0"/>
          <c:txPr>
            <a:bodyPr/>
            <a:lstStyle/>
            <a:p>
              <a:pPr>
                <a:defRPr b="0" i="0" strike="noStrike" sz="1100" u="none">
                  <a:solidFill>
                    <a:srgbClr val="FFFFFF"/>
                  </a:solidFill>
                  <a:latin typeface="Calibri"/>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7EB"/>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1B2129"/>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29"/>
                </a:solidFill>
                <a:latin typeface="Calibri"/>
              </a:defRPr>
            </a:pPr>
            <a:r>
              <a:rPr sz="1400" b="0" i="0" u="none" strike="noStrike">
                <a:solidFill>
                  <a:srgbClr val="1B2129"/>
                </a:solidFill>
                <a:latin typeface="Calibri"/>
              </a:rPr>
              <a:t>The 83 deer in the 13 held-out videos</a:t>
            </a:r>
          </a:p>
        </c:rich>
      </c:tx>
      <c:layout/>
      <c:overlay val="0"/>
    </c:title>
    <c:autoTitleDeleted val="0"/>
    <c:plotArea>
      <c:layout/>
      <c:barChart>
        <c:barDir val="bar"/>
        <c:grouping val="clustered"/>
        <c:varyColors val="0"/>
        <c:ser>
          <c:idx val="0"/>
          <c:order val="0"/>
          <c:tx>
            <c:strRef>
              <c:f>Sheet1!$B$1</c:f>
              <c:strCache>
                <c:ptCount val="1"/>
                <c:pt idx="0">
                  <c:v>Deer</c:v>
                </c:pt>
              </c:strCache>
            </c:strRef>
          </c:tx>
          <c:spPr>
            <a:solidFill>
              <a:srgbClr val="4F6F8F"/>
            </a:solidFill>
            <a:effectLst/>
          </c:spPr>
          <c:invertIfNegative val="0"/>
          <c:dLbls>
            <c:numFmt formatCode="#,##0" sourceLinked="0"/>
            <c:txPr>
              <a:bodyPr/>
              <a:lstStyle/>
              <a:p>
                <a:pPr>
                  <a:defRPr b="0" i="0" strike="noStrike" sz="1300" u="none">
                    <a:solidFill>
                      <a:srgbClr val="1B2129"/>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Annotated</c:v>
                  </c:pt>
                  <c:pt idx="1">
                    <c:v>Reached</c:v>
                  </c:pt>
                  <c:pt idx="2">
                    <c:v>Primary</c:v>
                  </c:pt>
                  <c:pt idx="3">
                    <c:v>Counted</c:v>
                  </c:pt>
                </c:lvl>
              </c:multiLvlStrCache>
            </c:multiLvlStrRef>
          </c:cat>
          <c:val>
            <c:numRef>
              <c:f>Sheet1!$B$2:$B$5</c:f>
              <c:numCache>
                <c:formatCode>General</c:formatCode>
                <c:ptCount val="4"/>
                <c:pt idx="0">
                  <c:v>83</c:v>
                </c:pt>
                <c:pt idx="1">
                  <c:v>74</c:v>
                </c:pt>
                <c:pt idx="2">
                  <c:v>66</c:v>
                </c:pt>
                <c:pt idx="3">
                  <c:v>55</c:v>
                </c:pt>
              </c:numCache>
            </c:numRef>
          </c:val>
        </c:ser>
        <c:dLbls>
          <c:numFmt formatCode="#,##0" sourceLinked="0"/>
          <c:txPr>
            <a:bodyPr/>
            <a:lstStyle/>
            <a:p>
              <a:pPr>
                <a:defRPr b="0" i="0" strike="noStrike" sz="1300" u="none">
                  <a:solidFill>
                    <a:srgbClr val="1B2129"/>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5B6775"/>
                </a:solidFill>
                <a:latin typeface="Calibri"/>
              </a:defRPr>
            </a:pPr>
            <a:endParaRPr lang="en-US"/>
          </a:p>
        </c:txPr>
        <c:crossAx val="2094734552"/>
        <c:crosses val="autoZero"/>
        <c:auto val="1"/>
        <c:lblAlgn val="ctr"/>
        <c:noMultiLvlLbl val="1"/>
      </c:catAx>
      <c:valAx>
        <c:axId val="2094734552"/>
        <c:scaling>
          <c:orientation val="minMax"/>
          <c:max val="90"/>
          <c:min val="0"/>
        </c:scaling>
        <c:delete val="0"/>
        <c:axPos val="b"/>
        <c:majorGridlines>
          <c:spPr>
            <a:ln w="6350" cap="flat">
              <a:solidFill>
                <a:srgbClr val="E3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4"/>
        <c:crosses val="autoZero"/>
        <c:crossBetween val="between"/>
        <c:majorUnit val="3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29"/>
                </a:solidFill>
                <a:latin typeface="Calibri"/>
              </a:defRPr>
            </a:pPr>
            <a:r>
              <a:rPr sz="1400" b="0" i="0" u="none" strike="noStrike">
                <a:solidFill>
                  <a:srgbClr val="1B2129"/>
                </a:solidFill>
                <a:latin typeface="Calibri"/>
              </a:rPr>
              <a:t>Eleven detectors, same data and preprocessing</a:t>
            </a:r>
          </a:p>
        </c:rich>
      </c:tx>
      <c:layout/>
      <c:overlay val="0"/>
    </c:title>
    <c:autoTitleDeleted val="0"/>
    <c:plotArea>
      <c:layout/>
      <c:barChart>
        <c:barDir val="col"/>
        <c:grouping val="clustered"/>
        <c:varyColors val="0"/>
        <c:ser>
          <c:idx val="0"/>
          <c:order val="0"/>
          <c:tx>
            <c:strRef>
              <c:f>Sheet1!$B$1</c:f>
              <c:strCache>
                <c:ptCount val="1"/>
                <c:pt idx="0">
                  <c:v>Detection score per box (AP50)</c:v>
                </c:pt>
              </c:strCache>
            </c:strRef>
          </c:tx>
          <c:spPr>
            <a:solidFill>
              <a:srgbClr val="9DB4C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YOLOv8m</c:v>
                  </c:pt>
                  <c:pt idx="1">
                    <c:v>ATSS R50</c:v>
                  </c:pt>
                  <c:pt idx="2">
                    <c:v>TOOD R50</c:v>
                  </c:pt>
                  <c:pt idx="3">
                    <c:v>YOLO11m</c:v>
                  </c:pt>
                  <c:pt idx="4">
                    <c:v>RT-DETR-L</c:v>
                  </c:pt>
                  <c:pt idx="5">
                    <c:v>YOLO12m</c:v>
                  </c:pt>
                  <c:pt idx="6">
                    <c:v>YOLOv9m</c:v>
                  </c:pt>
                  <c:pt idx="7">
                    <c:v>YOLOv10m</c:v>
                  </c:pt>
                  <c:pt idx="8">
                    <c:v>DINO R50</c:v>
                  </c:pt>
                  <c:pt idx="9">
                    <c:v>Faster R-CNN</c:v>
                  </c:pt>
                  <c:pt idx="10">
                    <c:v>RTMDet-m</c:v>
                  </c:pt>
                </c:lvl>
              </c:multiLvlStrCache>
            </c:multiLvlStrRef>
          </c:cat>
          <c:val>
            <c:numRef>
              <c:f>Sheet1!$B$2:$B$12</c:f>
              <c:numCache>
                <c:formatCode>General</c:formatCode>
                <c:ptCount val="11"/>
                <c:pt idx="0">
                  <c:v>0.459</c:v>
                </c:pt>
                <c:pt idx="1">
                  <c:v>0.38</c:v>
                </c:pt>
                <c:pt idx="2">
                  <c:v>0.396</c:v>
                </c:pt>
                <c:pt idx="3">
                  <c:v>0.46</c:v>
                </c:pt>
                <c:pt idx="4">
                  <c:v>0.434</c:v>
                </c:pt>
                <c:pt idx="5">
                  <c:v>0.508</c:v>
                </c:pt>
                <c:pt idx="6">
                  <c:v>0.506</c:v>
                </c:pt>
                <c:pt idx="7">
                  <c:v>0.51</c:v>
                </c:pt>
                <c:pt idx="8">
                  <c:v>0.365</c:v>
                </c:pt>
                <c:pt idx="9">
                  <c:v>0.418</c:v>
                </c:pt>
                <c:pt idx="10">
                  <c:v>0.466</c:v>
                </c:pt>
              </c:numCache>
            </c:numRef>
          </c:val>
        </c:ser>
        <c:ser>
          <c:idx val="1"/>
          <c:order val="1"/>
          <c:tx>
            <c:strRef>
              <c:f>Sheet1!$C$1</c:f>
              <c:strCache>
                <c:ptCount val="1"/>
                <c:pt idx="0">
                  <c:v>Share of deer found at least once</c:v>
                </c:pt>
              </c:strCache>
            </c:strRef>
          </c:tx>
          <c:spPr>
            <a:solidFill>
              <a:srgbClr val="F2911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YOLOv8m</c:v>
                  </c:pt>
                  <c:pt idx="1">
                    <c:v>ATSS R50</c:v>
                  </c:pt>
                  <c:pt idx="2">
                    <c:v>TOOD R50</c:v>
                  </c:pt>
                  <c:pt idx="3">
                    <c:v>YOLO11m</c:v>
                  </c:pt>
                  <c:pt idx="4">
                    <c:v>RT-DETR-L</c:v>
                  </c:pt>
                  <c:pt idx="5">
                    <c:v>YOLO12m</c:v>
                  </c:pt>
                  <c:pt idx="6">
                    <c:v>YOLOv9m</c:v>
                  </c:pt>
                  <c:pt idx="7">
                    <c:v>YOLOv10m</c:v>
                  </c:pt>
                  <c:pt idx="8">
                    <c:v>DINO R50</c:v>
                  </c:pt>
                  <c:pt idx="9">
                    <c:v>Faster R-CNN</c:v>
                  </c:pt>
                  <c:pt idx="10">
                    <c:v>RTMDet-m</c:v>
                  </c:pt>
                </c:lvl>
              </c:multiLvlStrCache>
            </c:multiLvlStrRef>
          </c:cat>
          <c:val>
            <c:numRef>
              <c:f>Sheet1!$C$2:$C$12</c:f>
              <c:numCache>
                <c:formatCode>General</c:formatCode>
                <c:ptCount val="11"/>
                <c:pt idx="0">
                  <c:v>0.906</c:v>
                </c:pt>
                <c:pt idx="1">
                  <c:v>0.962</c:v>
                </c:pt>
                <c:pt idx="2">
                  <c:v>0.979</c:v>
                </c:pt>
                <c:pt idx="3">
                  <c:v>0.949</c:v>
                </c:pt>
                <c:pt idx="4">
                  <c:v>0.983</c:v>
                </c:pt>
                <c:pt idx="5">
                  <c:v>0.864</c:v>
                </c:pt>
                <c:pt idx="6">
                  <c:v>0.821</c:v>
                </c:pt>
                <c:pt idx="7">
                  <c:v>0.885</c:v>
                </c:pt>
                <c:pt idx="8">
                  <c:v>0.983</c:v>
                </c:pt>
                <c:pt idx="9">
                  <c:v>0.97</c:v>
                </c:pt>
                <c:pt idx="10">
                  <c:v>0.996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000" b="0" i="0" u="none" strike="noStrike">
                <a:solidFill>
                  <a:srgbClr val="5B6775"/>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7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1B2129"/>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29"/>
                </a:solidFill>
                <a:latin typeface="Calibri"/>
              </a:defRPr>
            </a:pPr>
            <a:r>
              <a:rPr sz="1400" b="0" i="0" u="none" strike="noStrike">
                <a:solidFill>
                  <a:srgbClr val="1B2129"/>
                </a:solidFill>
                <a:latin typeface="Calibri"/>
              </a:rPr>
              <a:t>13 held-out videos: annotated vs. counted</a:t>
            </a:r>
          </a:p>
        </c:rich>
      </c:tx>
      <c:layout/>
      <c:overlay val="0"/>
    </c:title>
    <c:autoTitleDeleted val="0"/>
    <c:plotArea>
      <c:layout/>
      <c:barChart>
        <c:barDir val="col"/>
        <c:grouping val="clustered"/>
        <c:varyColors val="0"/>
        <c:ser>
          <c:idx val="0"/>
          <c:order val="0"/>
          <c:tx>
            <c:strRef>
              <c:f>Sheet1!$B$1</c:f>
              <c:strCache>
                <c:ptCount val="1"/>
                <c:pt idx="0">
                  <c:v>Annotated deer</c:v>
                </c:pt>
              </c:strCache>
            </c:strRef>
          </c:tx>
          <c:spPr>
            <a:solidFill>
              <a:srgbClr val="9DB4C8"/>
            </a:solidFill>
            <a:effectLst/>
          </c:spPr>
          <c:invertIfNegative val="0"/>
          <c:dLbls>
            <c:numFmt formatCode="#,##0" sourceLinked="0"/>
            <c:txPr>
              <a:bodyPr/>
              <a:lstStyle/>
              <a:p>
                <a:pPr>
                  <a:defRPr b="0" i="0" strike="noStrike" sz="1000" u="none">
                    <a:solidFill>
                      <a:srgbClr val="1B2129"/>
                    </a:solidFill>
                    <a:latin typeface="Calibri"/>
                  </a:defRPr>
                </a:pPr>
              </a:p>
            </c:txPr>
            <c:showLegendKey val="0"/>
            <c:showVal val="1"/>
            <c:showCatName val="0"/>
            <c:showSerName val="0"/>
            <c:showPercent val="0"/>
            <c:showBubbleSize val="0"/>
            <c:showLeaderLines val="0"/>
          </c:dLbls>
          <c:cat>
            <c:multiLvlStrRef>
              <c:f>Sheet1!$A$2:$A$14</c:f>
              <c:multiLvlStrCache>
                <c:ptCount val="13"/>
                <c:lvl>
                  <c:pt idx="0">
                    <c:v>NShelbyRd</c:v>
                  </c:pt>
                  <c:pt idx="1">
                    <c:v>GolfDr</c:v>
                  </c:pt>
                  <c:pt idx="2">
                    <c:v>NWolfCreek</c:v>
                  </c:pt>
                  <c:pt idx="3">
                    <c:v>GiantCityRd</c:v>
                  </c:pt>
                  <c:pt idx="4">
                    <c:v>Robinson</c:v>
                  </c:pt>
                  <c:pt idx="5">
                    <c:v>Melvin</c:v>
                  </c:pt>
                  <c:pt idx="6">
                    <c:v>AquaCulture</c:v>
                  </c:pt>
                  <c:pt idx="7">
                    <c:v>N25thBlue</c:v>
                  </c:pt>
                  <c:pt idx="8">
                    <c:v>NMarseilles</c:v>
                  </c:pt>
                  <c:pt idx="9">
                    <c:v>OikosRd</c:v>
                  </c:pt>
                  <c:pt idx="10">
                    <c:v>TouchofNature</c:v>
                  </c:pt>
                  <c:pt idx="11">
                    <c:v>ChipsRd</c:v>
                  </c:pt>
                  <c:pt idx="12">
                    <c:v>SIron</c:v>
                  </c:pt>
                </c:lvl>
              </c:multiLvlStrCache>
            </c:multiLvlStrRef>
          </c:cat>
          <c:val>
            <c:numRef>
              <c:f>Sheet1!$B$2:$B$14</c:f>
              <c:numCache>
                <c:formatCode>General</c:formatCode>
                <c:ptCount val="13"/>
                <c:pt idx="0">
                  <c:v>27</c:v>
                </c:pt>
                <c:pt idx="1">
                  <c:v>12</c:v>
                </c:pt>
                <c:pt idx="2">
                  <c:v>9</c:v>
                </c:pt>
                <c:pt idx="3">
                  <c:v>8</c:v>
                </c:pt>
                <c:pt idx="4">
                  <c:v>7</c:v>
                </c:pt>
                <c:pt idx="5">
                  <c:v>5</c:v>
                </c:pt>
                <c:pt idx="6">
                  <c:v>3</c:v>
                </c:pt>
                <c:pt idx="7">
                  <c:v>3</c:v>
                </c:pt>
                <c:pt idx="8">
                  <c:v>3</c:v>
                </c:pt>
                <c:pt idx="9">
                  <c:v>2</c:v>
                </c:pt>
                <c:pt idx="10">
                  <c:v>2</c:v>
                </c:pt>
                <c:pt idx="11">
                  <c:v>1</c:v>
                </c:pt>
                <c:pt idx="12">
                  <c:v>1</c:v>
                </c:pt>
              </c:numCache>
            </c:numRef>
          </c:val>
        </c:ser>
        <c:ser>
          <c:idx val="1"/>
          <c:order val="1"/>
          <c:tx>
            <c:strRef>
              <c:f>Sheet1!$C$1</c:f>
              <c:strCache>
                <c:ptCount val="1"/>
                <c:pt idx="0">
                  <c:v>Counted by the pipeline</c:v>
                </c:pt>
              </c:strCache>
            </c:strRef>
          </c:tx>
          <c:spPr>
            <a:solidFill>
              <a:srgbClr val="F2911B"/>
            </a:solidFill>
            <a:effectLst/>
          </c:spPr>
          <c:invertIfNegative val="0"/>
          <c:dLbls>
            <c:numFmt formatCode="#,##0" sourceLinked="0"/>
            <c:txPr>
              <a:bodyPr/>
              <a:lstStyle/>
              <a:p>
                <a:pPr>
                  <a:defRPr b="0" i="0" strike="noStrike" sz="1000" u="none">
                    <a:solidFill>
                      <a:srgbClr val="1B2129"/>
                    </a:solidFill>
                    <a:latin typeface="Calibri"/>
                  </a:defRPr>
                </a:pPr>
              </a:p>
            </c:txPr>
            <c:showLegendKey val="0"/>
            <c:showVal val="1"/>
            <c:showCatName val="0"/>
            <c:showSerName val="0"/>
            <c:showPercent val="0"/>
            <c:showBubbleSize val="0"/>
            <c:showLeaderLines val="0"/>
          </c:dLbls>
          <c:cat>
            <c:multiLvlStrRef>
              <c:f>Sheet1!$A$2:$A$14</c:f>
              <c:multiLvlStrCache>
                <c:ptCount val="13"/>
                <c:lvl>
                  <c:pt idx="0">
                    <c:v>NShelbyRd</c:v>
                  </c:pt>
                  <c:pt idx="1">
                    <c:v>GolfDr</c:v>
                  </c:pt>
                  <c:pt idx="2">
                    <c:v>NWolfCreek</c:v>
                  </c:pt>
                  <c:pt idx="3">
                    <c:v>GiantCityRd</c:v>
                  </c:pt>
                  <c:pt idx="4">
                    <c:v>Robinson</c:v>
                  </c:pt>
                  <c:pt idx="5">
                    <c:v>Melvin</c:v>
                  </c:pt>
                  <c:pt idx="6">
                    <c:v>AquaCulture</c:v>
                  </c:pt>
                  <c:pt idx="7">
                    <c:v>N25thBlue</c:v>
                  </c:pt>
                  <c:pt idx="8">
                    <c:v>NMarseilles</c:v>
                  </c:pt>
                  <c:pt idx="9">
                    <c:v>OikosRd</c:v>
                  </c:pt>
                  <c:pt idx="10">
                    <c:v>TouchofNature</c:v>
                  </c:pt>
                  <c:pt idx="11">
                    <c:v>ChipsRd</c:v>
                  </c:pt>
                  <c:pt idx="12">
                    <c:v>SIron</c:v>
                  </c:pt>
                </c:lvl>
              </c:multiLvlStrCache>
            </c:multiLvlStrRef>
          </c:cat>
          <c:val>
            <c:numRef>
              <c:f>Sheet1!$C$2:$C$14</c:f>
              <c:numCache>
                <c:formatCode>General</c:formatCode>
                <c:ptCount val="13"/>
                <c:pt idx="0">
                  <c:v>20</c:v>
                </c:pt>
                <c:pt idx="1">
                  <c:v>14</c:v>
                </c:pt>
                <c:pt idx="2">
                  <c:v>5</c:v>
                </c:pt>
                <c:pt idx="3">
                  <c:v>3</c:v>
                </c:pt>
                <c:pt idx="4">
                  <c:v>7</c:v>
                </c:pt>
                <c:pt idx="5">
                  <c:v>1</c:v>
                </c:pt>
                <c:pt idx="6">
                  <c:v>0</c:v>
                </c:pt>
                <c:pt idx="7">
                  <c:v>3</c:v>
                </c:pt>
                <c:pt idx="8">
                  <c:v>1</c:v>
                </c:pt>
                <c:pt idx="9">
                  <c:v>1</c:v>
                </c:pt>
                <c:pt idx="10">
                  <c:v>0</c:v>
                </c:pt>
                <c:pt idx="11">
                  <c:v>1</c:v>
                </c:pt>
                <c:pt idx="12">
                  <c:v>2</c:v>
                </c:pt>
              </c:numCache>
            </c:numRef>
          </c:val>
        </c:ser>
        <c:dLbls>
          <c:numFmt formatCode="#,##0" sourceLinked="0"/>
          <c:txPr>
            <a:bodyPr/>
            <a:lstStyle/>
            <a:p>
              <a:pPr>
                <a:defRPr b="0" i="0" strike="noStrike" sz="1000" u="none">
                  <a:solidFill>
                    <a:srgbClr val="1B2129"/>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000" b="0" i="0" u="none" strike="noStrike">
                <a:solidFill>
                  <a:srgbClr val="5B6775"/>
                </a:solidFill>
                <a:latin typeface="Calibri"/>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1B2129"/>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29"/>
                </a:solidFill>
                <a:latin typeface="Calibri"/>
              </a:defRPr>
            </a:pPr>
            <a:r>
              <a:rPr sz="1400" b="0" i="0" u="none" strike="noStrike">
                <a:solidFill>
                  <a:srgbClr val="1B2129"/>
                </a:solidFill>
                <a:latin typeface="Calibri"/>
              </a:rPr>
              <a:t>Deer (of 83) by number of candidate tracks</a:t>
            </a:r>
          </a:p>
        </c:rich>
      </c:tx>
      <c:layout/>
      <c:overlay val="0"/>
    </c:title>
    <c:autoTitleDeleted val="0"/>
    <c:plotArea>
      <c:layout/>
      <c:barChart>
        <c:barDir val="col"/>
        <c:grouping val="clustered"/>
        <c:varyColors val="0"/>
        <c:ser>
          <c:idx val="0"/>
          <c:order val="0"/>
          <c:tx>
            <c:strRef>
              <c:f>Sheet1!$B$1</c:f>
              <c:strCache>
                <c:ptCount val="1"/>
                <c:pt idx="0">
                  <c:v>Reached</c:v>
                </c:pt>
              </c:strCache>
            </c:strRef>
          </c:tx>
          <c:spPr>
            <a:solidFill>
              <a:srgbClr val="9DB4C8"/>
            </a:solidFill>
            <a:effectLst/>
          </c:spPr>
          <c:invertIfNegative val="0"/>
          <c:dLbls>
            <c:numFmt formatCode="#,##0" sourceLinked="0"/>
            <c:txPr>
              <a:bodyPr/>
              <a:lstStyle/>
              <a:p>
                <a:pPr>
                  <a:defRPr b="0" i="0" strike="noStrike" sz="1000" u="none">
                    <a:solidFill>
                      <a:srgbClr val="1B2129"/>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Baseline (7,008)</c:v>
                  </c:pt>
                  <c:pt idx="1">
                    <c:v>+ easier start (18,349)</c:v>
                  </c:pt>
                  <c:pt idx="2">
                    <c:v>+ appearance (27,679)</c:v>
                  </c:pt>
                  <c:pt idx="3">
                    <c:v>+ more overlap (90,239)</c:v>
                  </c:pt>
                </c:lvl>
              </c:multiLvlStrCache>
            </c:multiLvlStrRef>
          </c:cat>
          <c:val>
            <c:numRef>
              <c:f>Sheet1!$B$2:$B$5</c:f>
              <c:numCache>
                <c:formatCode>General</c:formatCode>
                <c:ptCount val="4"/>
                <c:pt idx="0">
                  <c:v>74</c:v>
                </c:pt>
                <c:pt idx="1">
                  <c:v>79</c:v>
                </c:pt>
                <c:pt idx="2">
                  <c:v>82</c:v>
                </c:pt>
                <c:pt idx="3">
                  <c:v>79</c:v>
                </c:pt>
              </c:numCache>
            </c:numRef>
          </c:val>
        </c:ser>
        <c:ser>
          <c:idx val="1"/>
          <c:order val="1"/>
          <c:tx>
            <c:strRef>
              <c:f>Sheet1!$C$1</c:f>
              <c:strCache>
                <c:ptCount val="1"/>
                <c:pt idx="0">
                  <c:v>Primary</c:v>
                </c:pt>
              </c:strCache>
            </c:strRef>
          </c:tx>
          <c:spPr>
            <a:solidFill>
              <a:srgbClr val="4F6F8F"/>
            </a:solidFill>
            <a:effectLst/>
          </c:spPr>
          <c:invertIfNegative val="0"/>
          <c:dLbls>
            <c:numFmt formatCode="#,##0" sourceLinked="0"/>
            <c:txPr>
              <a:bodyPr/>
              <a:lstStyle/>
              <a:p>
                <a:pPr>
                  <a:defRPr b="0" i="0" strike="noStrike" sz="1000" u="none">
                    <a:solidFill>
                      <a:srgbClr val="1B2129"/>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Baseline (7,008)</c:v>
                  </c:pt>
                  <c:pt idx="1">
                    <c:v>+ easier start (18,349)</c:v>
                  </c:pt>
                  <c:pt idx="2">
                    <c:v>+ appearance (27,679)</c:v>
                  </c:pt>
                  <c:pt idx="3">
                    <c:v>+ more overlap (90,239)</c:v>
                  </c:pt>
                </c:lvl>
              </c:multiLvlStrCache>
            </c:multiLvlStrRef>
          </c:cat>
          <c:val>
            <c:numRef>
              <c:f>Sheet1!$C$2:$C$5</c:f>
              <c:numCache>
                <c:formatCode>General</c:formatCode>
                <c:ptCount val="4"/>
                <c:pt idx="0">
                  <c:v>66</c:v>
                </c:pt>
                <c:pt idx="1">
                  <c:v>69</c:v>
                </c:pt>
                <c:pt idx="2">
                  <c:v>73</c:v>
                </c:pt>
                <c:pt idx="3">
                  <c:v>70</c:v>
                </c:pt>
              </c:numCache>
            </c:numRef>
          </c:val>
        </c:ser>
        <c:ser>
          <c:idx val="2"/>
          <c:order val="2"/>
          <c:tx>
            <c:strRef>
              <c:f>Sheet1!$D$1</c:f>
              <c:strCache>
                <c:ptCount val="1"/>
                <c:pt idx="0">
                  <c:v>Counted</c:v>
                </c:pt>
              </c:strCache>
            </c:strRef>
          </c:tx>
          <c:spPr>
            <a:solidFill>
              <a:srgbClr val="F2911B"/>
            </a:solidFill>
            <a:effectLst/>
          </c:spPr>
          <c:invertIfNegative val="0"/>
          <c:dLbls>
            <c:numFmt formatCode="#,##0" sourceLinked="0"/>
            <c:txPr>
              <a:bodyPr/>
              <a:lstStyle/>
              <a:p>
                <a:pPr>
                  <a:defRPr b="0" i="0" strike="noStrike" sz="1000" u="none">
                    <a:solidFill>
                      <a:srgbClr val="1B2129"/>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Baseline (7,008)</c:v>
                  </c:pt>
                  <c:pt idx="1">
                    <c:v>+ easier start (18,349)</c:v>
                  </c:pt>
                  <c:pt idx="2">
                    <c:v>+ appearance (27,679)</c:v>
                  </c:pt>
                  <c:pt idx="3">
                    <c:v>+ more overlap (90,239)</c:v>
                  </c:pt>
                </c:lvl>
              </c:multiLvlStrCache>
            </c:multiLvlStrRef>
          </c:cat>
          <c:val>
            <c:numRef>
              <c:f>Sheet1!$D$2:$D$5</c:f>
              <c:numCache>
                <c:formatCode>General</c:formatCode>
                <c:ptCount val="4"/>
                <c:pt idx="0">
                  <c:v>55</c:v>
                </c:pt>
                <c:pt idx="1">
                  <c:v>54</c:v>
                </c:pt>
                <c:pt idx="2">
                  <c:v>52</c:v>
                </c:pt>
                <c:pt idx="3">
                  <c:v>41</c:v>
                </c:pt>
              </c:numCache>
            </c:numRef>
          </c:val>
        </c:ser>
        <c:dLbls>
          <c:numFmt formatCode="#,##0" sourceLinked="0"/>
          <c:txPr>
            <a:bodyPr/>
            <a:lstStyle/>
            <a:p>
              <a:pPr>
                <a:defRPr b="0" i="0" strike="noStrike" sz="1000" u="none">
                  <a:solidFill>
                    <a:srgbClr val="1B2129"/>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4"/>
        <c:crosses val="autoZero"/>
        <c:crossBetween val="between"/>
        <c:majorUnit val="30"/>
      </c:valAx>
      <c:spPr>
        <a:noFill/>
        <a:ln>
          <a:noFill/>
        </a:ln>
        <a:effectLst/>
      </c:spPr>
    </c:plotArea>
    <c:legend>
      <c:legendPos val="b"/>
      <c:overlay val="0"/>
      <c:txPr>
        <a:bodyPr/>
        <a:lstStyle/>
        <a:p>
          <a:pPr>
            <a:defRPr sz="1200">
              <a:solidFill>
                <a:srgbClr val="1B2129"/>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29"/>
                </a:solidFill>
                <a:latin typeface="Calibri"/>
              </a:defRPr>
            </a:pPr>
            <a:r>
              <a:rPr sz="1400" b="0" i="0" u="none" strike="noStrike">
                <a:solidFill>
                  <a:srgbClr val="1B2129"/>
                </a:solidFill>
                <a:latin typeface="Calibri"/>
              </a:rPr>
              <a:t>Count vs. confidence threshold</a:t>
            </a:r>
          </a:p>
        </c:rich>
      </c:tx>
      <c:layout/>
      <c:overlay val="0"/>
    </c:title>
    <c:autoTitleDeleted val="0"/>
    <c:plotArea>
      <c:layout/>
      <c:lineChart>
        <c:varyColors val="0"/>
        <c:ser>
          <c:idx val="0"/>
          <c:order val="0"/>
          <c:tx>
            <c:strRef>
              <c:f>Sheet1!$B$1</c:f>
              <c:strCache>
                <c:ptCount val="1"/>
                <c:pt idx="0">
                  <c:v>Count reported</c:v>
                </c:pt>
              </c:strCache>
            </c:strRef>
          </c:tx>
          <c:spPr>
            <a:solidFill>
              <a:srgbClr val="F2911B"/>
            </a:solidFill>
            <a:ln w="31750" cap="flat">
              <a:solidFill>
                <a:srgbClr val="F291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2911B"/>
              </a:solidFill>
              <a:ln w="9525" cap="flat">
                <a:solidFill>
                  <a:srgbClr val="F2911B"/>
                </a:solidFill>
                <a:prstDash val="solid"/>
                <a:round/>
              </a:ln>
              <a:effectLst/>
            </c:spPr>
          </c:marker>
          <c:cat>
            <c:multiLvlStrRef>
              <c:f>Sheet1!$A$2:$A$10</c:f>
              <c:multiLvlStrCache>
                <c:ptCount val="9"/>
                <c:lvl>
                  <c:pt idx="0">
                    <c:v>0.00</c:v>
                  </c:pt>
                  <c:pt idx="1">
                    <c:v>0.15</c:v>
                  </c:pt>
                  <c:pt idx="2">
                    <c:v>0.25</c:v>
                  </c:pt>
                  <c:pt idx="3">
                    <c:v>0.35</c:v>
                  </c:pt>
                  <c:pt idx="4">
                    <c:v>0.45</c:v>
                  </c:pt>
                  <c:pt idx="5">
                    <c:v>0.55</c:v>
                  </c:pt>
                  <c:pt idx="6">
                    <c:v>0.65</c:v>
                  </c:pt>
                  <c:pt idx="7">
                    <c:v>0.75</c:v>
                  </c:pt>
                  <c:pt idx="8">
                    <c:v>0.85</c:v>
                  </c:pt>
                </c:lvl>
              </c:multiLvlStrCache>
            </c:multiLvlStrRef>
          </c:cat>
          <c:val>
            <c:numRef>
              <c:f>Sheet1!$B$2:$B$10</c:f>
              <c:numCache>
                <c:formatCode>General</c:formatCode>
                <c:ptCount val="9"/>
                <c:pt idx="0">
                  <c:v>111</c:v>
                </c:pt>
                <c:pt idx="1">
                  <c:v>111</c:v>
                </c:pt>
                <c:pt idx="2">
                  <c:v>108</c:v>
                </c:pt>
                <c:pt idx="3">
                  <c:v>99</c:v>
                </c:pt>
                <c:pt idx="4">
                  <c:v>81</c:v>
                </c:pt>
                <c:pt idx="5">
                  <c:v>70</c:v>
                </c:pt>
                <c:pt idx="6">
                  <c:v>58</c:v>
                </c:pt>
                <c:pt idx="7">
                  <c:v>24</c:v>
                </c:pt>
                <c:pt idx="8">
                  <c:v>0</c:v>
                </c:pt>
              </c:numCache>
            </c:numRef>
          </c:val>
          <c:smooth val="0"/>
        </c:ser>
        <c:ser>
          <c:idx val="1"/>
          <c:order val="1"/>
          <c:tx>
            <c:strRef>
              <c:f>Sheet1!$C$1</c:f>
              <c:strCache>
                <c:ptCount val="1"/>
                <c:pt idx="0">
                  <c:v>True count (83)</c:v>
                </c:pt>
              </c:strCache>
            </c:strRef>
          </c:tx>
          <c:spPr>
            <a:solidFill>
              <a:srgbClr val="4F6F8F"/>
            </a:solidFill>
            <a:ln w="31750" cap="flat">
              <a:solidFill>
                <a:srgbClr val="4F6F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F6F8F"/>
              </a:solidFill>
              <a:ln w="9525" cap="flat">
                <a:solidFill>
                  <a:srgbClr val="4F6F8F"/>
                </a:solidFill>
                <a:prstDash val="solid"/>
                <a:round/>
              </a:ln>
              <a:effectLst/>
            </c:spPr>
          </c:marker>
          <c:cat>
            <c:multiLvlStrRef>
              <c:f>Sheet1!$A$2:$A$10</c:f>
              <c:multiLvlStrCache>
                <c:ptCount val="9"/>
                <c:lvl>
                  <c:pt idx="0">
                    <c:v>0.00</c:v>
                  </c:pt>
                  <c:pt idx="1">
                    <c:v>0.15</c:v>
                  </c:pt>
                  <c:pt idx="2">
                    <c:v>0.25</c:v>
                  </c:pt>
                  <c:pt idx="3">
                    <c:v>0.35</c:v>
                  </c:pt>
                  <c:pt idx="4">
                    <c:v>0.45</c:v>
                  </c:pt>
                  <c:pt idx="5">
                    <c:v>0.55</c:v>
                  </c:pt>
                  <c:pt idx="6">
                    <c:v>0.65</c:v>
                  </c:pt>
                  <c:pt idx="7">
                    <c:v>0.75</c:v>
                  </c:pt>
                  <c:pt idx="8">
                    <c:v>0.85</c:v>
                  </c:pt>
                </c:lvl>
              </c:multiLvlStrCache>
            </c:multiLvlStrRef>
          </c:cat>
          <c:val>
            <c:numRef>
              <c:f>Sheet1!$C$2:$C$10</c:f>
              <c:numCache>
                <c:formatCode>General</c:formatCode>
                <c:ptCount val="9"/>
                <c:pt idx="0">
                  <c:v>83</c:v>
                </c:pt>
                <c:pt idx="1">
                  <c:v>83</c:v>
                </c:pt>
                <c:pt idx="2">
                  <c:v>83</c:v>
                </c:pt>
                <c:pt idx="3">
                  <c:v>83</c:v>
                </c:pt>
                <c:pt idx="4">
                  <c:v>83</c:v>
                </c:pt>
                <c:pt idx="5">
                  <c:v>83</c:v>
                </c:pt>
                <c:pt idx="6">
                  <c:v>83</c:v>
                </c:pt>
                <c:pt idx="7">
                  <c:v>83</c:v>
                </c:pt>
                <c:pt idx="8">
                  <c:v>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775"/>
                    </a:solidFill>
                    <a:latin typeface="Arial"/>
                  </a:defRPr>
                </a:pPr>
                <a:r>
                  <a:rPr sz="1000" b="0" i="0" u="none" strike="noStrike">
                    <a:solidFill>
                      <a:srgbClr val="5B6775"/>
                    </a:solidFill>
                    <a:latin typeface="Arial"/>
                  </a:rPr>
                  <a:t>confidence threshold of the rule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4"/>
        <c:crosses val="autoZero"/>
        <c:crossBetween val="between"/>
        <c:majorUnit val="40"/>
      </c:valAx>
      <c:spPr>
        <a:noFill/>
        <a:ln>
          <a:noFill/>
        </a:ln>
        <a:effectLst/>
      </c:spPr>
    </c:plotArea>
    <c:legend>
      <c:legendPos val="b"/>
      <c:overlay val="0"/>
      <c:txPr>
        <a:bodyPr/>
        <a:lstStyle/>
        <a:p>
          <a:pPr>
            <a:defRPr sz="1200">
              <a:solidFill>
                <a:srgbClr val="1B2129"/>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29"/>
                </a:solidFill>
                <a:latin typeface="Calibri"/>
              </a:defRPr>
            </a:pPr>
            <a:r>
              <a:rPr sz="1400" b="0" i="0" u="none" strike="noStrike">
                <a:solidFill>
                  <a:srgbClr val="1B2129"/>
                </a:solidFill>
                <a:latin typeface="Calibri"/>
              </a:rPr>
              <a:t>235 deer by box size (number of deer in brackets)</a:t>
            </a:r>
          </a:p>
        </c:rich>
      </c:tx>
      <c:layout/>
      <c:overlay val="0"/>
    </c:title>
    <c:autoTitleDeleted val="0"/>
    <c:plotArea>
      <c:layout/>
      <c:barChart>
        <c:barDir val="col"/>
        <c:grouping val="clustered"/>
        <c:varyColors val="0"/>
        <c:ser>
          <c:idx val="0"/>
          <c:order val="0"/>
          <c:tx>
            <c:strRef>
              <c:f>Sheet1!$B$1</c:f>
              <c:strCache>
                <c:ptCount val="1"/>
                <c:pt idx="0">
                  <c:v>Detected (%)</c:v>
                </c:pt>
              </c:strCache>
            </c:strRef>
          </c:tx>
          <c:spPr>
            <a:solidFill>
              <a:srgbClr val="9DB4C8"/>
            </a:solidFill>
            <a:effectLst/>
          </c:spPr>
          <c:invertIfNegative val="0"/>
          <c:dLbls>
            <c:numFmt formatCode="#,##0" sourceLinked="0"/>
            <c:txPr>
              <a:bodyPr/>
              <a:lstStyle/>
              <a:p>
                <a:pPr>
                  <a:defRPr b="0" i="0" strike="noStrike" sz="1100" u="none">
                    <a:solidFill>
                      <a:srgbClr val="1B2129"/>
                    </a:solidFill>
                    <a:latin typeface="Calibri"/>
                  </a:defRPr>
                </a:pPr>
              </a:p>
            </c:txPr>
            <c:showLegendKey val="0"/>
            <c:showVal val="1"/>
            <c:showCatName val="0"/>
            <c:showSerName val="0"/>
            <c:showPercent val="0"/>
            <c:showBubbleSize val="0"/>
            <c:showLeaderLines val="0"/>
          </c:dLbls>
          <c:cat>
            <c:multiLvlStrRef>
              <c:f>Sheet1!$A$2:$A$7</c:f>
              <c:multiLvlStrCache>
                <c:ptCount val="6"/>
                <c:lvl>
                  <c:pt idx="0">
                    <c:v>under 20 px (37)</c:v>
                  </c:pt>
                  <c:pt idx="1">
                    <c:v>20 to 30 px (91)</c:v>
                  </c:pt>
                  <c:pt idx="2">
                    <c:v>30 to 40 px (52)</c:v>
                  </c:pt>
                  <c:pt idx="3">
                    <c:v>40 to 60 px (39)</c:v>
                  </c:pt>
                  <c:pt idx="4">
                    <c:v>60 to 100 px (10)</c:v>
                  </c:pt>
                  <c:pt idx="5">
                    <c:v>over 100 px (6)</c:v>
                  </c:pt>
                </c:lvl>
              </c:multiLvlStrCache>
            </c:multiLvlStrRef>
          </c:cat>
          <c:val>
            <c:numRef>
              <c:f>Sheet1!$B$2:$B$7</c:f>
              <c:numCache>
                <c:formatCode>General</c:formatCode>
                <c:ptCount val="6"/>
                <c:pt idx="0">
                  <c:v>78</c:v>
                </c:pt>
                <c:pt idx="1">
                  <c:v>96</c:v>
                </c:pt>
                <c:pt idx="2">
                  <c:v>100</c:v>
                </c:pt>
                <c:pt idx="3">
                  <c:v>100</c:v>
                </c:pt>
                <c:pt idx="4">
                  <c:v>100</c:v>
                </c:pt>
                <c:pt idx="5">
                  <c:v>83</c:v>
                </c:pt>
              </c:numCache>
            </c:numRef>
          </c:val>
        </c:ser>
        <c:ser>
          <c:idx val="1"/>
          <c:order val="1"/>
          <c:tx>
            <c:strRef>
              <c:f>Sheet1!$C$1</c:f>
              <c:strCache>
                <c:ptCount val="1"/>
                <c:pt idx="0">
                  <c:v>Counted (%)</c:v>
                </c:pt>
              </c:strCache>
            </c:strRef>
          </c:tx>
          <c:spPr>
            <a:solidFill>
              <a:srgbClr val="F2911B"/>
            </a:solidFill>
            <a:effectLst/>
          </c:spPr>
          <c:invertIfNegative val="0"/>
          <c:dLbls>
            <c:numFmt formatCode="#,##0" sourceLinked="0"/>
            <c:txPr>
              <a:bodyPr/>
              <a:lstStyle/>
              <a:p>
                <a:pPr>
                  <a:defRPr b="0" i="0" strike="noStrike" sz="1100" u="none">
                    <a:solidFill>
                      <a:srgbClr val="1B2129"/>
                    </a:solidFill>
                    <a:latin typeface="Calibri"/>
                  </a:defRPr>
                </a:pPr>
              </a:p>
            </c:txPr>
            <c:showLegendKey val="0"/>
            <c:showVal val="1"/>
            <c:showCatName val="0"/>
            <c:showSerName val="0"/>
            <c:showPercent val="0"/>
            <c:showBubbleSize val="0"/>
            <c:showLeaderLines val="0"/>
          </c:dLbls>
          <c:cat>
            <c:multiLvlStrRef>
              <c:f>Sheet1!$A$2:$A$7</c:f>
              <c:multiLvlStrCache>
                <c:ptCount val="6"/>
                <c:lvl>
                  <c:pt idx="0">
                    <c:v>under 20 px (37)</c:v>
                  </c:pt>
                  <c:pt idx="1">
                    <c:v>20 to 30 px (91)</c:v>
                  </c:pt>
                  <c:pt idx="2">
                    <c:v>30 to 40 px (52)</c:v>
                  </c:pt>
                  <c:pt idx="3">
                    <c:v>40 to 60 px (39)</c:v>
                  </c:pt>
                  <c:pt idx="4">
                    <c:v>60 to 100 px (10)</c:v>
                  </c:pt>
                  <c:pt idx="5">
                    <c:v>over 100 px (6)</c:v>
                  </c:pt>
                </c:lvl>
              </c:multiLvlStrCache>
            </c:multiLvlStrRef>
          </c:cat>
          <c:val>
            <c:numRef>
              <c:f>Sheet1!$C$2:$C$7</c:f>
              <c:numCache>
                <c:formatCode>General</c:formatCode>
                <c:ptCount val="6"/>
                <c:pt idx="0">
                  <c:v>22</c:v>
                </c:pt>
                <c:pt idx="1">
                  <c:v>57</c:v>
                </c:pt>
                <c:pt idx="2">
                  <c:v>81</c:v>
                </c:pt>
                <c:pt idx="3">
                  <c:v>79</c:v>
                </c:pt>
                <c:pt idx="4">
                  <c:v>100</c:v>
                </c:pt>
                <c:pt idx="5">
                  <c:v>50</c:v>
                </c:pt>
              </c:numCache>
            </c:numRef>
          </c:val>
        </c:ser>
        <c:dLbls>
          <c:numFmt formatCode="#,##0" sourceLinked="0"/>
          <c:txPr>
            <a:bodyPr/>
            <a:lstStyle/>
            <a:p>
              <a:pPr>
                <a:defRPr b="0" i="0" strike="noStrike" sz="1100" u="none">
                  <a:solidFill>
                    <a:srgbClr val="1B2129"/>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1B2129"/>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29"/>
                </a:solidFill>
                <a:latin typeface="Calibri"/>
              </a:defRPr>
            </a:pPr>
            <a:r>
              <a:rPr sz="1400" b="0" i="0" u="none" strike="noStrike">
                <a:solidFill>
                  <a:srgbClr val="1B2129"/>
                </a:solidFill>
                <a:latin typeface="Calibri"/>
              </a:rPr>
              <a:t>Site held out from training, % of its deer</a:t>
            </a:r>
          </a:p>
        </c:rich>
      </c:tx>
      <c:layout/>
      <c:overlay val="0"/>
    </c:title>
    <c:autoTitleDeleted val="0"/>
    <c:plotArea>
      <c:layout/>
      <c:radarChart>
        <c:radarStyle val="marker"/>
        <c:varyColors val="0"/>
        <c:ser>
          <c:idx val="0"/>
          <c:order val="0"/>
          <c:tx>
            <c:strRef>
              <c:f>Sheet1!$B$1</c:f>
              <c:strCache>
                <c:ptCount val="1"/>
                <c:pt idx="0">
                  <c:v>Reached</c:v>
                </c:pt>
              </c:strCache>
            </c:strRef>
          </c:tx>
          <c:spPr>
            <a:solidFill>
              <a:srgbClr val="9DB4C8"/>
            </a:solidFill>
            <a:ln w="31750" cap="flat">
              <a:solidFill>
                <a:srgbClr val="9DB4C8"/>
              </a:solidFill>
              <a:prstDash val="solid"/>
              <a:round/>
            </a:ln>
            <a:effectLst/>
          </c:spPr>
          <c:invertIfNegative val="0"/>
          <c:marker>
            <c:symbol val="circle"/>
            <c:size val="6"/>
            <c:spPr>
              <a:solidFill>
                <a:srgbClr val="9DB4C8"/>
              </a:solidFill>
              <a:ln w="9525" cap="flat">
                <a:solidFill>
                  <a:srgbClr val="9DB4C8"/>
                </a:solidFill>
                <a:prstDash val="solid"/>
                <a:round/>
              </a:ln>
              <a:effectLst/>
            </c:spPr>
          </c:marker>
          <c:cat>
            <c:multiLvlStrRef>
              <c:f>Sheet1!$A$2:$A$5</c:f>
              <c:multiLvlStrCache>
                <c:ptCount val="4"/>
                <c:lvl>
                  <c:pt idx="0">
                    <c:v>SHB (132)</c:v>
                  </c:pt>
                  <c:pt idx="1">
                    <c:v>TON (50)</c:v>
                  </c:pt>
                  <c:pt idx="2">
                    <c:v>SHW (38)</c:v>
                  </c:pt>
                  <c:pt idx="3">
                    <c:v>MAS (15)</c:v>
                  </c:pt>
                </c:lvl>
              </c:multiLvlStrCache>
            </c:multiLvlStrRef>
          </c:cat>
          <c:val>
            <c:numRef>
              <c:f>Sheet1!$B$2:$B$5</c:f>
              <c:numCache>
                <c:formatCode>General</c:formatCode>
                <c:ptCount val="4"/>
                <c:pt idx="0">
                  <c:v>90.9</c:v>
                </c:pt>
                <c:pt idx="1">
                  <c:v>92</c:v>
                </c:pt>
                <c:pt idx="2">
                  <c:v>94.7</c:v>
                </c:pt>
                <c:pt idx="3">
                  <c:v>80</c:v>
                </c:pt>
              </c:numCache>
            </c:numRef>
          </c:val>
        </c:ser>
        <c:ser>
          <c:idx val="1"/>
          <c:order val="1"/>
          <c:tx>
            <c:strRef>
              <c:f>Sheet1!$C$1</c:f>
              <c:strCache>
                <c:ptCount val="1"/>
                <c:pt idx="0">
                  <c:v>Primary</c:v>
                </c:pt>
              </c:strCache>
            </c:strRef>
          </c:tx>
          <c:spPr>
            <a:solidFill>
              <a:srgbClr val="4F6F8F"/>
            </a:solidFill>
            <a:ln w="31750" cap="flat">
              <a:solidFill>
                <a:srgbClr val="4F6F8F"/>
              </a:solidFill>
              <a:prstDash val="solid"/>
              <a:round/>
            </a:ln>
            <a:effectLst/>
          </c:spPr>
          <c:invertIfNegative val="0"/>
          <c:marker>
            <c:symbol val="circle"/>
            <c:size val="6"/>
            <c:spPr>
              <a:solidFill>
                <a:srgbClr val="4F6F8F"/>
              </a:solidFill>
              <a:ln w="9525" cap="flat">
                <a:solidFill>
                  <a:srgbClr val="4F6F8F"/>
                </a:solidFill>
                <a:prstDash val="solid"/>
                <a:round/>
              </a:ln>
              <a:effectLst/>
            </c:spPr>
          </c:marker>
          <c:cat>
            <c:multiLvlStrRef>
              <c:f>Sheet1!$A$2:$A$5</c:f>
              <c:multiLvlStrCache>
                <c:ptCount val="4"/>
                <c:lvl>
                  <c:pt idx="0">
                    <c:v>SHB (132)</c:v>
                  </c:pt>
                  <c:pt idx="1">
                    <c:v>TON (50)</c:v>
                  </c:pt>
                  <c:pt idx="2">
                    <c:v>SHW (38)</c:v>
                  </c:pt>
                  <c:pt idx="3">
                    <c:v>MAS (15)</c:v>
                  </c:pt>
                </c:lvl>
              </c:multiLvlStrCache>
            </c:multiLvlStrRef>
          </c:cat>
          <c:val>
            <c:numRef>
              <c:f>Sheet1!$C$2:$C$5</c:f>
              <c:numCache>
                <c:formatCode>General</c:formatCode>
                <c:ptCount val="4"/>
                <c:pt idx="0">
                  <c:v>77.3</c:v>
                </c:pt>
                <c:pt idx="1">
                  <c:v>80</c:v>
                </c:pt>
                <c:pt idx="2">
                  <c:v>78.9</c:v>
                </c:pt>
                <c:pt idx="3">
                  <c:v>80</c:v>
                </c:pt>
              </c:numCache>
            </c:numRef>
          </c:val>
        </c:ser>
        <c:ser>
          <c:idx val="2"/>
          <c:order val="2"/>
          <c:tx>
            <c:strRef>
              <c:f>Sheet1!$D$1</c:f>
              <c:strCache>
                <c:ptCount val="1"/>
                <c:pt idx="0">
                  <c:v>Counted</c:v>
                </c:pt>
              </c:strCache>
            </c:strRef>
          </c:tx>
          <c:spPr>
            <a:solidFill>
              <a:srgbClr val="F2911B"/>
            </a:solidFill>
            <a:ln w="31750" cap="flat">
              <a:solidFill>
                <a:srgbClr val="F2911B"/>
              </a:solidFill>
              <a:prstDash val="solid"/>
              <a:round/>
            </a:ln>
            <a:effectLst/>
          </c:spPr>
          <c:invertIfNegative val="0"/>
          <c:marker>
            <c:symbol val="circle"/>
            <c:size val="6"/>
            <c:spPr>
              <a:solidFill>
                <a:srgbClr val="F2911B"/>
              </a:solidFill>
              <a:ln w="9525" cap="flat">
                <a:solidFill>
                  <a:srgbClr val="F2911B"/>
                </a:solidFill>
                <a:prstDash val="solid"/>
                <a:round/>
              </a:ln>
              <a:effectLst/>
            </c:spPr>
          </c:marker>
          <c:cat>
            <c:multiLvlStrRef>
              <c:f>Sheet1!$A$2:$A$5</c:f>
              <c:multiLvlStrCache>
                <c:ptCount val="4"/>
                <c:lvl>
                  <c:pt idx="0">
                    <c:v>SHB (132)</c:v>
                  </c:pt>
                  <c:pt idx="1">
                    <c:v>TON (50)</c:v>
                  </c:pt>
                  <c:pt idx="2">
                    <c:v>SHW (38)</c:v>
                  </c:pt>
                  <c:pt idx="3">
                    <c:v>MAS (15)</c:v>
                  </c:pt>
                </c:lvl>
              </c:multiLvlStrCache>
            </c:multiLvlStrRef>
          </c:cat>
          <c:val>
            <c:numRef>
              <c:f>Sheet1!$D$2:$D$5</c:f>
              <c:numCache>
                <c:formatCode>General</c:formatCode>
                <c:ptCount val="4"/>
                <c:pt idx="0">
                  <c:v>68.9</c:v>
                </c:pt>
                <c:pt idx="1">
                  <c:v>40</c:v>
                </c:pt>
                <c:pt idx="2">
                  <c:v>28.9</c:v>
                </c:pt>
                <c:pt idx="3">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129"/>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1B2129"/>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29"/>
                </a:solidFill>
                <a:latin typeface="Calibri"/>
              </a:defRPr>
            </a:pPr>
            <a:r>
              <a:rPr sz="1400" b="0" i="0" u="none" strike="noStrike">
                <a:solidFill>
                  <a:srgbClr val="1B2129"/>
                </a:solidFill>
                <a:latin typeface="Calibri"/>
              </a:rPr>
              <a:t>Highest track score at the unseen site (threshold 0.65)</a:t>
            </a:r>
          </a:p>
        </c:rich>
      </c:tx>
      <c:layout/>
      <c:overlay val="0"/>
    </c:title>
    <c:autoTitleDeleted val="0"/>
    <c:plotArea>
      <c:layout/>
      <c:barChart>
        <c:barDir val="col"/>
        <c:grouping val="clustered"/>
        <c:varyColors val="0"/>
        <c:ser>
          <c:idx val="0"/>
          <c:order val="0"/>
          <c:tx>
            <c:strRef>
              <c:f>Sheet1!$B$1</c:f>
              <c:strCache>
                <c:ptCount val="1"/>
                <c:pt idx="0">
                  <c:v>Best track score</c:v>
                </c:pt>
              </c:strCache>
            </c:strRef>
          </c:tx>
          <c:spPr>
            <a:solidFill>
              <a:srgbClr val="4F6F8F"/>
            </a:solidFill>
            <a:effectLst/>
          </c:spPr>
          <c:invertIfNegative val="0"/>
          <c:dLbls>
            <c:numFmt formatCode="0.000" sourceLinked="0"/>
            <c:txPr>
              <a:bodyPr/>
              <a:lstStyle/>
              <a:p>
                <a:pPr>
                  <a:defRPr b="0" i="0" strike="noStrike" sz="1100" u="none">
                    <a:solidFill>
                      <a:srgbClr val="1B2129"/>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SHB</c:v>
                  </c:pt>
                  <c:pt idx="1">
                    <c:v>TON</c:v>
                  </c:pt>
                  <c:pt idx="2">
                    <c:v>SHW</c:v>
                  </c:pt>
                  <c:pt idx="3">
                    <c:v>MAS</c:v>
                  </c:pt>
                </c:lvl>
              </c:multiLvlStrCache>
            </c:multiLvlStrRef>
          </c:cat>
          <c:val>
            <c:numRef>
              <c:f>Sheet1!$B$2:$B$5</c:f>
              <c:numCache>
                <c:formatCode>General</c:formatCode>
                <c:ptCount val="4"/>
                <c:pt idx="0">
                  <c:v>0.862</c:v>
                </c:pt>
                <c:pt idx="1">
                  <c:v>0.782</c:v>
                </c:pt>
                <c:pt idx="2">
                  <c:v>0.752</c:v>
                </c:pt>
                <c:pt idx="3">
                  <c:v>0.585</c:v>
                </c:pt>
              </c:numCache>
            </c:numRef>
          </c:val>
        </c:ser>
        <c:dLbls>
          <c:numFmt formatCode="0.000" sourceLinked="0"/>
          <c:txPr>
            <a:bodyPr/>
            <a:lstStyle/>
            <a:p>
              <a:pPr>
                <a:defRPr b="0" i="0" strike="noStrike" sz="1100" u="none">
                  <a:solidFill>
                    <a:srgbClr val="1B2129"/>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7EB"/>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5"/>
                </a:solidFill>
                <a:latin typeface="Calibri"/>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thank you for having me. I am Taminul, from the School of Computing. Today I will show you how we count white-tailed deer automatically in the thermal videos that were recorded from the vehicle on the road transects. We call the system TRACT. I will go through it step by step, so you can see what the computer does with a video, what comes out, how accurate it is, and where it still fails. I am a computer scientist, not an ecologist, so please stop me at any point if something is unclear or if I say something about deer that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question. In computer vision, a system like this is normally judged as an object detector. That means we ask, frame by frame, whether the computer drew a box in the right place. The usual score is called mean average precision. But a survey does not need boxes. A survey needs the number of different animals on the transect. One deer is visible for many frames, so between a detection and a count there are more decisions. The computer must link the boxes of one animal over time, and it must decide whether a track is a new animal or one that was already counted. So our question was simple: if we make detection better, does the count get better? On the right you can see what the camera gives us. The top row is what the computer receives, and the bottom row is the annotation.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 We have 32 videos from four sites, eight videos per site. The camera is a FLIR thermal camera on the vehicle. Each frame is 640 by 512 pixels, and the camera records 60 frames per second, so in total there are more than half a million frames. Every deer in every frame was annotated by hand in a tool called CVAT. The important point is that each animal is one track: the same identity from the first frame it appears to the last. That gives us 236 individual deer. Because one track is one animal, the number of tracks in a video is the true count for that video. The sites are not equal. SHB has more than half of the animals, and MAS has only 15. The animals are also small. The median deer is about 29 by 24 pixels. We split the data by video, never by frame. 19 videos were used to train the detector, and 13 videos were kept away from it. All results I show are from those 13 videos, which have 83 deer.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system in one picture. I will explain each part on the next four slides, so this slide is only the map. A video goes in on the left. First we improve the contrast of each frame. Second, a detector looks at each frame alone and draws boxes on the deer. Third, a tracker links the boxes of the same animal from frame to frame. The result is a list of candidate tracks. Fourth, a simple rule decides which candidate tracks are accepted. The count is the number of accepted tracks. Only one part is trained with deep learning, and that is the detector. The tracker and the rule have no learned weights. One more point, because Guillaume asked about it. The system is deterministic. We ran it three times on the same videos and every box, every track and every count was exactly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is contrast. On the left is the frame as the camera recorded it. The deer are only a little warmer than the background, so the image is flat and gray. On the right is the same frame after a method called CLAHE. It stretches the contrast in small regions of the image, one region at a time, and it limits how far it stretches so that noise does not explode. Nothing is added to the image. We only make the differences that are already there easier to see. We apply it to every frame, in training and when we count, and for every model we tested. This one step mattered more than the choice of the detection model. Without it, the detection score on the test videos was 0.30. With it, the score was 0.52. For the rest of the talk, all the images are contrast-normalized, because that is what the computer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is detection. The detector is a neural network called YOLO11. It looks at one frame, and it returns boxes. Each box has a confidence between zero and one, which says how sure the network is that the box contains a deer. You can see the confidence on each box here. The network learned this from 12,852 frames taken from the 19 training videos. About 60 percent of those frames have no deer at all. That is on purpose. A survey system must learn not to fire on warm rocks, tree trunks or buildings. Two things are important. First, the detector has no memory. It does not know that the deer in this frame is the same deer as in the last frame. Second, look at the confidences. These are clear deer, but the scores are only between 0.5 and 0.7, because the animals are so small. So we keep every box with confidence above 0.10, and we let the later steps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is tracking. Now we connect the boxes over time. Each colour here is one track, and the number is the identity the tracker gave it. The two pictures are the same scene, 0.3 seconds apart. The whole picture has moved, because the vehicle is driving. But every animal keeps its colour and its number. The thin lines show where each track has been. The tracker is called BoT-SORT. It does three things. It predicts where each animal will be in the next frame from its recent movement. It estimates how the camera moved between two frames and removes that movement. With a vehicle at 25 to 90 kilometres per hour, this is necessary. Then it matches the new boxes to the predicted positions. I want to be clear about one thing. The tracker uses position and movement only. It does not recognise an individual deer by its appearance. We tested appearance, and at this image size it does not carry identity. So this prevents counting the same animal twice inside one transect, and nothing more. We also added a small recovery step for boxes that the tracker left without a track. That recovered 17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is confirmation, and this is the step that decides the count. The tracker gives far more tracks than animals. Over the 32 videos it gives about 7,000 candidate tracks for 236 deer. Most of them are short pieces, false alarms, or second tracks on an animal that already has one. So we need a rule that says yes or no to each track. Our rule has two conditions. The track must have at least 20 detections, which is one third of a second. And the average of its five best confidences must be at least 0.65. We did not choose these numbers by hand. The computer tried 378 combinations on the training videos and kept the one with the smallest counting error. Then we froze it. Look at the example. Four tracks are accepted. The small deer in the middle is rejected. Its track has 23 detections, so it is long enough, but its best confidences average 0.60. This is a real deer. It is in the annotation. So here you already see the main weakness: the rule is careful, and it loses some real animals. Also, two deer on the right stand together, and one box covers both. Six deer are annotated in this frame, and the system counts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results, I need to explain how we measure. The usual way is to report one number, the final count. But then a deer that was never detected and a deer that was detected and rejected look the same. So for every annotated deer we ask three questions, one after another. First, was it reached? That means at least one candidate track touched it in at least one frame. If not, the detector or the tracker lost it. Second, is it primary? That means it has a track of its own, which it does not share with another deer. If not, association lost it. Third, was it counted? That means the rule accepted a track on it. If not, confirmation lost it. The chart shows the 83 deer in the 13 held-out videos. 74 were reached, 66 had their own track, and 55 were counted. So you can read directly how many animals each step loses: 9 at detection, 8 at association, and 11 at confirmation. All numbers are from videos the detector never saw. If we evaluate on all 32 videos, the result looks 15 points better, and that would be misleading.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show you what comes out. These are six frames from four held-out videos. The colour of a box is the track identity, and the label shows the track number and its score. The first two pictures in the top row are the same scene, 0.3 seconds apart. There are five deer, five tracks, and the tracks keep their identity while the camera moves. There are two situations where counting usually fails. The first is overlap. When two deer stand close, their boxes overlap, and a tracker can merge them into one animal. In these examples they stay separate. The second is low contrast. In the bottom row, in the middle, two deer stand against an almost uniform background. Even a person would hesitate there. They are still carried as two tracks. The picture at the bottom left shows how different the sizes can be in one frame: one deer is 87 pixels wide and another is 22. You can also see that the score goes down when the animal is farther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output is evidence. A count alone is hard to trust. So for every deer that the system counts, it also saves a small sheet like this one. Each row is one animal. Each picture is one moment of its track, with the time in the video and the confidence of the detector at that moment. So if the system says there were seven deer on a road, you can open seven sheets and check each animal yourself. Look at animal B. The confidence moves between 0.66 and 0.81, although every picture is a clean detection of the same deer. That is why we give one score per track and not per frame. We also convert the score into a calibrated probability, so that 0.8 really means about 80 percent. 92 percent of the counted animals have a probability of 0.80 or more. And 793 tracks with low probability are not counted automatically. They are marked for a person to review. One honest limit: at the very top of the scale the probability is too optimistic. Tracks that are reported as 1.0 are correct about 85 percent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results. First, detection. We trained eleven different detection models on exactly the same data. The blue bars are the usual detection score. They are between 0.37 and 0.51, which looks poor. But this score is per box, and it is very strict for small animals. For a deer of 27 pixels, a box that is nine pixels off is counted as wrong, even if it is clearly on the deer. The orange bars ask the question a survey asks: was this animal found at least once while it was visible? Every model finds between 82 and 99.6 percent of the deer. The model we use, YOLO11m, finds 95 percent. So the models look different on the blue score and almost the same on the orange one. For counting, the detector is not the weak part. We also did not choose the model with the best blue score. We chose the one with the fewest false alarms, because false alarms are what makes the next steps difficult.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end-to-end result for each of the 13 held-out videos. The blue bar is the true number of deer from the annotation, and the orange bar is what the system counted. Over all 13 videos there are 83 deer and the system reports 58. On average it is wrong by 2.4 deer per video. The errors go in one direction. The system counts too few, and it almost never counts too many. Only two videos are over the truth, GolfDr by two and SIron by one. For management that is the safe direction. The biggest error is NShelbyRd, with 27 deer in large groups. There we lose animals at every step. On three videos the count is exactly right. I also want to show the bad cases. On AquaCulture and TouchofNature the system counts zero. Those deer are very far away, about 20 pixels, and the detector does not see them. So on a transect with only two or three animals, the system can miss all of them, and the average error hides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finding, and it surprised us. The natural idea is: if we lose animals, give the system more candidate tracks, so that fewer animals are missed. We tried that in three ways. We lowered the threshold of the detector and let the tracker start tracks more easily. We allowed more overlapping boxes. And we added appearance to the tracker. On the left, the groups are ordered by the number of candidate tracks, from 7,000 to 90,000. The blue bars go up. More animals are reached, and more animals get their own track. With appearance, 82 of 83 deer are reached. But the orange bars go down: 55, 54, 52 and 41. More candidates, fewer deer counted. The reason is that the new candidates are mostly second sightings of deer that are already counted. They look like real deer, because they are real deer. The right chart shows the same thing with one number. If we lower the confidence threshold, we get missed deer back, but for each deer we get about two duplicates. At 0.65 we count 58. At 0.45 we count 81, very close to the truth of 83, but individual videos are less accurate. At zero we count 111. We also replaced the rule with machine learning models. All of them were worse than the simple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your field, and it is where I would like your advice. We do not know the distance to each deer. But a deer that is far away is small in the image, so the size of the box is a rough measure of distance. The blue bars show how often a deer is detected, and the orange bars show how often it is counted, for each size. The number of deer in each group is under the bars. Detection stays high. Even under 20 pixels, 78 percent of the deer are detected, and above 30 pixels almost all. Counting falls much faster. Between 20 and 30 pixels, where most of our deer are, 57 percent are counted. Under 20 pixels, only 22 percent. So distance costs us animals mainly at the confirmation step, not at detection. Very large deer, above 100 pixels, are also counted less. The detector never saw deer that large in training. I think this curve is close to what you call a detection function in distance sampling. But box size is not only distance. A fawn nearby and an adult far away can have the same size. There is also a limit in our annotation. Under about 20 pixels we have far fewer annotated deer than the geometry predicts. So our ground truth also misses distant animals, like any visual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result is about new sites. We trained the detector on three sites and counted on the fourth site, which it had never seen. We did this four times, once for each site. Each corner of this chart is one site. The gray and blue lines are reached and primary. They stay large for all four sites. So detection and tracking transfer to a new site quite well. The orange line is counted. It is good for SHB, with 69 percent, and then it falls: 40 percent at TON, 29 percent at SHW, and zero at MAS. At MAS the system detected 12 of the 15 deer, and it counted none. The reason is the threshold of 0.65. When the detector has never seen a site, all its confidences are a little lower. At MAS the best track reaches only 0.585, so nothing passes. I have to add a caution. Each site was recorded on one night. So we cannot separate the site from the weather of that night. Temperature and humidity change the thermal contrast. The practical message is this: for a new site or a new night, we need a small number of annotated videos from it, to set the threshold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finish with what we learned and what comes next. First, detection is not the bottleneck. Almost every deer is found. The animals are lost later, when the system decides whether a track is a new animal. Second, giving the system more candidates did not help. It made the count worse. Third, the limit is the amount of data, not the model. We have about 200 real tracks to learn from. We think the next step needs a few thousand. Fourth, the threshold is a choice. For one transect, the careful setting is better. For a total over many transects, a lower threshold of 0.45 gives an almost unbiased total, 81 of 83. On the right are the things where we need your help. We would like to check box size against real distances, so that the size curve can become a detection function for distance sampling. We would like repeated nights at the same site, to separate site from weather. And we need a small annotated sample from every new site. The dataset and the code will be released with the paper, and there is a small software tool: you give it a video, and it returns the video with boxes, tracks and the count.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9DB4C8"/>
                </a:solidFill>
                <a:latin typeface="Calibri" pitchFamily="34" charset="0"/>
                <a:ea typeface="Calibri" pitchFamily="34" charset="-122"/>
                <a:cs typeface="Calibri" pitchFamily="34" charset="-120"/>
              </a:rPr>
              <a:t>1</a:t>
            </a:r>
            <a:endParaRPr lang="en-US" sz="1000" dirty="0"/>
          </a:p>
        </p:txBody>
      </p:sp>
      <p:sp>
        <p:nvSpPr>
          <p:cNvPr id="4" name="Text 1"/>
          <p:cNvSpPr txBox="1"/>
          <p:nvPr/>
        </p:nvSpPr>
        <p:spPr>
          <a:xfrm>
            <a:off x="548640" y="822960"/>
            <a:ext cx="6035040" cy="365760"/>
          </a:xfrm>
          <a:prstGeom prst="rect">
            <a:avLst/>
          </a:prstGeom>
          <a:noFill/>
          <a:ln/>
        </p:spPr>
        <p:txBody>
          <a:bodyPr wrap="square" lIns="0" tIns="0" rIns="0" bIns="0" rtlCol="0" anchor="t"/>
          <a:lstStyle/>
          <a:p>
            <a:pPr indent="0" marL="0">
              <a:buNone/>
            </a:pPr>
            <a:r>
              <a:rPr lang="en-US" sz="1300" b="1" spc="100" kern="0" dirty="0">
                <a:solidFill>
                  <a:srgbClr val="F2911B"/>
                </a:solidFill>
                <a:latin typeface="Calibri" pitchFamily="34" charset="0"/>
                <a:ea typeface="Calibri" pitchFamily="34" charset="-122"/>
                <a:cs typeface="Calibri" pitchFamily="34" charset="-120"/>
              </a:rPr>
              <a:t>TRACT  |  Thermal Road-transect Animal Counting and Tracking</a:t>
            </a:r>
            <a:endParaRPr lang="en-US" sz="1300" dirty="0"/>
          </a:p>
        </p:txBody>
      </p:sp>
      <p:sp>
        <p:nvSpPr>
          <p:cNvPr id="5" name="Text 2"/>
          <p:cNvSpPr txBox="1"/>
          <p:nvPr/>
        </p:nvSpPr>
        <p:spPr>
          <a:xfrm>
            <a:off x="548640" y="1371600"/>
            <a:ext cx="6035040" cy="21031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Counting White-Tailed Deer in Vehicle-Mounted Thermal Video</a:t>
            </a:r>
            <a:endParaRPr lang="en-US" sz="3800" dirty="0"/>
          </a:p>
        </p:txBody>
      </p:sp>
      <p:sp>
        <p:nvSpPr>
          <p:cNvPr id="6" name="Text 3"/>
          <p:cNvSpPr txBox="1"/>
          <p:nvPr/>
        </p:nvSpPr>
        <p:spPr>
          <a:xfrm>
            <a:off x="548640" y="3611880"/>
            <a:ext cx="6035040" cy="457200"/>
          </a:xfrm>
          <a:prstGeom prst="rect">
            <a:avLst/>
          </a:prstGeom>
          <a:noFill/>
          <a:ln/>
        </p:spPr>
        <p:txBody>
          <a:bodyPr wrap="square" lIns="0" tIns="0" rIns="0" bIns="0" rtlCol="0" anchor="t"/>
          <a:lstStyle/>
          <a:p>
            <a:pPr indent="0" marL="0">
              <a:buNone/>
            </a:pPr>
            <a:r>
              <a:rPr lang="en-US" sz="1800" i="1" dirty="0">
                <a:solidFill>
                  <a:srgbClr val="C9D3DD"/>
                </a:solidFill>
                <a:latin typeface="Calibri" pitchFamily="34" charset="0"/>
                <a:ea typeface="Calibri" pitchFamily="34" charset="-122"/>
                <a:cs typeface="Calibri" pitchFamily="34" charset="-120"/>
              </a:rPr>
              <a:t>How the pipeline works, what it produces, and where it loses animals</a:t>
            </a:r>
            <a:endParaRPr lang="en-US" sz="1800" dirty="0"/>
          </a:p>
        </p:txBody>
      </p:sp>
      <p:sp>
        <p:nvSpPr>
          <p:cNvPr id="7" name="Text 4"/>
          <p:cNvSpPr txBox="1"/>
          <p:nvPr/>
        </p:nvSpPr>
        <p:spPr>
          <a:xfrm>
            <a:off x="548640" y="4754880"/>
            <a:ext cx="6309360" cy="1188720"/>
          </a:xfrm>
          <a:prstGeom prst="rect">
            <a:avLst/>
          </a:prstGeom>
          <a:noFill/>
          <a:ln/>
        </p:spPr>
        <p:txBody>
          <a:bodyPr wrap="square" lIns="0" tIns="0" rIns="0" bIns="0" rtlCol="0" anchor="t"/>
          <a:lstStyle/>
          <a:p>
            <a:pPr indent="0" marL="0">
              <a:spcAft>
                <a:spcPts val="600"/>
              </a:spcAft>
              <a:buNone/>
            </a:pPr>
            <a:r>
              <a:rPr lang="en-US" sz="1250" dirty="0">
                <a:solidFill>
                  <a:srgbClr val="FFFFFF"/>
                </a:solidFill>
                <a:latin typeface="Calibri" pitchFamily="34" charset="0"/>
                <a:ea typeface="Calibri" pitchFamily="34" charset="-122"/>
                <a:cs typeface="Calibri" pitchFamily="34" charset="-120"/>
              </a:rPr>
              <a:t>Taminul Islam, Toqi Tahamid Sarker, Seth J. Morelock,</a:t>
            </a:r>
            <a:endParaRPr lang="en-US" sz="1250" dirty="0"/>
          </a:p>
          <a:p>
            <a:pPr indent="0" marL="0">
              <a:spcAft>
                <a:spcPts val="600"/>
              </a:spcAft>
              <a:buNone/>
            </a:pPr>
            <a:r>
              <a:rPr lang="en-US" sz="1250" dirty="0">
                <a:solidFill>
                  <a:srgbClr val="FFFFFF"/>
                </a:solidFill>
                <a:latin typeface="Calibri" pitchFamily="34" charset="0"/>
                <a:ea typeface="Calibri" pitchFamily="34" charset="-122"/>
                <a:cs typeface="Calibri" pitchFamily="34" charset="-120"/>
              </a:rPr>
              <a:t>Guillaume Bastille-Rousseau, Khaled R. Ahmed</a:t>
            </a:r>
            <a:endParaRPr lang="en-US" sz="1250" dirty="0"/>
          </a:p>
          <a:p>
            <a:pPr indent="0" marL="0">
              <a:spcAft>
                <a:spcPts val="600"/>
              </a:spcAft>
              <a:buNone/>
            </a:pPr>
            <a:r>
              <a:rPr lang="en-US" sz="1250" dirty="0">
                <a:solidFill>
                  <a:srgbClr val="9DB4C8"/>
                </a:solidFill>
                <a:latin typeface="Calibri" pitchFamily="34" charset="0"/>
                <a:ea typeface="Calibri" pitchFamily="34" charset="-122"/>
                <a:cs typeface="Calibri" pitchFamily="34" charset="-120"/>
              </a:rPr>
              <a:t>School of Computing and Center for Wildlife Sustainability, Southern Illinois University Carbondale</a:t>
            </a:r>
            <a:endParaRPr lang="en-US" sz="1250" dirty="0"/>
          </a:p>
        </p:txBody>
      </p:sp>
      <p:pic>
        <p:nvPicPr>
          <p:cNvPr id="8" name="Image 0" descr="Thermal frame of a white-tailed deer close to the vehicle with its ground-truth box">    </p:cNvPr>
          <p:cNvPicPr>
            <a:picLocks noChangeAspect="1"/>
          </p:cNvPicPr>
          <p:nvPr/>
        </p:nvPicPr>
        <p:blipFill>
          <a:blip r:embed="rId1"/>
          <a:stretch>
            <a:fillRect/>
          </a:stretch>
        </p:blipFill>
        <p:spPr>
          <a:xfrm>
            <a:off x="7178040" y="1143000"/>
            <a:ext cx="4480560" cy="3584448"/>
          </a:xfrm>
          <a:prstGeom prst="rect">
            <a:avLst/>
          </a:prstGeom>
        </p:spPr>
      </p:pic>
      <p:sp>
        <p:nvSpPr>
          <p:cNvPr id="9" name="Text 5"/>
          <p:cNvSpPr txBox="1"/>
          <p:nvPr/>
        </p:nvSpPr>
        <p:spPr>
          <a:xfrm>
            <a:off x="7178040" y="4818888"/>
            <a:ext cx="4480560" cy="365760"/>
          </a:xfrm>
          <a:prstGeom prst="rect">
            <a:avLst/>
          </a:prstGeom>
          <a:noFill/>
          <a:ln/>
        </p:spPr>
        <p:txBody>
          <a:bodyPr wrap="square" lIns="0" tIns="0" rIns="0" bIns="0" rtlCol="0" anchor="t"/>
          <a:lstStyle/>
          <a:p>
            <a:pPr indent="0" marL="0">
              <a:buNone/>
            </a:pPr>
            <a:r>
              <a:rPr lang="en-US" sz="1100" dirty="0">
                <a:solidFill>
                  <a:srgbClr val="9DB4C8"/>
                </a:solidFill>
                <a:latin typeface="Calibri" pitchFamily="34" charset="0"/>
                <a:ea typeface="Calibri" pitchFamily="34" charset="-122"/>
                <a:cs typeface="Calibri" pitchFamily="34" charset="-120"/>
              </a:rPr>
              <a:t>One annotated frame from the corpus: 640 x 512 px thermal, contrast-normalized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A survey needs animals counted, not boxes placed</a:t>
            </a:r>
            <a:endParaRPr lang="en-US" sz="3000" dirty="0"/>
          </a:p>
        </p:txBody>
      </p:sp>
      <p:sp>
        <p:nvSpPr>
          <p:cNvPr id="3" name="Text 1"/>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5B6775"/>
                </a:solidFill>
                <a:latin typeface="Calibri" pitchFamily="34" charset="0"/>
                <a:ea typeface="Calibri" pitchFamily="34" charset="-122"/>
                <a:cs typeface="Calibri" pitchFamily="34" charset="-120"/>
              </a:rPr>
              <a:t>2</a:t>
            </a:r>
            <a:endParaRPr lang="en-US" sz="1000" dirty="0"/>
          </a:p>
        </p:txBody>
      </p:sp>
      <p:sp>
        <p:nvSpPr>
          <p:cNvPr id="5" name="Shape 2"/>
          <p:cNvSpPr/>
          <p:nvPr/>
        </p:nvSpPr>
        <p:spPr>
          <a:xfrm>
            <a:off x="548640" y="1371600"/>
            <a:ext cx="2606040" cy="2103120"/>
          </a:xfrm>
          <a:prstGeom prst="roundRect">
            <a:avLst>
              <a:gd name="adj" fmla="val 3478"/>
            </a:avLst>
          </a:prstGeom>
          <a:solidFill>
            <a:srgbClr val="EEF1F4"/>
          </a:solidFill>
          <a:ln w="12700">
            <a:solidFill>
              <a:srgbClr val="EEF1F4"/>
            </a:solidFill>
            <a:prstDash val="solid"/>
          </a:ln>
        </p:spPr>
      </p:sp>
      <p:sp>
        <p:nvSpPr>
          <p:cNvPr id="6" name="Text 3"/>
          <p:cNvSpPr txBox="1"/>
          <p:nvPr/>
        </p:nvSpPr>
        <p:spPr>
          <a:xfrm>
            <a:off x="731520" y="1508760"/>
            <a:ext cx="2240280" cy="365760"/>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What a detector score asks</a:t>
            </a:r>
            <a:endParaRPr lang="en-US" sz="1500" dirty="0"/>
          </a:p>
        </p:txBody>
      </p:sp>
      <p:sp>
        <p:nvSpPr>
          <p:cNvPr id="7" name="Text 4"/>
          <p:cNvSpPr txBox="1"/>
          <p:nvPr/>
        </p:nvSpPr>
        <p:spPr>
          <a:xfrm>
            <a:off x="731520" y="1920240"/>
            <a:ext cx="2240280" cy="146304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Is each box in the right place, frame by frame? Scored with mean average precision (mAP).</a:t>
            </a:r>
            <a:endParaRPr lang="en-US" sz="1250" dirty="0"/>
          </a:p>
        </p:txBody>
      </p:sp>
      <p:sp>
        <p:nvSpPr>
          <p:cNvPr id="8" name="Shape 5"/>
          <p:cNvSpPr/>
          <p:nvPr/>
        </p:nvSpPr>
        <p:spPr>
          <a:xfrm>
            <a:off x="3337560" y="1371600"/>
            <a:ext cx="2606040" cy="2103120"/>
          </a:xfrm>
          <a:prstGeom prst="roundRect">
            <a:avLst>
              <a:gd name="adj" fmla="val 3478"/>
            </a:avLst>
          </a:prstGeom>
          <a:solidFill>
            <a:srgbClr val="12161C"/>
          </a:solidFill>
          <a:ln w="12700">
            <a:solidFill>
              <a:srgbClr val="12161C"/>
            </a:solidFill>
            <a:prstDash val="solid"/>
          </a:ln>
        </p:spPr>
      </p:sp>
      <p:sp>
        <p:nvSpPr>
          <p:cNvPr id="9" name="Text 6"/>
          <p:cNvSpPr txBox="1"/>
          <p:nvPr/>
        </p:nvSpPr>
        <p:spPr>
          <a:xfrm>
            <a:off x="3520440" y="1508760"/>
            <a:ext cx="2240280" cy="365760"/>
          </a:xfrm>
          <a:prstGeom prst="rect">
            <a:avLst/>
          </a:prstGeom>
          <a:noFill/>
          <a:ln/>
        </p:spPr>
        <p:txBody>
          <a:bodyPr wrap="square" lIns="0" tIns="0" rIns="0" bIns="0" rtlCol="0" anchor="ctr"/>
          <a:lstStyle/>
          <a:p>
            <a:pPr indent="0" marL="0">
              <a:buNone/>
            </a:pPr>
            <a:r>
              <a:rPr lang="en-US" sz="1500" b="1" dirty="0">
                <a:solidFill>
                  <a:srgbClr val="F2911B"/>
                </a:solidFill>
                <a:latin typeface="Calibri" pitchFamily="34" charset="0"/>
                <a:ea typeface="Calibri" pitchFamily="34" charset="-122"/>
                <a:cs typeface="Calibri" pitchFamily="34" charset="-120"/>
              </a:rPr>
              <a:t>What a survey asks</a:t>
            </a:r>
            <a:endParaRPr lang="en-US" sz="1500" dirty="0"/>
          </a:p>
        </p:txBody>
      </p:sp>
      <p:sp>
        <p:nvSpPr>
          <p:cNvPr id="10" name="Text 7"/>
          <p:cNvSpPr txBox="1"/>
          <p:nvPr/>
        </p:nvSpPr>
        <p:spPr>
          <a:xfrm>
            <a:off x="3520440" y="1920240"/>
            <a:ext cx="2240280" cy="14630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How many different animals were on this transect? Each animal must be counted once.</a:t>
            </a:r>
            <a:endParaRPr lang="en-US" sz="1250" dirty="0"/>
          </a:p>
        </p:txBody>
      </p:sp>
      <p:sp>
        <p:nvSpPr>
          <p:cNvPr id="11" name="Text 8"/>
          <p:cNvSpPr txBox="1"/>
          <p:nvPr/>
        </p:nvSpPr>
        <p:spPr>
          <a:xfrm>
            <a:off x="548640" y="3749040"/>
            <a:ext cx="5394960" cy="1920240"/>
          </a:xfrm>
          <a:prstGeom prst="rect">
            <a:avLst/>
          </a:prstGeom>
          <a:noFill/>
          <a:ln/>
        </p:spPr>
        <p:txBody>
          <a:bodyPr wrap="square" lIns="0" tIns="0" rIns="0" bIns="0" rtlCol="0" anchor="t"/>
          <a:lstStyle/>
          <a:p>
            <a:pPr indent="0" marL="0">
              <a:spcAft>
                <a:spcPts val="800"/>
              </a:spcAft>
              <a:buNone/>
            </a:pPr>
            <a:r>
              <a:rPr lang="en-US" sz="1500" b="1" dirty="0">
                <a:solidFill>
                  <a:srgbClr val="1B2129"/>
                </a:solidFill>
                <a:latin typeface="Calibri" pitchFamily="34" charset="0"/>
                <a:ea typeface="Calibri" pitchFamily="34" charset="-122"/>
                <a:cs typeface="Calibri" pitchFamily="34" charset="-120"/>
              </a:rPr>
              <a:t>Between the two sit three decisions that no detection score measures:</a:t>
            </a:r>
            <a:endParaRPr lang="en-US" sz="1500" dirty="0"/>
          </a:p>
          <a:p>
            <a:pPr marL="342900" indent="-342900">
              <a:spcAft>
                <a:spcPts val="800"/>
              </a:spcAft>
              <a:buSzPct val="100000"/>
              <a:buChar char="•"/>
            </a:pPr>
            <a:r>
              <a:rPr lang="en-US" sz="1500" dirty="0">
                <a:solidFill>
                  <a:srgbClr val="1B2129"/>
                </a:solidFill>
                <a:latin typeface="Calibri" pitchFamily="34" charset="0"/>
                <a:ea typeface="Calibri" pitchFamily="34" charset="-122"/>
                <a:cs typeface="Calibri" pitchFamily="34" charset="-120"/>
              </a:rPr>
              <a:t>linking the boxes of one animal over time</a:t>
            </a:r>
            <a:endParaRPr lang="en-US" sz="1500" dirty="0"/>
          </a:p>
          <a:p>
            <a:pPr marL="342900" indent="-342900">
              <a:spcAft>
                <a:spcPts val="800"/>
              </a:spcAft>
              <a:buSzPct val="100000"/>
              <a:buChar char="•"/>
            </a:pPr>
            <a:r>
              <a:rPr lang="en-US" sz="1500" dirty="0">
                <a:solidFill>
                  <a:srgbClr val="1B2129"/>
                </a:solidFill>
                <a:latin typeface="Calibri" pitchFamily="34" charset="0"/>
                <a:ea typeface="Calibri" pitchFamily="34" charset="-122"/>
                <a:cs typeface="Calibri" pitchFamily="34" charset="-120"/>
              </a:rPr>
              <a:t>deciding which tracks are real animals</a:t>
            </a:r>
            <a:endParaRPr lang="en-US" sz="1500" dirty="0"/>
          </a:p>
          <a:p>
            <a:pPr marL="342900" indent="-342900">
              <a:spcAft>
                <a:spcPts val="800"/>
              </a:spcAft>
              <a:buSzPct val="100000"/>
              <a:buChar char="•"/>
            </a:pPr>
            <a:r>
              <a:rPr lang="en-US" sz="1500" dirty="0">
                <a:solidFill>
                  <a:srgbClr val="1B2129"/>
                </a:solidFill>
                <a:latin typeface="Calibri" pitchFamily="34" charset="0"/>
                <a:ea typeface="Calibri" pitchFamily="34" charset="-122"/>
                <a:cs typeface="Calibri" pitchFamily="34" charset="-120"/>
              </a:rPr>
              <a:t>deciding which tracks repeat an animal already counted</a:t>
            </a:r>
            <a:endParaRPr lang="en-US" sz="1500" dirty="0"/>
          </a:p>
        </p:txBody>
      </p:sp>
      <p:sp>
        <p:nvSpPr>
          <p:cNvPr id="12" name="Text 9"/>
          <p:cNvSpPr txBox="1"/>
          <p:nvPr/>
        </p:nvSpPr>
        <p:spPr>
          <a:xfrm>
            <a:off x="548640" y="5806440"/>
            <a:ext cx="5394960" cy="411480"/>
          </a:xfrm>
          <a:prstGeom prst="rect">
            <a:avLst/>
          </a:prstGeom>
          <a:noFill/>
          <a:ln/>
        </p:spPr>
        <p:txBody>
          <a:bodyPr wrap="square" lIns="0" tIns="0" rIns="0" bIns="0" rtlCol="0" anchor="ctr"/>
          <a:lstStyle/>
          <a:p>
            <a:pPr indent="0" marL="0">
              <a:buNone/>
            </a:pPr>
            <a:r>
              <a:rPr lang="en-US" sz="1600" b="1" dirty="0">
                <a:solidFill>
                  <a:srgbClr val="F2911B"/>
                </a:solidFill>
                <a:latin typeface="Calibri" pitchFamily="34" charset="0"/>
                <a:ea typeface="Calibri" pitchFamily="34" charset="-122"/>
                <a:cs typeface="Calibri" pitchFamily="34" charset="-120"/>
              </a:rPr>
              <a:t>Our question: does better detection give a better count?</a:t>
            </a:r>
            <a:endParaRPr lang="en-US" sz="1600" dirty="0"/>
          </a:p>
        </p:txBody>
      </p:sp>
      <p:pic>
        <p:nvPicPr>
          <p:cNvPr id="13" name="Image 0" descr="Thermal frame as the detector receives it, two deer at different ranges">    </p:cNvPr>
          <p:cNvPicPr>
            <a:picLocks noChangeAspect="1"/>
          </p:cNvPicPr>
          <p:nvPr/>
        </p:nvPicPr>
        <p:blipFill>
          <a:blip r:embed="rId1"/>
          <a:stretch>
            <a:fillRect/>
          </a:stretch>
        </p:blipFill>
        <p:spPr>
          <a:xfrm>
            <a:off x="6400800" y="1371600"/>
            <a:ext cx="2560320" cy="2048256"/>
          </a:xfrm>
          <a:prstGeom prst="rect">
            <a:avLst/>
          </a:prstGeom>
        </p:spPr>
      </p:pic>
      <p:pic>
        <p:nvPicPr>
          <p:cNvPr id="14" name="Image 1" descr="Thermal frame as the detector receives it, a group of deer">    </p:cNvPr>
          <p:cNvPicPr>
            <a:picLocks noChangeAspect="1"/>
          </p:cNvPicPr>
          <p:nvPr/>
        </p:nvPicPr>
        <p:blipFill>
          <a:blip r:embed="rId2"/>
          <a:stretch>
            <a:fillRect/>
          </a:stretch>
        </p:blipFill>
        <p:spPr>
          <a:xfrm>
            <a:off x="9144000" y="1371600"/>
            <a:ext cx="2560320" cy="2048256"/>
          </a:xfrm>
          <a:prstGeom prst="rect">
            <a:avLst/>
          </a:prstGeom>
        </p:spPr>
      </p:pic>
      <p:pic>
        <p:nvPicPr>
          <p:cNvPr id="15" name="Image 2" descr="The same frame with ground-truth boxes on two deer">    </p:cNvPr>
          <p:cNvPicPr>
            <a:picLocks noChangeAspect="1"/>
          </p:cNvPicPr>
          <p:nvPr/>
        </p:nvPicPr>
        <p:blipFill>
          <a:blip r:embed="rId3"/>
          <a:stretch>
            <a:fillRect/>
          </a:stretch>
        </p:blipFill>
        <p:spPr>
          <a:xfrm>
            <a:off x="6400800" y="3886200"/>
            <a:ext cx="2560320" cy="2048256"/>
          </a:xfrm>
          <a:prstGeom prst="rect">
            <a:avLst/>
          </a:prstGeom>
        </p:spPr>
      </p:pic>
      <p:pic>
        <p:nvPicPr>
          <p:cNvPr id="16" name="Image 3" descr="The same frame with ground-truth boxes on the group">    </p:cNvPr>
          <p:cNvPicPr>
            <a:picLocks noChangeAspect="1"/>
          </p:cNvPicPr>
          <p:nvPr/>
        </p:nvPicPr>
        <p:blipFill>
          <a:blip r:embed="rId4"/>
          <a:stretch>
            <a:fillRect/>
          </a:stretch>
        </p:blipFill>
        <p:spPr>
          <a:xfrm>
            <a:off x="9144000" y="3886200"/>
            <a:ext cx="2560320" cy="2048256"/>
          </a:xfrm>
          <a:prstGeom prst="rect">
            <a:avLst/>
          </a:prstGeom>
        </p:spPr>
      </p:pic>
      <p:sp>
        <p:nvSpPr>
          <p:cNvPr id="17" name="Text 10"/>
          <p:cNvSpPr txBox="1"/>
          <p:nvPr/>
        </p:nvSpPr>
        <p:spPr>
          <a:xfrm>
            <a:off x="6400800" y="3456432"/>
            <a:ext cx="5303520" cy="274320"/>
          </a:xfrm>
          <a:prstGeom prst="rect">
            <a:avLst/>
          </a:prstGeom>
          <a:noFill/>
          <a:ln/>
        </p:spPr>
        <p:txBody>
          <a:bodyPr wrap="square" lIns="0" tIns="0" rIns="0" bIns="0" rtlCol="0" anchor="t"/>
          <a:lstStyle/>
          <a:p>
            <a:pPr indent="0" marL="0">
              <a:buNone/>
            </a:pPr>
            <a:r>
              <a:rPr lang="en-US" sz="1100" dirty="0">
                <a:solidFill>
                  <a:srgbClr val="5B6775"/>
                </a:solidFill>
                <a:latin typeface="Calibri" pitchFamily="34" charset="0"/>
                <a:ea typeface="Calibri" pitchFamily="34" charset="-122"/>
                <a:cs typeface="Calibri" pitchFamily="34" charset="-120"/>
              </a:rPr>
              <a:t>What the computer receives</a:t>
            </a:r>
            <a:endParaRPr lang="en-US" sz="1100" dirty="0"/>
          </a:p>
        </p:txBody>
      </p:sp>
      <p:sp>
        <p:nvSpPr>
          <p:cNvPr id="18" name="Text 11"/>
          <p:cNvSpPr txBox="1"/>
          <p:nvPr/>
        </p:nvSpPr>
        <p:spPr>
          <a:xfrm>
            <a:off x="6400800" y="5971032"/>
            <a:ext cx="5303520" cy="274320"/>
          </a:xfrm>
          <a:prstGeom prst="rect">
            <a:avLst/>
          </a:prstGeom>
          <a:noFill/>
          <a:ln/>
        </p:spPr>
        <p:txBody>
          <a:bodyPr wrap="square" lIns="0" tIns="0" rIns="0" bIns="0" rtlCol="0" anchor="t"/>
          <a:lstStyle/>
          <a:p>
            <a:pPr indent="0" marL="0">
              <a:buNone/>
            </a:pPr>
            <a:r>
              <a:rPr lang="en-US" sz="1100" dirty="0">
                <a:solidFill>
                  <a:srgbClr val="5B6775"/>
                </a:solidFill>
                <a:latin typeface="Calibri" pitchFamily="34" charset="0"/>
                <a:ea typeface="Calibri" pitchFamily="34" charset="-122"/>
                <a:cs typeface="Calibri" pitchFamily="34" charset="-120"/>
              </a:rPr>
              <a:t>Annotation: one box per deer, the same identity in every frame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The data: 32 transects, every deer followed by hand</a:t>
            </a:r>
            <a:endParaRPr lang="en-US" sz="3000" dirty="0"/>
          </a:p>
        </p:txBody>
      </p:sp>
      <p:sp>
        <p:nvSpPr>
          <p:cNvPr id="3" name="Text 1"/>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5B6775"/>
                </a:solidFill>
                <a:latin typeface="Calibri" pitchFamily="34" charset="0"/>
                <a:ea typeface="Calibri" pitchFamily="34" charset="-122"/>
                <a:cs typeface="Calibri" pitchFamily="34" charset="-120"/>
              </a:rPr>
              <a:t>3</a:t>
            </a:r>
            <a:endParaRPr lang="en-US" sz="1000" dirty="0"/>
          </a:p>
        </p:txBody>
      </p:sp>
      <p:graphicFrame>
        <p:nvGraphicFramePr>
          <p:cNvPr id="5" name="Chart 0" descr=""/>
          <p:cNvGraphicFramePr/>
          <p:nvPr/>
        </p:nvGraphicFramePr>
        <p:xfrm>
          <a:off x="457200" y="1280160"/>
          <a:ext cx="5120640" cy="36576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943600" y="1371600"/>
            <a:ext cx="2743200" cy="1600200"/>
          </a:xfrm>
          <a:prstGeom prst="roundRect">
            <a:avLst>
              <a:gd name="adj" fmla="val 4571"/>
            </a:avLst>
          </a:prstGeom>
          <a:solidFill>
            <a:srgbClr val="EEF1F4"/>
          </a:solidFill>
          <a:ln w="12700">
            <a:solidFill>
              <a:srgbClr val="EEF1F4"/>
            </a:solidFill>
            <a:prstDash val="solid"/>
          </a:ln>
        </p:spPr>
      </p:sp>
      <p:sp>
        <p:nvSpPr>
          <p:cNvPr id="7" name="Text 3"/>
          <p:cNvSpPr txBox="1"/>
          <p:nvPr/>
        </p:nvSpPr>
        <p:spPr>
          <a:xfrm>
            <a:off x="6126480" y="1463040"/>
            <a:ext cx="2377440" cy="548640"/>
          </a:xfrm>
          <a:prstGeom prst="rect">
            <a:avLst/>
          </a:prstGeom>
          <a:noFill/>
          <a:ln/>
        </p:spPr>
        <p:txBody>
          <a:bodyPr wrap="square" lIns="0" tIns="0" rIns="0" bIns="0" rtlCol="0" anchor="ctr"/>
          <a:lstStyle/>
          <a:p>
            <a:pPr indent="0" marL="0">
              <a:buNone/>
            </a:pPr>
            <a:r>
              <a:rPr lang="en-US" sz="2400" b="1" dirty="0">
                <a:solidFill>
                  <a:srgbClr val="F2911B"/>
                </a:solidFill>
                <a:latin typeface="Cambria" pitchFamily="34" charset="0"/>
                <a:ea typeface="Cambria" pitchFamily="34" charset="-122"/>
                <a:cs typeface="Cambria" pitchFamily="34" charset="-120"/>
              </a:rPr>
              <a:t>32</a:t>
            </a:r>
            <a:endParaRPr lang="en-US" sz="2400" dirty="0"/>
          </a:p>
        </p:txBody>
      </p:sp>
      <p:sp>
        <p:nvSpPr>
          <p:cNvPr id="8" name="Text 4"/>
          <p:cNvSpPr txBox="1"/>
          <p:nvPr/>
        </p:nvSpPr>
        <p:spPr>
          <a:xfrm>
            <a:off x="6126480" y="2029968"/>
            <a:ext cx="2377440" cy="86868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videos, 8 per site, recorded at night from the vehicle</a:t>
            </a:r>
            <a:endParaRPr lang="en-US" sz="1200" dirty="0"/>
          </a:p>
        </p:txBody>
      </p:sp>
      <p:sp>
        <p:nvSpPr>
          <p:cNvPr id="9" name="Shape 5"/>
          <p:cNvSpPr/>
          <p:nvPr/>
        </p:nvSpPr>
        <p:spPr>
          <a:xfrm>
            <a:off x="8869680" y="1371600"/>
            <a:ext cx="2743200" cy="1600200"/>
          </a:xfrm>
          <a:prstGeom prst="roundRect">
            <a:avLst>
              <a:gd name="adj" fmla="val 4571"/>
            </a:avLst>
          </a:prstGeom>
          <a:solidFill>
            <a:srgbClr val="EEF1F4"/>
          </a:solidFill>
          <a:ln w="12700">
            <a:solidFill>
              <a:srgbClr val="EEF1F4"/>
            </a:solidFill>
            <a:prstDash val="solid"/>
          </a:ln>
        </p:spPr>
      </p:sp>
      <p:sp>
        <p:nvSpPr>
          <p:cNvPr id="10" name="Text 6"/>
          <p:cNvSpPr txBox="1"/>
          <p:nvPr/>
        </p:nvSpPr>
        <p:spPr>
          <a:xfrm>
            <a:off x="9052560" y="1463040"/>
            <a:ext cx="2377440" cy="548640"/>
          </a:xfrm>
          <a:prstGeom prst="rect">
            <a:avLst/>
          </a:prstGeom>
          <a:noFill/>
          <a:ln/>
        </p:spPr>
        <p:txBody>
          <a:bodyPr wrap="square" lIns="0" tIns="0" rIns="0" bIns="0" rtlCol="0" anchor="ctr"/>
          <a:lstStyle/>
          <a:p>
            <a:pPr indent="0" marL="0">
              <a:buNone/>
            </a:pPr>
            <a:r>
              <a:rPr lang="en-US" sz="2400" b="1" dirty="0">
                <a:solidFill>
                  <a:srgbClr val="F2911B"/>
                </a:solidFill>
                <a:latin typeface="Cambria" pitchFamily="34" charset="0"/>
                <a:ea typeface="Cambria" pitchFamily="34" charset="-122"/>
                <a:cs typeface="Cambria" pitchFamily="34" charset="-120"/>
              </a:rPr>
              <a:t>521,930</a:t>
            </a:r>
            <a:endParaRPr lang="en-US" sz="2400" dirty="0"/>
          </a:p>
        </p:txBody>
      </p:sp>
      <p:sp>
        <p:nvSpPr>
          <p:cNvPr id="11" name="Text 7"/>
          <p:cNvSpPr txBox="1"/>
          <p:nvPr/>
        </p:nvSpPr>
        <p:spPr>
          <a:xfrm>
            <a:off x="9052560" y="2029968"/>
            <a:ext cx="2377440" cy="86868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frames, 640 x 512 px at 60 frames per second</a:t>
            </a:r>
            <a:endParaRPr lang="en-US" sz="1200" dirty="0"/>
          </a:p>
        </p:txBody>
      </p:sp>
      <p:sp>
        <p:nvSpPr>
          <p:cNvPr id="12" name="Shape 8"/>
          <p:cNvSpPr/>
          <p:nvPr/>
        </p:nvSpPr>
        <p:spPr>
          <a:xfrm>
            <a:off x="5943600" y="3154680"/>
            <a:ext cx="2743200" cy="1600200"/>
          </a:xfrm>
          <a:prstGeom prst="roundRect">
            <a:avLst>
              <a:gd name="adj" fmla="val 4571"/>
            </a:avLst>
          </a:prstGeom>
          <a:solidFill>
            <a:srgbClr val="EEF1F4"/>
          </a:solidFill>
          <a:ln w="12700">
            <a:solidFill>
              <a:srgbClr val="EEF1F4"/>
            </a:solidFill>
            <a:prstDash val="solid"/>
          </a:ln>
        </p:spPr>
      </p:sp>
      <p:sp>
        <p:nvSpPr>
          <p:cNvPr id="13" name="Text 9"/>
          <p:cNvSpPr txBox="1"/>
          <p:nvPr/>
        </p:nvSpPr>
        <p:spPr>
          <a:xfrm>
            <a:off x="6126480" y="3246120"/>
            <a:ext cx="2377440" cy="548640"/>
          </a:xfrm>
          <a:prstGeom prst="rect">
            <a:avLst/>
          </a:prstGeom>
          <a:noFill/>
          <a:ln/>
        </p:spPr>
        <p:txBody>
          <a:bodyPr wrap="square" lIns="0" tIns="0" rIns="0" bIns="0" rtlCol="0" anchor="ctr"/>
          <a:lstStyle/>
          <a:p>
            <a:pPr indent="0" marL="0">
              <a:buNone/>
            </a:pPr>
            <a:r>
              <a:rPr lang="en-US" sz="2400" b="1" dirty="0">
                <a:solidFill>
                  <a:srgbClr val="F2911B"/>
                </a:solidFill>
                <a:latin typeface="Cambria" pitchFamily="34" charset="0"/>
                <a:ea typeface="Cambria" pitchFamily="34" charset="-122"/>
                <a:cs typeface="Cambria" pitchFamily="34" charset="-120"/>
              </a:rPr>
              <a:t>236</a:t>
            </a:r>
            <a:endParaRPr lang="en-US" sz="2400" dirty="0"/>
          </a:p>
        </p:txBody>
      </p:sp>
      <p:sp>
        <p:nvSpPr>
          <p:cNvPr id="14" name="Text 10"/>
          <p:cNvSpPr txBox="1"/>
          <p:nvPr/>
        </p:nvSpPr>
        <p:spPr>
          <a:xfrm>
            <a:off x="6126480" y="3813048"/>
            <a:ext cx="2377440" cy="86868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individual deer, each one a track from first to last frame</a:t>
            </a:r>
            <a:endParaRPr lang="en-US" sz="1200" dirty="0"/>
          </a:p>
        </p:txBody>
      </p:sp>
      <p:sp>
        <p:nvSpPr>
          <p:cNvPr id="15" name="Shape 11"/>
          <p:cNvSpPr/>
          <p:nvPr/>
        </p:nvSpPr>
        <p:spPr>
          <a:xfrm>
            <a:off x="8869680" y="3154680"/>
            <a:ext cx="2743200" cy="1600200"/>
          </a:xfrm>
          <a:prstGeom prst="roundRect">
            <a:avLst>
              <a:gd name="adj" fmla="val 4571"/>
            </a:avLst>
          </a:prstGeom>
          <a:solidFill>
            <a:srgbClr val="EEF1F4"/>
          </a:solidFill>
          <a:ln w="12700">
            <a:solidFill>
              <a:srgbClr val="EEF1F4"/>
            </a:solidFill>
            <a:prstDash val="solid"/>
          </a:ln>
        </p:spPr>
      </p:sp>
      <p:sp>
        <p:nvSpPr>
          <p:cNvPr id="16" name="Text 12"/>
          <p:cNvSpPr txBox="1"/>
          <p:nvPr/>
        </p:nvSpPr>
        <p:spPr>
          <a:xfrm>
            <a:off x="9052560" y="3246120"/>
            <a:ext cx="2377440" cy="548640"/>
          </a:xfrm>
          <a:prstGeom prst="rect">
            <a:avLst/>
          </a:prstGeom>
          <a:noFill/>
          <a:ln/>
        </p:spPr>
        <p:txBody>
          <a:bodyPr wrap="square" lIns="0" tIns="0" rIns="0" bIns="0" rtlCol="0" anchor="ctr"/>
          <a:lstStyle/>
          <a:p>
            <a:pPr indent="0" marL="0">
              <a:buNone/>
            </a:pPr>
            <a:r>
              <a:rPr lang="en-US" sz="2400" b="1" dirty="0">
                <a:solidFill>
                  <a:srgbClr val="F2911B"/>
                </a:solidFill>
                <a:latin typeface="Cambria" pitchFamily="34" charset="0"/>
                <a:ea typeface="Cambria" pitchFamily="34" charset="-122"/>
                <a:cs typeface="Cambria" pitchFamily="34" charset="-120"/>
              </a:rPr>
              <a:t>29 x 24 px</a:t>
            </a:r>
            <a:endParaRPr lang="en-US" sz="2400" dirty="0"/>
          </a:p>
        </p:txBody>
      </p:sp>
      <p:sp>
        <p:nvSpPr>
          <p:cNvPr id="17" name="Text 13"/>
          <p:cNvSpPr txBox="1"/>
          <p:nvPr/>
        </p:nvSpPr>
        <p:spPr>
          <a:xfrm>
            <a:off x="9052560" y="3813048"/>
            <a:ext cx="2377440" cy="86868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median size of a deer in the image</a:t>
            </a:r>
            <a:endParaRPr lang="en-US" sz="1200" dirty="0"/>
          </a:p>
        </p:txBody>
      </p:sp>
      <p:sp>
        <p:nvSpPr>
          <p:cNvPr id="18" name="Shape 14"/>
          <p:cNvSpPr/>
          <p:nvPr/>
        </p:nvSpPr>
        <p:spPr>
          <a:xfrm>
            <a:off x="548640" y="5166360"/>
            <a:ext cx="3566160" cy="1143000"/>
          </a:xfrm>
          <a:prstGeom prst="roundRect">
            <a:avLst>
              <a:gd name="adj" fmla="val 6400"/>
            </a:avLst>
          </a:prstGeom>
          <a:solidFill>
            <a:srgbClr val="EEF1F4"/>
          </a:solidFill>
          <a:ln w="12700">
            <a:solidFill>
              <a:srgbClr val="EEF1F4"/>
            </a:solidFill>
            <a:prstDash val="solid"/>
          </a:ln>
        </p:spPr>
      </p:sp>
      <p:sp>
        <p:nvSpPr>
          <p:cNvPr id="19" name="Text 15"/>
          <p:cNvSpPr txBox="1"/>
          <p:nvPr/>
        </p:nvSpPr>
        <p:spPr>
          <a:xfrm>
            <a:off x="731520" y="5230368"/>
            <a:ext cx="1463040" cy="365760"/>
          </a:xfrm>
          <a:prstGeom prst="rect">
            <a:avLst/>
          </a:prstGeom>
          <a:noFill/>
          <a:ln/>
        </p:spPr>
        <p:txBody>
          <a:bodyPr wrap="square" lIns="0" tIns="0" rIns="0" bIns="0" rtlCol="0" anchor="ctr"/>
          <a:lstStyle/>
          <a:p>
            <a:pPr indent="0" marL="0">
              <a:buNone/>
            </a:pPr>
            <a:r>
              <a:rPr lang="en-US" sz="1400" b="1" dirty="0">
                <a:solidFill>
                  <a:srgbClr val="1B2129"/>
                </a:solidFill>
                <a:latin typeface="Calibri" pitchFamily="34" charset="0"/>
                <a:ea typeface="Calibri" pitchFamily="34" charset="-122"/>
                <a:cs typeface="Calibri" pitchFamily="34" charset="-120"/>
              </a:rPr>
              <a:t>Training</a:t>
            </a:r>
            <a:endParaRPr lang="en-US" sz="1400" dirty="0"/>
          </a:p>
        </p:txBody>
      </p:sp>
      <p:sp>
        <p:nvSpPr>
          <p:cNvPr id="20" name="Text 16"/>
          <p:cNvSpPr txBox="1"/>
          <p:nvPr/>
        </p:nvSpPr>
        <p:spPr>
          <a:xfrm>
            <a:off x="2194560" y="5230368"/>
            <a:ext cx="1783080" cy="365760"/>
          </a:xfrm>
          <a:prstGeom prst="rect">
            <a:avLst/>
          </a:prstGeom>
          <a:noFill/>
          <a:ln/>
        </p:spPr>
        <p:txBody>
          <a:bodyPr wrap="square" lIns="0" tIns="0" rIns="0" bIns="0" rtlCol="0" anchor="ctr"/>
          <a:lstStyle/>
          <a:p>
            <a:pPr algn="r" indent="0" marL="0">
              <a:buNone/>
            </a:pPr>
            <a:r>
              <a:rPr lang="en-US" sz="1250" b="1" dirty="0">
                <a:solidFill>
                  <a:srgbClr val="1B2129"/>
                </a:solidFill>
                <a:latin typeface="Calibri" pitchFamily="34" charset="0"/>
                <a:ea typeface="Calibri" pitchFamily="34" charset="-122"/>
                <a:cs typeface="Calibri" pitchFamily="34" charset="-120"/>
              </a:rPr>
              <a:t>19 videos, 153 deer</a:t>
            </a:r>
            <a:endParaRPr lang="en-US" sz="1250" dirty="0"/>
          </a:p>
        </p:txBody>
      </p:sp>
      <p:sp>
        <p:nvSpPr>
          <p:cNvPr id="21" name="Text 17"/>
          <p:cNvSpPr txBox="1"/>
          <p:nvPr/>
        </p:nvSpPr>
        <p:spPr>
          <a:xfrm>
            <a:off x="731520" y="5650992"/>
            <a:ext cx="3200400" cy="54864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The detector learns from these.</a:t>
            </a:r>
            <a:endParaRPr lang="en-US" sz="1200" dirty="0"/>
          </a:p>
        </p:txBody>
      </p:sp>
      <p:sp>
        <p:nvSpPr>
          <p:cNvPr id="22" name="Shape 18"/>
          <p:cNvSpPr/>
          <p:nvPr/>
        </p:nvSpPr>
        <p:spPr>
          <a:xfrm>
            <a:off x="4297680" y="5166360"/>
            <a:ext cx="3566160" cy="1143000"/>
          </a:xfrm>
          <a:prstGeom prst="roundRect">
            <a:avLst>
              <a:gd name="adj" fmla="val 6400"/>
            </a:avLst>
          </a:prstGeom>
          <a:solidFill>
            <a:srgbClr val="12161C"/>
          </a:solidFill>
          <a:ln w="12700">
            <a:solidFill>
              <a:srgbClr val="12161C"/>
            </a:solidFill>
            <a:prstDash val="solid"/>
          </a:ln>
        </p:spPr>
      </p:sp>
      <p:sp>
        <p:nvSpPr>
          <p:cNvPr id="23" name="Text 19"/>
          <p:cNvSpPr txBox="1"/>
          <p:nvPr/>
        </p:nvSpPr>
        <p:spPr>
          <a:xfrm>
            <a:off x="4480560" y="5230368"/>
            <a:ext cx="1463040" cy="365760"/>
          </a:xfrm>
          <a:prstGeom prst="rect">
            <a:avLst/>
          </a:prstGeom>
          <a:noFill/>
          <a:ln/>
        </p:spPr>
        <p:txBody>
          <a:bodyPr wrap="square" lIns="0" tIns="0" rIns="0" bIns="0" rtlCol="0" anchor="ctr"/>
          <a:lstStyle/>
          <a:p>
            <a:pPr indent="0" marL="0">
              <a:buNone/>
            </a:pPr>
            <a:r>
              <a:rPr lang="en-US" sz="1400" b="1" dirty="0">
                <a:solidFill>
                  <a:srgbClr val="F2911B"/>
                </a:solidFill>
                <a:latin typeface="Calibri" pitchFamily="34" charset="0"/>
                <a:ea typeface="Calibri" pitchFamily="34" charset="-122"/>
                <a:cs typeface="Calibri" pitchFamily="34" charset="-120"/>
              </a:rPr>
              <a:t>Validation</a:t>
            </a:r>
            <a:endParaRPr lang="en-US" sz="1400" dirty="0"/>
          </a:p>
        </p:txBody>
      </p:sp>
      <p:sp>
        <p:nvSpPr>
          <p:cNvPr id="24" name="Text 20"/>
          <p:cNvSpPr txBox="1"/>
          <p:nvPr/>
        </p:nvSpPr>
        <p:spPr>
          <a:xfrm>
            <a:off x="5943600" y="5230368"/>
            <a:ext cx="1783080" cy="365760"/>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4 videos, 45 deer</a:t>
            </a:r>
            <a:endParaRPr lang="en-US" sz="1250" dirty="0"/>
          </a:p>
        </p:txBody>
      </p:sp>
      <p:sp>
        <p:nvSpPr>
          <p:cNvPr id="25" name="Text 21"/>
          <p:cNvSpPr txBox="1"/>
          <p:nvPr/>
        </p:nvSpPr>
        <p:spPr>
          <a:xfrm>
            <a:off x="4480560" y="5650992"/>
            <a:ext cx="3200400" cy="548640"/>
          </a:xfrm>
          <a:prstGeom prst="rect">
            <a:avLst/>
          </a:prstGeom>
          <a:noFill/>
          <a:ln/>
        </p:spPr>
        <p:txBody>
          <a:bodyPr wrap="square" lIns="0" tIns="0" rIns="0" bIns="0" rtlCol="0" anchor="t"/>
          <a:lstStyle/>
          <a:p>
            <a:pPr indent="0" marL="0">
              <a:buNone/>
            </a:pPr>
            <a:r>
              <a:rPr lang="en-US" sz="1200" dirty="0">
                <a:solidFill>
                  <a:srgbClr val="C9D3DD"/>
                </a:solidFill>
                <a:latin typeface="Calibri" pitchFamily="34" charset="0"/>
                <a:ea typeface="Calibri" pitchFamily="34" charset="-122"/>
                <a:cs typeface="Calibri" pitchFamily="34" charset="-120"/>
              </a:rPr>
              <a:t>Used only to pick the best detector checkpoint.</a:t>
            </a:r>
            <a:endParaRPr lang="en-US" sz="1200" dirty="0"/>
          </a:p>
        </p:txBody>
      </p:sp>
      <p:sp>
        <p:nvSpPr>
          <p:cNvPr id="26" name="Shape 22"/>
          <p:cNvSpPr/>
          <p:nvPr/>
        </p:nvSpPr>
        <p:spPr>
          <a:xfrm>
            <a:off x="8046720" y="5166360"/>
            <a:ext cx="3566160" cy="1143000"/>
          </a:xfrm>
          <a:prstGeom prst="roundRect">
            <a:avLst>
              <a:gd name="adj" fmla="val 6400"/>
            </a:avLst>
          </a:prstGeom>
          <a:solidFill>
            <a:srgbClr val="12161C"/>
          </a:solidFill>
          <a:ln w="12700">
            <a:solidFill>
              <a:srgbClr val="12161C"/>
            </a:solidFill>
            <a:prstDash val="solid"/>
          </a:ln>
        </p:spPr>
      </p:sp>
      <p:sp>
        <p:nvSpPr>
          <p:cNvPr id="27" name="Text 23"/>
          <p:cNvSpPr txBox="1"/>
          <p:nvPr/>
        </p:nvSpPr>
        <p:spPr>
          <a:xfrm>
            <a:off x="8229600" y="5230368"/>
            <a:ext cx="1463040" cy="365760"/>
          </a:xfrm>
          <a:prstGeom prst="rect">
            <a:avLst/>
          </a:prstGeom>
          <a:noFill/>
          <a:ln/>
        </p:spPr>
        <p:txBody>
          <a:bodyPr wrap="square" lIns="0" tIns="0" rIns="0" bIns="0" rtlCol="0" anchor="ctr"/>
          <a:lstStyle/>
          <a:p>
            <a:pPr indent="0" marL="0">
              <a:buNone/>
            </a:pPr>
            <a:r>
              <a:rPr lang="en-US" sz="1400" b="1" dirty="0">
                <a:solidFill>
                  <a:srgbClr val="F2911B"/>
                </a:solidFill>
                <a:latin typeface="Calibri" pitchFamily="34" charset="0"/>
                <a:ea typeface="Calibri" pitchFamily="34" charset="-122"/>
                <a:cs typeface="Calibri" pitchFamily="34" charset="-120"/>
              </a:rPr>
              <a:t>Test</a:t>
            </a:r>
            <a:endParaRPr lang="en-US" sz="1400" dirty="0"/>
          </a:p>
        </p:txBody>
      </p:sp>
      <p:sp>
        <p:nvSpPr>
          <p:cNvPr id="28" name="Text 24"/>
          <p:cNvSpPr txBox="1"/>
          <p:nvPr/>
        </p:nvSpPr>
        <p:spPr>
          <a:xfrm>
            <a:off x="9692640" y="5230368"/>
            <a:ext cx="1783080" cy="365760"/>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9 videos, 38 deer</a:t>
            </a:r>
            <a:endParaRPr lang="en-US" sz="1250" dirty="0"/>
          </a:p>
        </p:txBody>
      </p:sp>
      <p:sp>
        <p:nvSpPr>
          <p:cNvPr id="29" name="Text 25"/>
          <p:cNvSpPr txBox="1"/>
          <p:nvPr/>
        </p:nvSpPr>
        <p:spPr>
          <a:xfrm>
            <a:off x="8229600" y="5650992"/>
            <a:ext cx="3200400" cy="548640"/>
          </a:xfrm>
          <a:prstGeom prst="rect">
            <a:avLst/>
          </a:prstGeom>
          <a:noFill/>
          <a:ln/>
        </p:spPr>
        <p:txBody>
          <a:bodyPr wrap="square" lIns="0" tIns="0" rIns="0" bIns="0" rtlCol="0" anchor="t"/>
          <a:lstStyle/>
          <a:p>
            <a:pPr indent="0" marL="0">
              <a:buNone/>
            </a:pPr>
            <a:r>
              <a:rPr lang="en-US" sz="1200" dirty="0">
                <a:solidFill>
                  <a:srgbClr val="C9D3DD"/>
                </a:solidFill>
                <a:latin typeface="Calibri" pitchFamily="34" charset="0"/>
                <a:ea typeface="Calibri" pitchFamily="34" charset="-122"/>
                <a:cs typeface="Calibri" pitchFamily="34" charset="-120"/>
              </a:rPr>
              <a:t>Never seen during training.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The pipeline in one picture</a:t>
            </a:r>
            <a:endParaRPr lang="en-US" sz="3000" dirty="0"/>
          </a:p>
        </p:txBody>
      </p:sp>
      <p:sp>
        <p:nvSpPr>
          <p:cNvPr id="3" name="Text 1"/>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5B6775"/>
                </a:solidFill>
                <a:latin typeface="Calibri" pitchFamily="34" charset="0"/>
                <a:ea typeface="Calibri" pitchFamily="34" charset="-122"/>
                <a:cs typeface="Calibri" pitchFamily="34" charset="-120"/>
              </a:rPr>
              <a:t>4</a:t>
            </a:r>
            <a:endParaRPr lang="en-US" sz="1000" dirty="0"/>
          </a:p>
        </p:txBody>
      </p:sp>
      <p:pic>
        <p:nvPicPr>
          <p:cNvPr id="5" name="Image 0" descr="Pipeline diagram: contrast normalization, YOLO11m detection, BoT-SORT tracking with motion compensation, confirmation rule, count">    </p:cNvPr>
          <p:cNvPicPr>
            <a:picLocks noChangeAspect="1"/>
          </p:cNvPicPr>
          <p:nvPr/>
        </p:nvPicPr>
        <p:blipFill>
          <a:blip r:embed="rId1"/>
          <a:stretch>
            <a:fillRect/>
          </a:stretch>
        </p:blipFill>
        <p:spPr>
          <a:xfrm>
            <a:off x="548640" y="1280160"/>
            <a:ext cx="11064240" cy="2521001"/>
          </a:xfrm>
          <a:prstGeom prst="rect">
            <a:avLst/>
          </a:prstGeom>
        </p:spPr>
      </p:pic>
      <p:sp>
        <p:nvSpPr>
          <p:cNvPr id="6" name="Shape 2"/>
          <p:cNvSpPr/>
          <p:nvPr/>
        </p:nvSpPr>
        <p:spPr>
          <a:xfrm>
            <a:off x="548640" y="4114800"/>
            <a:ext cx="2651760" cy="1417320"/>
          </a:xfrm>
          <a:prstGeom prst="roundRect">
            <a:avLst>
              <a:gd name="adj" fmla="val 5161"/>
            </a:avLst>
          </a:prstGeom>
          <a:solidFill>
            <a:srgbClr val="EEF1F4"/>
          </a:solidFill>
          <a:ln w="12700">
            <a:solidFill>
              <a:srgbClr val="EEF1F4"/>
            </a:solidFill>
            <a:prstDash val="solid"/>
          </a:ln>
        </p:spPr>
      </p:sp>
      <p:sp>
        <p:nvSpPr>
          <p:cNvPr id="7" name="Shape 3"/>
          <p:cNvSpPr/>
          <p:nvPr/>
        </p:nvSpPr>
        <p:spPr>
          <a:xfrm>
            <a:off x="731520" y="4251960"/>
            <a:ext cx="420624" cy="420624"/>
          </a:xfrm>
          <a:prstGeom prst="ellipse">
            <a:avLst/>
          </a:prstGeom>
          <a:solidFill>
            <a:srgbClr val="F2911B"/>
          </a:solidFill>
          <a:ln w="12700">
            <a:solidFill>
              <a:srgbClr val="F2911B"/>
            </a:solidFill>
            <a:prstDash val="solid"/>
          </a:ln>
        </p:spPr>
      </p:sp>
      <p:sp>
        <p:nvSpPr>
          <p:cNvPr id="8" name="Text 4"/>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1</a:t>
            </a:r>
            <a:endParaRPr lang="en-US" sz="1400" dirty="0"/>
          </a:p>
        </p:txBody>
      </p:sp>
      <p:sp>
        <p:nvSpPr>
          <p:cNvPr id="9" name="Text 5"/>
          <p:cNvSpPr txBox="1"/>
          <p:nvPr/>
        </p:nvSpPr>
        <p:spPr>
          <a:xfrm>
            <a:off x="1280160" y="4251960"/>
            <a:ext cx="1783080" cy="420624"/>
          </a:xfrm>
          <a:prstGeom prst="rect">
            <a:avLst/>
          </a:prstGeom>
          <a:noFill/>
          <a:ln/>
        </p:spPr>
        <p:txBody>
          <a:bodyPr wrap="square" lIns="0" tIns="0" rIns="0" bIns="0" rtlCol="0" anchor="ctr"/>
          <a:lstStyle/>
          <a:p>
            <a:pPr indent="0" marL="0">
              <a:buNone/>
            </a:pPr>
            <a:r>
              <a:rPr lang="en-US" sz="1600" b="1" dirty="0">
                <a:solidFill>
                  <a:srgbClr val="1B2129"/>
                </a:solidFill>
                <a:latin typeface="Calibri" pitchFamily="34" charset="0"/>
                <a:ea typeface="Calibri" pitchFamily="34" charset="-122"/>
                <a:cs typeface="Calibri" pitchFamily="34" charset="-120"/>
              </a:rPr>
              <a:t>Contrast</a:t>
            </a:r>
            <a:endParaRPr lang="en-US" sz="1600" dirty="0"/>
          </a:p>
        </p:txBody>
      </p:sp>
      <p:sp>
        <p:nvSpPr>
          <p:cNvPr id="10" name="Text 6"/>
          <p:cNvSpPr txBox="1"/>
          <p:nvPr/>
        </p:nvSpPr>
        <p:spPr>
          <a:xfrm>
            <a:off x="731520" y="4773168"/>
            <a:ext cx="2286000" cy="68580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Make faint animals visible (CLAHE).</a:t>
            </a:r>
            <a:endParaRPr lang="en-US" sz="1250" dirty="0"/>
          </a:p>
        </p:txBody>
      </p:sp>
      <p:sp>
        <p:nvSpPr>
          <p:cNvPr id="11" name="Shape 7"/>
          <p:cNvSpPr/>
          <p:nvPr/>
        </p:nvSpPr>
        <p:spPr>
          <a:xfrm>
            <a:off x="3383280" y="4114800"/>
            <a:ext cx="2651760" cy="1417320"/>
          </a:xfrm>
          <a:prstGeom prst="roundRect">
            <a:avLst>
              <a:gd name="adj" fmla="val 5161"/>
            </a:avLst>
          </a:prstGeom>
          <a:solidFill>
            <a:srgbClr val="EEF1F4"/>
          </a:solidFill>
          <a:ln w="12700">
            <a:solidFill>
              <a:srgbClr val="EEF1F4"/>
            </a:solidFill>
            <a:prstDash val="solid"/>
          </a:ln>
        </p:spPr>
      </p:sp>
      <p:sp>
        <p:nvSpPr>
          <p:cNvPr id="12" name="Shape 8"/>
          <p:cNvSpPr/>
          <p:nvPr/>
        </p:nvSpPr>
        <p:spPr>
          <a:xfrm>
            <a:off x="3566160" y="4251960"/>
            <a:ext cx="420624" cy="420624"/>
          </a:xfrm>
          <a:prstGeom prst="ellipse">
            <a:avLst/>
          </a:prstGeom>
          <a:solidFill>
            <a:srgbClr val="F2911B"/>
          </a:solidFill>
          <a:ln w="12700">
            <a:solidFill>
              <a:srgbClr val="F2911B"/>
            </a:solidFill>
            <a:prstDash val="solid"/>
          </a:ln>
        </p:spPr>
      </p:sp>
      <p:sp>
        <p:nvSpPr>
          <p:cNvPr id="13" name="Text 9"/>
          <p:cNvSpPr txBox="1"/>
          <p:nvPr/>
        </p:nvSpPr>
        <p:spPr>
          <a:xfrm>
            <a:off x="3566160" y="4251960"/>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2</a:t>
            </a:r>
            <a:endParaRPr lang="en-US" sz="1400" dirty="0"/>
          </a:p>
        </p:txBody>
      </p:sp>
      <p:sp>
        <p:nvSpPr>
          <p:cNvPr id="14" name="Text 10"/>
          <p:cNvSpPr txBox="1"/>
          <p:nvPr/>
        </p:nvSpPr>
        <p:spPr>
          <a:xfrm>
            <a:off x="4114800" y="4251960"/>
            <a:ext cx="1783080" cy="420624"/>
          </a:xfrm>
          <a:prstGeom prst="rect">
            <a:avLst/>
          </a:prstGeom>
          <a:noFill/>
          <a:ln/>
        </p:spPr>
        <p:txBody>
          <a:bodyPr wrap="square" lIns="0" tIns="0" rIns="0" bIns="0" rtlCol="0" anchor="ctr"/>
          <a:lstStyle/>
          <a:p>
            <a:pPr indent="0" marL="0">
              <a:buNone/>
            </a:pPr>
            <a:r>
              <a:rPr lang="en-US" sz="1600" b="1" dirty="0">
                <a:solidFill>
                  <a:srgbClr val="1B2129"/>
                </a:solidFill>
                <a:latin typeface="Calibri" pitchFamily="34" charset="0"/>
                <a:ea typeface="Calibri" pitchFamily="34" charset="-122"/>
                <a:cs typeface="Calibri" pitchFamily="34" charset="-120"/>
              </a:rPr>
              <a:t>Detection</a:t>
            </a:r>
            <a:endParaRPr lang="en-US" sz="1600" dirty="0"/>
          </a:p>
        </p:txBody>
      </p:sp>
      <p:sp>
        <p:nvSpPr>
          <p:cNvPr id="15" name="Text 11"/>
          <p:cNvSpPr txBox="1"/>
          <p:nvPr/>
        </p:nvSpPr>
        <p:spPr>
          <a:xfrm>
            <a:off x="3566160" y="4773168"/>
            <a:ext cx="2286000" cy="68580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Box and confidence for each deer, in each frame.</a:t>
            </a:r>
            <a:endParaRPr lang="en-US" sz="1250" dirty="0"/>
          </a:p>
        </p:txBody>
      </p:sp>
      <p:sp>
        <p:nvSpPr>
          <p:cNvPr id="16" name="Shape 12"/>
          <p:cNvSpPr/>
          <p:nvPr/>
        </p:nvSpPr>
        <p:spPr>
          <a:xfrm>
            <a:off x="6217920" y="4114800"/>
            <a:ext cx="2651760" cy="1417320"/>
          </a:xfrm>
          <a:prstGeom prst="roundRect">
            <a:avLst>
              <a:gd name="adj" fmla="val 5161"/>
            </a:avLst>
          </a:prstGeom>
          <a:solidFill>
            <a:srgbClr val="EEF1F4"/>
          </a:solidFill>
          <a:ln w="12700">
            <a:solidFill>
              <a:srgbClr val="EEF1F4"/>
            </a:solidFill>
            <a:prstDash val="solid"/>
          </a:ln>
        </p:spPr>
      </p:sp>
      <p:sp>
        <p:nvSpPr>
          <p:cNvPr id="17" name="Shape 13"/>
          <p:cNvSpPr/>
          <p:nvPr/>
        </p:nvSpPr>
        <p:spPr>
          <a:xfrm>
            <a:off x="6400800" y="4251960"/>
            <a:ext cx="420624" cy="420624"/>
          </a:xfrm>
          <a:prstGeom prst="ellipse">
            <a:avLst/>
          </a:prstGeom>
          <a:solidFill>
            <a:srgbClr val="F2911B"/>
          </a:solidFill>
          <a:ln w="12700">
            <a:solidFill>
              <a:srgbClr val="F2911B"/>
            </a:solidFill>
            <a:prstDash val="solid"/>
          </a:ln>
        </p:spPr>
      </p:sp>
      <p:sp>
        <p:nvSpPr>
          <p:cNvPr id="18" name="Text 14"/>
          <p:cNvSpPr txBox="1"/>
          <p:nvPr/>
        </p:nvSpPr>
        <p:spPr>
          <a:xfrm>
            <a:off x="6400800" y="4251960"/>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6949440" y="4251960"/>
            <a:ext cx="1783080" cy="420624"/>
          </a:xfrm>
          <a:prstGeom prst="rect">
            <a:avLst/>
          </a:prstGeom>
          <a:noFill/>
          <a:ln/>
        </p:spPr>
        <p:txBody>
          <a:bodyPr wrap="square" lIns="0" tIns="0" rIns="0" bIns="0" rtlCol="0" anchor="ctr"/>
          <a:lstStyle/>
          <a:p>
            <a:pPr indent="0" marL="0">
              <a:buNone/>
            </a:pPr>
            <a:r>
              <a:rPr lang="en-US" sz="1600" b="1" dirty="0">
                <a:solidFill>
                  <a:srgbClr val="1B2129"/>
                </a:solidFill>
                <a:latin typeface="Calibri" pitchFamily="34" charset="0"/>
                <a:ea typeface="Calibri" pitchFamily="34" charset="-122"/>
                <a:cs typeface="Calibri" pitchFamily="34" charset="-120"/>
              </a:rPr>
              <a:t>Tracking</a:t>
            </a:r>
            <a:endParaRPr lang="en-US" sz="1600" dirty="0"/>
          </a:p>
        </p:txBody>
      </p:sp>
      <p:sp>
        <p:nvSpPr>
          <p:cNvPr id="20" name="Text 16"/>
          <p:cNvSpPr txBox="1"/>
          <p:nvPr/>
        </p:nvSpPr>
        <p:spPr>
          <a:xfrm>
            <a:off x="6400800" y="4773168"/>
            <a:ext cx="2286000" cy="68580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Link the boxes of one animal over time.</a:t>
            </a:r>
            <a:endParaRPr lang="en-US" sz="1250" dirty="0"/>
          </a:p>
        </p:txBody>
      </p:sp>
      <p:sp>
        <p:nvSpPr>
          <p:cNvPr id="21" name="Shape 17"/>
          <p:cNvSpPr/>
          <p:nvPr/>
        </p:nvSpPr>
        <p:spPr>
          <a:xfrm>
            <a:off x="9052560" y="4114800"/>
            <a:ext cx="2651760" cy="1417320"/>
          </a:xfrm>
          <a:prstGeom prst="roundRect">
            <a:avLst>
              <a:gd name="adj" fmla="val 5161"/>
            </a:avLst>
          </a:prstGeom>
          <a:solidFill>
            <a:srgbClr val="EEF1F4"/>
          </a:solidFill>
          <a:ln w="12700">
            <a:solidFill>
              <a:srgbClr val="EEF1F4"/>
            </a:solidFill>
            <a:prstDash val="solid"/>
          </a:ln>
        </p:spPr>
      </p:sp>
      <p:sp>
        <p:nvSpPr>
          <p:cNvPr id="22" name="Shape 18"/>
          <p:cNvSpPr/>
          <p:nvPr/>
        </p:nvSpPr>
        <p:spPr>
          <a:xfrm>
            <a:off x="9235440" y="4251960"/>
            <a:ext cx="420624" cy="420624"/>
          </a:xfrm>
          <a:prstGeom prst="ellipse">
            <a:avLst/>
          </a:prstGeom>
          <a:solidFill>
            <a:srgbClr val="F2911B"/>
          </a:solidFill>
          <a:ln w="12700">
            <a:solidFill>
              <a:srgbClr val="F2911B"/>
            </a:solidFill>
            <a:prstDash val="solid"/>
          </a:ln>
        </p:spPr>
      </p:sp>
      <p:sp>
        <p:nvSpPr>
          <p:cNvPr id="23" name="Text 19"/>
          <p:cNvSpPr txBox="1"/>
          <p:nvPr/>
        </p:nvSpPr>
        <p:spPr>
          <a:xfrm>
            <a:off x="9235440" y="4251960"/>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4</a:t>
            </a:r>
            <a:endParaRPr lang="en-US" sz="1400" dirty="0"/>
          </a:p>
        </p:txBody>
      </p:sp>
      <p:sp>
        <p:nvSpPr>
          <p:cNvPr id="24" name="Text 20"/>
          <p:cNvSpPr txBox="1"/>
          <p:nvPr/>
        </p:nvSpPr>
        <p:spPr>
          <a:xfrm>
            <a:off x="9784080" y="4251960"/>
            <a:ext cx="1783080" cy="420624"/>
          </a:xfrm>
          <a:prstGeom prst="rect">
            <a:avLst/>
          </a:prstGeom>
          <a:noFill/>
          <a:ln/>
        </p:spPr>
        <p:txBody>
          <a:bodyPr wrap="square" lIns="0" tIns="0" rIns="0" bIns="0" rtlCol="0" anchor="ctr"/>
          <a:lstStyle/>
          <a:p>
            <a:pPr indent="0" marL="0">
              <a:buNone/>
            </a:pPr>
            <a:r>
              <a:rPr lang="en-US" sz="1600" b="1" dirty="0">
                <a:solidFill>
                  <a:srgbClr val="1B2129"/>
                </a:solidFill>
                <a:latin typeface="Calibri" pitchFamily="34" charset="0"/>
                <a:ea typeface="Calibri" pitchFamily="34" charset="-122"/>
                <a:cs typeface="Calibri" pitchFamily="34" charset="-120"/>
              </a:rPr>
              <a:t>Confirmation</a:t>
            </a:r>
            <a:endParaRPr lang="en-US" sz="1600" dirty="0"/>
          </a:p>
        </p:txBody>
      </p:sp>
      <p:sp>
        <p:nvSpPr>
          <p:cNvPr id="25" name="Text 21"/>
          <p:cNvSpPr txBox="1"/>
          <p:nvPr/>
        </p:nvSpPr>
        <p:spPr>
          <a:xfrm>
            <a:off x="9235440" y="4773168"/>
            <a:ext cx="2286000" cy="68580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Accept a track or reject it. Count the accepted tracks.</a:t>
            </a:r>
            <a:endParaRPr lang="en-US" sz="1250" dirty="0"/>
          </a:p>
        </p:txBody>
      </p:sp>
      <p:sp>
        <p:nvSpPr>
          <p:cNvPr id="26" name="Shape 22"/>
          <p:cNvSpPr/>
          <p:nvPr/>
        </p:nvSpPr>
        <p:spPr>
          <a:xfrm>
            <a:off x="548640" y="5715000"/>
            <a:ext cx="11064240" cy="640080"/>
          </a:xfrm>
          <a:prstGeom prst="roundRect">
            <a:avLst>
              <a:gd name="adj" fmla="val 11429"/>
            </a:avLst>
          </a:prstGeom>
          <a:solidFill>
            <a:srgbClr val="12161C"/>
          </a:solidFill>
          <a:ln w="12700">
            <a:solidFill>
              <a:srgbClr val="12161C"/>
            </a:solidFill>
            <a:prstDash val="solid"/>
          </a:ln>
        </p:spPr>
      </p:sp>
      <p:sp>
        <p:nvSpPr>
          <p:cNvPr id="27" name="Text 23"/>
          <p:cNvSpPr txBox="1"/>
          <p:nvPr/>
        </p:nvSpPr>
        <p:spPr>
          <a:xfrm>
            <a:off x="777240" y="5715000"/>
            <a:ext cx="10607040" cy="6400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Deterministic: the same video always gives the same boxes, tracks and count (three repeated runs were identical).</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Contrast normalization makes faint animals visible</a:t>
            </a:r>
            <a:endParaRPr lang="en-US" sz="3000" dirty="0"/>
          </a:p>
        </p:txBody>
      </p:sp>
      <p:sp>
        <p:nvSpPr>
          <p:cNvPr id="3" name="Text 1"/>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5B6775"/>
                </a:solidFill>
                <a:latin typeface="Calibri" pitchFamily="34" charset="0"/>
                <a:ea typeface="Calibri" pitchFamily="34" charset="-122"/>
                <a:cs typeface="Calibri" pitchFamily="34" charset="-120"/>
              </a:rPr>
              <a:t>5</a:t>
            </a:r>
            <a:endParaRPr lang="en-US" sz="1000" dirty="0"/>
          </a:p>
        </p:txBody>
      </p:sp>
      <p:sp>
        <p:nvSpPr>
          <p:cNvPr id="5" name="Text 2"/>
          <p:cNvSpPr txBox="1"/>
          <p:nvPr/>
        </p:nvSpPr>
        <p:spPr>
          <a:xfrm>
            <a:off x="548640" y="109728"/>
            <a:ext cx="7315200" cy="274320"/>
          </a:xfrm>
          <a:prstGeom prst="rect">
            <a:avLst/>
          </a:prstGeom>
          <a:noFill/>
          <a:ln/>
        </p:spPr>
        <p:txBody>
          <a:bodyPr wrap="square" lIns="0" tIns="0" rIns="0" bIns="0" rtlCol="0" anchor="ctr"/>
          <a:lstStyle/>
          <a:p>
            <a:pPr indent="0" marL="0">
              <a:buNone/>
            </a:pPr>
            <a:r>
              <a:rPr lang="en-US" sz="1100" b="1" spc="100" kern="0" dirty="0">
                <a:solidFill>
                  <a:srgbClr val="F2911B"/>
                </a:solidFill>
                <a:latin typeface="Calibri" pitchFamily="34" charset="0"/>
                <a:ea typeface="Calibri" pitchFamily="34" charset="-122"/>
                <a:cs typeface="Calibri" pitchFamily="34" charset="-120"/>
              </a:rPr>
              <a:t>STEP 1 OF 4  |  CONTRAST</a:t>
            </a:r>
            <a:endParaRPr lang="en-US" sz="1100" dirty="0"/>
          </a:p>
        </p:txBody>
      </p:sp>
      <p:pic>
        <p:nvPicPr>
          <p:cNvPr id="6" name="Image 0" descr="Frame as recorded: five faint deer under trees, low contrast">    </p:cNvPr>
          <p:cNvPicPr>
            <a:picLocks noChangeAspect="1"/>
          </p:cNvPicPr>
          <p:nvPr/>
        </p:nvPicPr>
        <p:blipFill>
          <a:blip r:embed="rId1"/>
          <a:stretch>
            <a:fillRect/>
          </a:stretch>
        </p:blipFill>
        <p:spPr>
          <a:xfrm>
            <a:off x="548640" y="1325880"/>
            <a:ext cx="5440680" cy="2720340"/>
          </a:xfrm>
          <a:prstGeom prst="rect">
            <a:avLst/>
          </a:prstGeom>
        </p:spPr>
      </p:pic>
      <p:pic>
        <p:nvPicPr>
          <p:cNvPr id="7" name="Image 1" descr="Same frame after CLAHE: deer and trees clearly visible">    </p:cNvPr>
          <p:cNvPicPr>
            <a:picLocks noChangeAspect="1"/>
          </p:cNvPicPr>
          <p:nvPr/>
        </p:nvPicPr>
        <p:blipFill>
          <a:blip r:embed="rId2"/>
          <a:stretch>
            <a:fillRect/>
          </a:stretch>
        </p:blipFill>
        <p:spPr>
          <a:xfrm>
            <a:off x="6199632" y="1325880"/>
            <a:ext cx="5440680" cy="2720340"/>
          </a:xfrm>
          <a:prstGeom prst="rect">
            <a:avLst/>
          </a:prstGeom>
        </p:spPr>
      </p:pic>
      <p:sp>
        <p:nvSpPr>
          <p:cNvPr id="8" name="Text 3"/>
          <p:cNvSpPr txBox="1"/>
          <p:nvPr/>
        </p:nvSpPr>
        <p:spPr>
          <a:xfrm>
            <a:off x="548640" y="4096512"/>
            <a:ext cx="5440680" cy="274320"/>
          </a:xfrm>
          <a:prstGeom prst="rect">
            <a:avLst/>
          </a:prstGeom>
          <a:noFill/>
          <a:ln/>
        </p:spPr>
        <p:txBody>
          <a:bodyPr wrap="square" lIns="0" tIns="0" rIns="0" bIns="0" rtlCol="0" anchor="t"/>
          <a:lstStyle/>
          <a:p>
            <a:pPr indent="0" marL="0">
              <a:buNone/>
            </a:pPr>
            <a:r>
              <a:rPr lang="en-US" sz="1100" dirty="0">
                <a:solidFill>
                  <a:srgbClr val="5B6775"/>
                </a:solidFill>
                <a:latin typeface="Calibri" pitchFamily="34" charset="0"/>
                <a:ea typeface="Calibri" pitchFamily="34" charset="-122"/>
                <a:cs typeface="Calibri" pitchFamily="34" charset="-120"/>
              </a:rPr>
              <a:t>As recorded by the camera</a:t>
            </a:r>
            <a:endParaRPr lang="en-US" sz="1100" dirty="0"/>
          </a:p>
        </p:txBody>
      </p:sp>
      <p:sp>
        <p:nvSpPr>
          <p:cNvPr id="9" name="Text 4"/>
          <p:cNvSpPr txBox="1"/>
          <p:nvPr/>
        </p:nvSpPr>
        <p:spPr>
          <a:xfrm>
            <a:off x="6199632" y="4096512"/>
            <a:ext cx="5440680" cy="274320"/>
          </a:xfrm>
          <a:prstGeom prst="rect">
            <a:avLst/>
          </a:prstGeom>
          <a:noFill/>
          <a:ln/>
        </p:spPr>
        <p:txBody>
          <a:bodyPr wrap="square" lIns="0" tIns="0" rIns="0" bIns="0" rtlCol="0" anchor="t"/>
          <a:lstStyle/>
          <a:p>
            <a:pPr indent="0" marL="0">
              <a:buNone/>
            </a:pPr>
            <a:r>
              <a:rPr lang="en-US" sz="1100" dirty="0">
                <a:solidFill>
                  <a:srgbClr val="5B6775"/>
                </a:solidFill>
                <a:latin typeface="Calibri" pitchFamily="34" charset="0"/>
                <a:ea typeface="Calibri" pitchFamily="34" charset="-122"/>
                <a:cs typeface="Calibri" pitchFamily="34" charset="-120"/>
              </a:rPr>
              <a:t>After contrast normalization (CLAHE)</a:t>
            </a:r>
            <a:endParaRPr lang="en-US" sz="1100" dirty="0"/>
          </a:p>
        </p:txBody>
      </p:sp>
      <p:sp>
        <p:nvSpPr>
          <p:cNvPr id="10" name="Shape 5"/>
          <p:cNvSpPr/>
          <p:nvPr/>
        </p:nvSpPr>
        <p:spPr>
          <a:xfrm>
            <a:off x="548640" y="4572000"/>
            <a:ext cx="3566160" cy="1737360"/>
          </a:xfrm>
          <a:prstGeom prst="roundRect">
            <a:avLst>
              <a:gd name="adj" fmla="val 4211"/>
            </a:avLst>
          </a:prstGeom>
          <a:solidFill>
            <a:srgbClr val="EEF1F4"/>
          </a:solidFill>
          <a:ln w="12700">
            <a:solidFill>
              <a:srgbClr val="EEF1F4"/>
            </a:solidFill>
            <a:prstDash val="solid"/>
          </a:ln>
        </p:spPr>
      </p:sp>
      <p:sp>
        <p:nvSpPr>
          <p:cNvPr id="11" name="Text 6"/>
          <p:cNvSpPr txBox="1"/>
          <p:nvPr/>
        </p:nvSpPr>
        <p:spPr>
          <a:xfrm>
            <a:off x="731520" y="4709160"/>
            <a:ext cx="3200400" cy="365760"/>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What it does</a:t>
            </a:r>
            <a:endParaRPr lang="en-US" sz="1500" dirty="0"/>
          </a:p>
        </p:txBody>
      </p:sp>
      <p:sp>
        <p:nvSpPr>
          <p:cNvPr id="12" name="Text 7"/>
          <p:cNvSpPr txBox="1"/>
          <p:nvPr/>
        </p:nvSpPr>
        <p:spPr>
          <a:xfrm>
            <a:off x="731520" y="5120640"/>
            <a:ext cx="3200400" cy="109728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Stretches contrast inside small tiles of the image (8 x 8 grid), with a limit so that noise is not amplified.</a:t>
            </a:r>
            <a:endParaRPr lang="en-US" sz="1250" dirty="0"/>
          </a:p>
        </p:txBody>
      </p:sp>
      <p:sp>
        <p:nvSpPr>
          <p:cNvPr id="13" name="Shape 8"/>
          <p:cNvSpPr/>
          <p:nvPr/>
        </p:nvSpPr>
        <p:spPr>
          <a:xfrm>
            <a:off x="4297680" y="4572000"/>
            <a:ext cx="3566160" cy="1737360"/>
          </a:xfrm>
          <a:prstGeom prst="roundRect">
            <a:avLst>
              <a:gd name="adj" fmla="val 4211"/>
            </a:avLst>
          </a:prstGeom>
          <a:solidFill>
            <a:srgbClr val="EEF1F4"/>
          </a:solidFill>
          <a:ln w="12700">
            <a:solidFill>
              <a:srgbClr val="EEF1F4"/>
            </a:solidFill>
            <a:prstDash val="solid"/>
          </a:ln>
        </p:spPr>
      </p:sp>
      <p:sp>
        <p:nvSpPr>
          <p:cNvPr id="14" name="Text 9"/>
          <p:cNvSpPr txBox="1"/>
          <p:nvPr/>
        </p:nvSpPr>
        <p:spPr>
          <a:xfrm>
            <a:off x="4480560" y="4709160"/>
            <a:ext cx="3200400" cy="365760"/>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Why we need it</a:t>
            </a:r>
            <a:endParaRPr lang="en-US" sz="1500" dirty="0"/>
          </a:p>
        </p:txBody>
      </p:sp>
      <p:sp>
        <p:nvSpPr>
          <p:cNvPr id="15" name="Text 10"/>
          <p:cNvSpPr txBox="1"/>
          <p:nvPr/>
        </p:nvSpPr>
        <p:spPr>
          <a:xfrm>
            <a:off x="4480560" y="5120640"/>
            <a:ext cx="3200400" cy="109728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Thermal contrast is low and it drifts during a transect. A deer is only slightly warmer than the ground behind it.</a:t>
            </a:r>
            <a:endParaRPr lang="en-US" sz="1250" dirty="0"/>
          </a:p>
        </p:txBody>
      </p:sp>
      <p:sp>
        <p:nvSpPr>
          <p:cNvPr id="16" name="Shape 11"/>
          <p:cNvSpPr/>
          <p:nvPr/>
        </p:nvSpPr>
        <p:spPr>
          <a:xfrm>
            <a:off x="8046720" y="4572000"/>
            <a:ext cx="3593592" cy="1737360"/>
          </a:xfrm>
          <a:prstGeom prst="roundRect">
            <a:avLst>
              <a:gd name="adj" fmla="val 4211"/>
            </a:avLst>
          </a:prstGeom>
          <a:solidFill>
            <a:srgbClr val="EEF1F4"/>
          </a:solidFill>
          <a:ln w="12700">
            <a:solidFill>
              <a:srgbClr val="EEF1F4"/>
            </a:solidFill>
            <a:prstDash val="solid"/>
          </a:ln>
        </p:spPr>
      </p:sp>
      <p:sp>
        <p:nvSpPr>
          <p:cNvPr id="17" name="Text 12"/>
          <p:cNvSpPr txBox="1"/>
          <p:nvPr/>
        </p:nvSpPr>
        <p:spPr>
          <a:xfrm>
            <a:off x="8229600" y="4663440"/>
            <a:ext cx="3227832" cy="548640"/>
          </a:xfrm>
          <a:prstGeom prst="rect">
            <a:avLst/>
          </a:prstGeom>
          <a:noFill/>
          <a:ln/>
        </p:spPr>
        <p:txBody>
          <a:bodyPr wrap="square" lIns="0" tIns="0" rIns="0" bIns="0" rtlCol="0" anchor="ctr"/>
          <a:lstStyle/>
          <a:p>
            <a:pPr indent="0" marL="0">
              <a:buNone/>
            </a:pPr>
            <a:r>
              <a:rPr lang="en-US" sz="2400" b="1" dirty="0">
                <a:solidFill>
                  <a:srgbClr val="F2911B"/>
                </a:solidFill>
                <a:latin typeface="Cambria" pitchFamily="34" charset="0"/>
                <a:ea typeface="Cambria" pitchFamily="34" charset="-122"/>
                <a:cs typeface="Cambria" pitchFamily="34" charset="-120"/>
              </a:rPr>
              <a:t>0.30 to 0.52</a:t>
            </a:r>
            <a:endParaRPr lang="en-US" sz="2400" dirty="0"/>
          </a:p>
        </p:txBody>
      </p:sp>
      <p:sp>
        <p:nvSpPr>
          <p:cNvPr id="18" name="Text 13"/>
          <p:cNvSpPr txBox="1"/>
          <p:nvPr/>
        </p:nvSpPr>
        <p:spPr>
          <a:xfrm>
            <a:off x="8229600" y="5230368"/>
            <a:ext cx="3227832" cy="100584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detection score (mAP50) on test videos, without and with normalization. Larger than any difference between models.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The detector finds deer in each frame, one frame at a time</a:t>
            </a:r>
            <a:endParaRPr lang="en-US" sz="3000" dirty="0"/>
          </a:p>
        </p:txBody>
      </p:sp>
      <p:sp>
        <p:nvSpPr>
          <p:cNvPr id="3" name="Text 1"/>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5B6775"/>
                </a:solidFill>
                <a:latin typeface="Calibri" pitchFamily="34" charset="0"/>
                <a:ea typeface="Calibri" pitchFamily="34" charset="-122"/>
                <a:cs typeface="Calibri" pitchFamily="34" charset="-120"/>
              </a:rPr>
              <a:t>6</a:t>
            </a:r>
            <a:endParaRPr lang="en-US" sz="1000" dirty="0"/>
          </a:p>
        </p:txBody>
      </p:sp>
      <p:sp>
        <p:nvSpPr>
          <p:cNvPr id="5" name="Text 2"/>
          <p:cNvSpPr txBox="1"/>
          <p:nvPr/>
        </p:nvSpPr>
        <p:spPr>
          <a:xfrm>
            <a:off x="548640" y="109728"/>
            <a:ext cx="7315200" cy="274320"/>
          </a:xfrm>
          <a:prstGeom prst="rect">
            <a:avLst/>
          </a:prstGeom>
          <a:noFill/>
          <a:ln/>
        </p:spPr>
        <p:txBody>
          <a:bodyPr wrap="square" lIns="0" tIns="0" rIns="0" bIns="0" rtlCol="0" anchor="ctr"/>
          <a:lstStyle/>
          <a:p>
            <a:pPr indent="0" marL="0">
              <a:buNone/>
            </a:pPr>
            <a:r>
              <a:rPr lang="en-US" sz="1100" b="1" spc="100" kern="0" dirty="0">
                <a:solidFill>
                  <a:srgbClr val="F2911B"/>
                </a:solidFill>
                <a:latin typeface="Calibri" pitchFamily="34" charset="0"/>
                <a:ea typeface="Calibri" pitchFamily="34" charset="-122"/>
                <a:cs typeface="Calibri" pitchFamily="34" charset="-120"/>
              </a:rPr>
              <a:t>STEP 2 OF 4  |  DETECTION</a:t>
            </a:r>
            <a:endParaRPr lang="en-US" sz="1100" dirty="0"/>
          </a:p>
        </p:txBody>
      </p:sp>
      <p:pic>
        <p:nvPicPr>
          <p:cNvPr id="6" name="Image 0" descr="Detections on the frame: five green boxes with confidences 0.53 to 0.69">    </p:cNvPr>
          <p:cNvPicPr>
            <a:picLocks noChangeAspect="1"/>
          </p:cNvPicPr>
          <p:nvPr/>
        </p:nvPicPr>
        <p:blipFill>
          <a:blip r:embed="rId1"/>
          <a:stretch>
            <a:fillRect/>
          </a:stretch>
        </p:blipFill>
        <p:spPr>
          <a:xfrm>
            <a:off x="548640" y="1325880"/>
            <a:ext cx="7040880" cy="3520440"/>
          </a:xfrm>
          <a:prstGeom prst="rect">
            <a:avLst/>
          </a:prstGeom>
        </p:spPr>
      </p:pic>
      <p:sp>
        <p:nvSpPr>
          <p:cNvPr id="7" name="Text 3"/>
          <p:cNvSpPr txBox="1"/>
          <p:nvPr/>
        </p:nvSpPr>
        <p:spPr>
          <a:xfrm>
            <a:off x="548640" y="4901184"/>
            <a:ext cx="7040880" cy="274320"/>
          </a:xfrm>
          <a:prstGeom prst="rect">
            <a:avLst/>
          </a:prstGeom>
          <a:noFill/>
          <a:ln/>
        </p:spPr>
        <p:txBody>
          <a:bodyPr wrap="square" lIns="0" tIns="0" rIns="0" bIns="0" rtlCol="0" anchor="t"/>
          <a:lstStyle/>
          <a:p>
            <a:pPr indent="0" marL="0">
              <a:buNone/>
            </a:pPr>
            <a:r>
              <a:rPr lang="en-US" sz="1100" dirty="0">
                <a:solidFill>
                  <a:srgbClr val="5B6775"/>
                </a:solidFill>
                <a:latin typeface="Calibri" pitchFamily="34" charset="0"/>
                <a:ea typeface="Calibri" pitchFamily="34" charset="-122"/>
                <a:cs typeface="Calibri" pitchFamily="34" charset="-120"/>
              </a:rPr>
              <a:t>Detector output on one frame of a held-out video (GolfDr, SHB). Numbers are the confidence of each box.</a:t>
            </a:r>
            <a:endParaRPr lang="en-US" sz="1100" dirty="0"/>
          </a:p>
        </p:txBody>
      </p:sp>
      <p:sp>
        <p:nvSpPr>
          <p:cNvPr id="8" name="Text 4"/>
          <p:cNvSpPr txBox="1"/>
          <p:nvPr/>
        </p:nvSpPr>
        <p:spPr>
          <a:xfrm>
            <a:off x="7955280" y="1371600"/>
            <a:ext cx="3703320" cy="3474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B2129"/>
                </a:solidFill>
                <a:latin typeface="Calibri" pitchFamily="34" charset="0"/>
                <a:ea typeface="Calibri" pitchFamily="34" charset="-122"/>
                <a:cs typeface="Calibri" pitchFamily="34" charset="-120"/>
              </a:rPr>
              <a:t>Input: one contrast-normalized frame.</a:t>
            </a:r>
            <a:endParaRPr lang="en-US" sz="1500" dirty="0"/>
          </a:p>
          <a:p>
            <a:pPr marL="342900" indent="-342900">
              <a:spcAft>
                <a:spcPts val="1000"/>
              </a:spcAft>
              <a:buSzPct val="100000"/>
              <a:buChar char="•"/>
            </a:pPr>
            <a:r>
              <a:rPr lang="en-US" sz="1500" dirty="0">
                <a:solidFill>
                  <a:srgbClr val="1B2129"/>
                </a:solidFill>
                <a:latin typeface="Calibri" pitchFamily="34" charset="0"/>
                <a:ea typeface="Calibri" pitchFamily="34" charset="-122"/>
                <a:cs typeface="Calibri" pitchFamily="34" charset="-120"/>
              </a:rPr>
              <a:t>Output: a box and a confidence (0 to 1) for each deer it finds.</a:t>
            </a:r>
            <a:endParaRPr lang="en-US" sz="1500" dirty="0"/>
          </a:p>
          <a:p>
            <a:pPr marL="342900" indent="-342900">
              <a:spcAft>
                <a:spcPts val="1000"/>
              </a:spcAft>
              <a:buSzPct val="100000"/>
              <a:buChar char="•"/>
            </a:pPr>
            <a:r>
              <a:rPr lang="en-US" sz="1500" dirty="0">
                <a:solidFill>
                  <a:srgbClr val="1B2129"/>
                </a:solidFill>
                <a:latin typeface="Calibri" pitchFamily="34" charset="0"/>
                <a:ea typeface="Calibri" pitchFamily="34" charset="-122"/>
                <a:cs typeface="Calibri" pitchFamily="34" charset="-120"/>
              </a:rPr>
              <a:t>No memory: every frame is processed alone.</a:t>
            </a:r>
            <a:endParaRPr lang="en-US" sz="1500" dirty="0"/>
          </a:p>
          <a:p>
            <a:pPr marL="342900" indent="-342900">
              <a:spcAft>
                <a:spcPts val="1000"/>
              </a:spcAft>
              <a:buSzPct val="100000"/>
              <a:buChar char="•"/>
            </a:pPr>
            <a:r>
              <a:rPr lang="en-US" sz="1500" dirty="0">
                <a:solidFill>
                  <a:srgbClr val="1B2129"/>
                </a:solidFill>
                <a:latin typeface="Calibri" pitchFamily="34" charset="0"/>
                <a:ea typeface="Calibri" pitchFamily="34" charset="-122"/>
                <a:cs typeface="Calibri" pitchFamily="34" charset="-120"/>
              </a:rPr>
              <a:t>Small animals give modest confidence, so all boxes above 0.10 are passed on.</a:t>
            </a:r>
            <a:endParaRPr lang="en-US" sz="1500" dirty="0"/>
          </a:p>
        </p:txBody>
      </p:sp>
      <p:sp>
        <p:nvSpPr>
          <p:cNvPr id="9" name="Shape 5"/>
          <p:cNvSpPr/>
          <p:nvPr/>
        </p:nvSpPr>
        <p:spPr>
          <a:xfrm>
            <a:off x="548640" y="5303520"/>
            <a:ext cx="3566160" cy="1051560"/>
          </a:xfrm>
          <a:prstGeom prst="roundRect">
            <a:avLst>
              <a:gd name="adj" fmla="val 6957"/>
            </a:avLst>
          </a:prstGeom>
          <a:solidFill>
            <a:srgbClr val="EEF1F4"/>
          </a:solidFill>
          <a:ln w="12700">
            <a:solidFill>
              <a:srgbClr val="EEF1F4"/>
            </a:solidFill>
            <a:prstDash val="solid"/>
          </a:ln>
        </p:spPr>
      </p:sp>
      <p:sp>
        <p:nvSpPr>
          <p:cNvPr id="10" name="Text 6"/>
          <p:cNvSpPr txBox="1"/>
          <p:nvPr/>
        </p:nvSpPr>
        <p:spPr>
          <a:xfrm>
            <a:off x="731520" y="5394960"/>
            <a:ext cx="3200400" cy="548640"/>
          </a:xfrm>
          <a:prstGeom prst="rect">
            <a:avLst/>
          </a:prstGeom>
          <a:noFill/>
          <a:ln/>
        </p:spPr>
        <p:txBody>
          <a:bodyPr wrap="square" lIns="0" tIns="0" rIns="0" bIns="0" rtlCol="0" anchor="ctr"/>
          <a:lstStyle/>
          <a:p>
            <a:pPr indent="0" marL="0">
              <a:buNone/>
            </a:pPr>
            <a:r>
              <a:rPr lang="en-US" sz="2400" b="1" dirty="0">
                <a:solidFill>
                  <a:srgbClr val="F2911B"/>
                </a:solidFill>
                <a:latin typeface="Cambria" pitchFamily="34" charset="0"/>
                <a:ea typeface="Cambria" pitchFamily="34" charset="-122"/>
                <a:cs typeface="Cambria" pitchFamily="34" charset="-120"/>
              </a:rPr>
              <a:t>YOLO11m</a:t>
            </a:r>
            <a:endParaRPr lang="en-US" sz="2400" dirty="0"/>
          </a:p>
        </p:txBody>
      </p:sp>
      <p:sp>
        <p:nvSpPr>
          <p:cNvPr id="11" name="Text 7"/>
          <p:cNvSpPr txBox="1"/>
          <p:nvPr/>
        </p:nvSpPr>
        <p:spPr>
          <a:xfrm>
            <a:off x="731520" y="5961888"/>
            <a:ext cx="3200400" cy="32004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detector, 640 px input</a:t>
            </a:r>
            <a:endParaRPr lang="en-US" sz="1200" dirty="0"/>
          </a:p>
        </p:txBody>
      </p:sp>
      <p:sp>
        <p:nvSpPr>
          <p:cNvPr id="12" name="Shape 8"/>
          <p:cNvSpPr/>
          <p:nvPr/>
        </p:nvSpPr>
        <p:spPr>
          <a:xfrm>
            <a:off x="4297680" y="5303520"/>
            <a:ext cx="3566160" cy="1051560"/>
          </a:xfrm>
          <a:prstGeom prst="roundRect">
            <a:avLst>
              <a:gd name="adj" fmla="val 6957"/>
            </a:avLst>
          </a:prstGeom>
          <a:solidFill>
            <a:srgbClr val="EEF1F4"/>
          </a:solidFill>
          <a:ln w="12700">
            <a:solidFill>
              <a:srgbClr val="EEF1F4"/>
            </a:solidFill>
            <a:prstDash val="solid"/>
          </a:ln>
        </p:spPr>
      </p:sp>
      <p:sp>
        <p:nvSpPr>
          <p:cNvPr id="13" name="Text 9"/>
          <p:cNvSpPr txBox="1"/>
          <p:nvPr/>
        </p:nvSpPr>
        <p:spPr>
          <a:xfrm>
            <a:off x="4480560" y="5394960"/>
            <a:ext cx="3200400" cy="548640"/>
          </a:xfrm>
          <a:prstGeom prst="rect">
            <a:avLst/>
          </a:prstGeom>
          <a:noFill/>
          <a:ln/>
        </p:spPr>
        <p:txBody>
          <a:bodyPr wrap="square" lIns="0" tIns="0" rIns="0" bIns="0" rtlCol="0" anchor="ctr"/>
          <a:lstStyle/>
          <a:p>
            <a:pPr indent="0" marL="0">
              <a:buNone/>
            </a:pPr>
            <a:r>
              <a:rPr lang="en-US" sz="2400" b="1" dirty="0">
                <a:solidFill>
                  <a:srgbClr val="F2911B"/>
                </a:solidFill>
                <a:latin typeface="Cambria" pitchFamily="34" charset="0"/>
                <a:ea typeface="Cambria" pitchFamily="34" charset="-122"/>
                <a:cs typeface="Cambria" pitchFamily="34" charset="-120"/>
              </a:rPr>
              <a:t>12,852 frames</a:t>
            </a:r>
            <a:endParaRPr lang="en-US" sz="2400" dirty="0"/>
          </a:p>
        </p:txBody>
      </p:sp>
      <p:sp>
        <p:nvSpPr>
          <p:cNvPr id="14" name="Text 10"/>
          <p:cNvSpPr txBox="1"/>
          <p:nvPr/>
        </p:nvSpPr>
        <p:spPr>
          <a:xfrm>
            <a:off x="4480560" y="5961888"/>
            <a:ext cx="3200400" cy="32004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for training, 7,839 of them with no deer</a:t>
            </a:r>
            <a:endParaRPr lang="en-US" sz="1200" dirty="0"/>
          </a:p>
        </p:txBody>
      </p:sp>
      <p:sp>
        <p:nvSpPr>
          <p:cNvPr id="15" name="Shape 11"/>
          <p:cNvSpPr/>
          <p:nvPr/>
        </p:nvSpPr>
        <p:spPr>
          <a:xfrm>
            <a:off x="8046720" y="5303520"/>
            <a:ext cx="3593592" cy="1051560"/>
          </a:xfrm>
          <a:prstGeom prst="roundRect">
            <a:avLst>
              <a:gd name="adj" fmla="val 6957"/>
            </a:avLst>
          </a:prstGeom>
          <a:solidFill>
            <a:srgbClr val="EEF1F4"/>
          </a:solidFill>
          <a:ln w="12700">
            <a:solidFill>
              <a:srgbClr val="EEF1F4"/>
            </a:solidFill>
            <a:prstDash val="solid"/>
          </a:ln>
        </p:spPr>
      </p:sp>
      <p:sp>
        <p:nvSpPr>
          <p:cNvPr id="16" name="Text 12"/>
          <p:cNvSpPr txBox="1"/>
          <p:nvPr/>
        </p:nvSpPr>
        <p:spPr>
          <a:xfrm>
            <a:off x="8229600" y="5394960"/>
            <a:ext cx="3227832" cy="548640"/>
          </a:xfrm>
          <a:prstGeom prst="rect">
            <a:avLst/>
          </a:prstGeom>
          <a:noFill/>
          <a:ln/>
        </p:spPr>
        <p:txBody>
          <a:bodyPr wrap="square" lIns="0" tIns="0" rIns="0" bIns="0" rtlCol="0" anchor="ctr"/>
          <a:lstStyle/>
          <a:p>
            <a:pPr indent="0" marL="0">
              <a:buNone/>
            </a:pPr>
            <a:r>
              <a:rPr lang="en-US" sz="2400" b="1" dirty="0">
                <a:solidFill>
                  <a:srgbClr val="F2911B"/>
                </a:solidFill>
                <a:latin typeface="Cambria" pitchFamily="34" charset="0"/>
                <a:ea typeface="Cambria" pitchFamily="34" charset="-122"/>
                <a:cs typeface="Cambria" pitchFamily="34" charset="-120"/>
              </a:rPr>
              <a:t>11 models</a:t>
            </a:r>
            <a:endParaRPr lang="en-US" sz="2400" dirty="0"/>
          </a:p>
        </p:txBody>
      </p:sp>
      <p:sp>
        <p:nvSpPr>
          <p:cNvPr id="17" name="Text 13"/>
          <p:cNvSpPr txBox="1"/>
          <p:nvPr/>
        </p:nvSpPr>
        <p:spPr>
          <a:xfrm>
            <a:off x="8229600" y="5961888"/>
            <a:ext cx="3227832" cy="32004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compared on the same data (slide 12)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The tracker links boxes into one track per animal</a:t>
            </a:r>
            <a:endParaRPr lang="en-US" sz="3000" dirty="0"/>
          </a:p>
        </p:txBody>
      </p:sp>
      <p:sp>
        <p:nvSpPr>
          <p:cNvPr id="3" name="Text 1"/>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5B6775"/>
                </a:solidFill>
                <a:latin typeface="Calibri" pitchFamily="34" charset="0"/>
                <a:ea typeface="Calibri" pitchFamily="34" charset="-122"/>
                <a:cs typeface="Calibri" pitchFamily="34" charset="-120"/>
              </a:rPr>
              <a:t>7</a:t>
            </a:r>
            <a:endParaRPr lang="en-US" sz="1000" dirty="0"/>
          </a:p>
        </p:txBody>
      </p:sp>
      <p:sp>
        <p:nvSpPr>
          <p:cNvPr id="5" name="Text 2"/>
          <p:cNvSpPr txBox="1"/>
          <p:nvPr/>
        </p:nvSpPr>
        <p:spPr>
          <a:xfrm>
            <a:off x="548640" y="109728"/>
            <a:ext cx="7315200" cy="274320"/>
          </a:xfrm>
          <a:prstGeom prst="rect">
            <a:avLst/>
          </a:prstGeom>
          <a:noFill/>
          <a:ln/>
        </p:spPr>
        <p:txBody>
          <a:bodyPr wrap="square" lIns="0" tIns="0" rIns="0" bIns="0" rtlCol="0" anchor="ctr"/>
          <a:lstStyle/>
          <a:p>
            <a:pPr indent="0" marL="0">
              <a:buNone/>
            </a:pPr>
            <a:r>
              <a:rPr lang="en-US" sz="1100" b="1" spc="100" kern="0" dirty="0">
                <a:solidFill>
                  <a:srgbClr val="F2911B"/>
                </a:solidFill>
                <a:latin typeface="Calibri" pitchFamily="34" charset="0"/>
                <a:ea typeface="Calibri" pitchFamily="34" charset="-122"/>
                <a:cs typeface="Calibri" pitchFamily="34" charset="-120"/>
              </a:rPr>
              <a:t>STEP 3 OF 4  |  TRACKING</a:t>
            </a:r>
            <a:endParaRPr lang="en-US" sz="1100" dirty="0"/>
          </a:p>
        </p:txBody>
      </p:sp>
      <p:pic>
        <p:nvPicPr>
          <p:cNvPr id="6" name="Image 0" descr="Five tracked deer with coloured boxes and identity numbers at 60.87 seconds">    </p:cNvPr>
          <p:cNvPicPr>
            <a:picLocks noChangeAspect="1"/>
          </p:cNvPicPr>
          <p:nvPr/>
        </p:nvPicPr>
        <p:blipFill>
          <a:blip r:embed="rId1"/>
          <a:stretch>
            <a:fillRect/>
          </a:stretch>
        </p:blipFill>
        <p:spPr>
          <a:xfrm>
            <a:off x="548640" y="1325880"/>
            <a:ext cx="5440680" cy="2720340"/>
          </a:xfrm>
          <a:prstGeom prst="rect">
            <a:avLst/>
          </a:prstGeom>
        </p:spPr>
      </p:pic>
      <p:pic>
        <p:nvPicPr>
          <p:cNvPr id="7" name="Image 1" descr="The same five deer 0.3 seconds later with the same colours and numbers, shifted left as the vehicle moves">    </p:cNvPr>
          <p:cNvPicPr>
            <a:picLocks noChangeAspect="1"/>
          </p:cNvPicPr>
          <p:nvPr/>
        </p:nvPicPr>
        <p:blipFill>
          <a:blip r:embed="rId2"/>
          <a:stretch>
            <a:fillRect/>
          </a:stretch>
        </p:blipFill>
        <p:spPr>
          <a:xfrm>
            <a:off x="6199632" y="1325880"/>
            <a:ext cx="5440680" cy="2720340"/>
          </a:xfrm>
          <a:prstGeom prst="rect">
            <a:avLst/>
          </a:prstGeom>
        </p:spPr>
      </p:pic>
      <p:sp>
        <p:nvSpPr>
          <p:cNvPr id="8" name="Text 3"/>
          <p:cNvSpPr txBox="1"/>
          <p:nvPr/>
        </p:nvSpPr>
        <p:spPr>
          <a:xfrm>
            <a:off x="548640" y="4096512"/>
            <a:ext cx="11064240" cy="274320"/>
          </a:xfrm>
          <a:prstGeom prst="rect">
            <a:avLst/>
          </a:prstGeom>
          <a:noFill/>
          <a:ln/>
        </p:spPr>
        <p:txBody>
          <a:bodyPr wrap="square" lIns="0" tIns="0" rIns="0" bIns="0" rtlCol="0" anchor="t"/>
          <a:lstStyle/>
          <a:p>
            <a:pPr indent="0" marL="0">
              <a:buNone/>
            </a:pPr>
            <a:r>
              <a:rPr lang="en-US" sz="1100" dirty="0">
                <a:solidFill>
                  <a:srgbClr val="5B6775"/>
                </a:solidFill>
                <a:latin typeface="Calibri" pitchFamily="34" charset="0"/>
                <a:ea typeface="Calibri" pitchFamily="34" charset="-122"/>
                <a:cs typeface="Calibri" pitchFamily="34" charset="-120"/>
              </a:rPr>
              <a:t>Same scene 0.3 s apart. Colour and ID stay with the animal while the camera moves; lines are the path of each track.</a:t>
            </a:r>
            <a:endParaRPr lang="en-US" sz="1100" dirty="0"/>
          </a:p>
        </p:txBody>
      </p:sp>
      <p:sp>
        <p:nvSpPr>
          <p:cNvPr id="9" name="Shape 4"/>
          <p:cNvSpPr/>
          <p:nvPr/>
        </p:nvSpPr>
        <p:spPr>
          <a:xfrm>
            <a:off x="548640" y="4572000"/>
            <a:ext cx="2651760" cy="1737360"/>
          </a:xfrm>
          <a:prstGeom prst="roundRect">
            <a:avLst>
              <a:gd name="adj" fmla="val 4211"/>
            </a:avLst>
          </a:prstGeom>
          <a:solidFill>
            <a:srgbClr val="EEF1F4"/>
          </a:solidFill>
          <a:ln w="12700">
            <a:solidFill>
              <a:srgbClr val="EEF1F4"/>
            </a:solidFill>
            <a:prstDash val="solid"/>
          </a:ln>
        </p:spPr>
      </p:sp>
      <p:sp>
        <p:nvSpPr>
          <p:cNvPr id="10" name="Text 5"/>
          <p:cNvSpPr txBox="1"/>
          <p:nvPr/>
        </p:nvSpPr>
        <p:spPr>
          <a:xfrm>
            <a:off x="731520" y="4709160"/>
            <a:ext cx="2286000" cy="365760"/>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Predict</a:t>
            </a:r>
            <a:endParaRPr lang="en-US" sz="1500" dirty="0"/>
          </a:p>
        </p:txBody>
      </p:sp>
      <p:sp>
        <p:nvSpPr>
          <p:cNvPr id="11" name="Text 6"/>
          <p:cNvSpPr txBox="1"/>
          <p:nvPr/>
        </p:nvSpPr>
        <p:spPr>
          <a:xfrm>
            <a:off x="731520" y="5120640"/>
            <a:ext cx="2286000" cy="109728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A Kalman filter predicts where each animal will be in the next frame.</a:t>
            </a:r>
            <a:endParaRPr lang="en-US" sz="1250" dirty="0"/>
          </a:p>
        </p:txBody>
      </p:sp>
      <p:sp>
        <p:nvSpPr>
          <p:cNvPr id="12" name="Shape 7"/>
          <p:cNvSpPr/>
          <p:nvPr/>
        </p:nvSpPr>
        <p:spPr>
          <a:xfrm>
            <a:off x="3355848" y="4572000"/>
            <a:ext cx="2651760" cy="1737360"/>
          </a:xfrm>
          <a:prstGeom prst="roundRect">
            <a:avLst>
              <a:gd name="adj" fmla="val 4211"/>
            </a:avLst>
          </a:prstGeom>
          <a:solidFill>
            <a:srgbClr val="EEF1F4"/>
          </a:solidFill>
          <a:ln w="12700">
            <a:solidFill>
              <a:srgbClr val="EEF1F4"/>
            </a:solidFill>
            <a:prstDash val="solid"/>
          </a:ln>
        </p:spPr>
      </p:sp>
      <p:sp>
        <p:nvSpPr>
          <p:cNvPr id="13" name="Text 8"/>
          <p:cNvSpPr txBox="1"/>
          <p:nvPr/>
        </p:nvSpPr>
        <p:spPr>
          <a:xfrm>
            <a:off x="3538728" y="4709160"/>
            <a:ext cx="2286000" cy="365760"/>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Remove camera motion</a:t>
            </a:r>
            <a:endParaRPr lang="en-US" sz="1500" dirty="0"/>
          </a:p>
        </p:txBody>
      </p:sp>
      <p:sp>
        <p:nvSpPr>
          <p:cNvPr id="14" name="Text 9"/>
          <p:cNvSpPr txBox="1"/>
          <p:nvPr/>
        </p:nvSpPr>
        <p:spPr>
          <a:xfrm>
            <a:off x="3538728" y="5120640"/>
            <a:ext cx="2286000" cy="109728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Optical flow estimates how the vehicle moved the image, and that shift is removed.</a:t>
            </a:r>
            <a:endParaRPr lang="en-US" sz="1250" dirty="0"/>
          </a:p>
        </p:txBody>
      </p:sp>
      <p:sp>
        <p:nvSpPr>
          <p:cNvPr id="15" name="Shape 10"/>
          <p:cNvSpPr/>
          <p:nvPr/>
        </p:nvSpPr>
        <p:spPr>
          <a:xfrm>
            <a:off x="6163056" y="4572000"/>
            <a:ext cx="2651760" cy="1737360"/>
          </a:xfrm>
          <a:prstGeom prst="roundRect">
            <a:avLst>
              <a:gd name="adj" fmla="val 4211"/>
            </a:avLst>
          </a:prstGeom>
          <a:solidFill>
            <a:srgbClr val="EEF1F4"/>
          </a:solidFill>
          <a:ln w="12700">
            <a:solidFill>
              <a:srgbClr val="EEF1F4"/>
            </a:solidFill>
            <a:prstDash val="solid"/>
          </a:ln>
        </p:spPr>
      </p:sp>
      <p:sp>
        <p:nvSpPr>
          <p:cNvPr id="16" name="Text 11"/>
          <p:cNvSpPr txBox="1"/>
          <p:nvPr/>
        </p:nvSpPr>
        <p:spPr>
          <a:xfrm>
            <a:off x="6345936" y="4709160"/>
            <a:ext cx="2286000" cy="365760"/>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Match</a:t>
            </a:r>
            <a:endParaRPr lang="en-US" sz="1500" dirty="0"/>
          </a:p>
        </p:txBody>
      </p:sp>
      <p:sp>
        <p:nvSpPr>
          <p:cNvPr id="17" name="Text 12"/>
          <p:cNvSpPr txBox="1"/>
          <p:nvPr/>
        </p:nvSpPr>
        <p:spPr>
          <a:xfrm>
            <a:off x="6345936" y="5120640"/>
            <a:ext cx="2286000" cy="109728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New boxes are matched to predicted positions by overlap. Unmatched boxes are recovered if they line up in time (17 animals).</a:t>
            </a:r>
            <a:endParaRPr lang="en-US" sz="1250" dirty="0"/>
          </a:p>
        </p:txBody>
      </p:sp>
      <p:sp>
        <p:nvSpPr>
          <p:cNvPr id="18" name="Shape 13"/>
          <p:cNvSpPr/>
          <p:nvPr/>
        </p:nvSpPr>
        <p:spPr>
          <a:xfrm>
            <a:off x="8970264" y="4572000"/>
            <a:ext cx="2670048" cy="1737360"/>
          </a:xfrm>
          <a:prstGeom prst="roundRect">
            <a:avLst>
              <a:gd name="adj" fmla="val 4211"/>
            </a:avLst>
          </a:prstGeom>
          <a:solidFill>
            <a:srgbClr val="12161C"/>
          </a:solidFill>
          <a:ln w="12700">
            <a:solidFill>
              <a:srgbClr val="12161C"/>
            </a:solidFill>
            <a:prstDash val="solid"/>
          </a:ln>
        </p:spPr>
      </p:sp>
      <p:sp>
        <p:nvSpPr>
          <p:cNvPr id="19" name="Text 14"/>
          <p:cNvSpPr txBox="1"/>
          <p:nvPr/>
        </p:nvSpPr>
        <p:spPr>
          <a:xfrm>
            <a:off x="9153144" y="4709160"/>
            <a:ext cx="2304288" cy="365760"/>
          </a:xfrm>
          <a:prstGeom prst="rect">
            <a:avLst/>
          </a:prstGeom>
          <a:noFill/>
          <a:ln/>
        </p:spPr>
        <p:txBody>
          <a:bodyPr wrap="square" lIns="0" tIns="0" rIns="0" bIns="0" rtlCol="0" anchor="ctr"/>
          <a:lstStyle/>
          <a:p>
            <a:pPr indent="0" marL="0">
              <a:buNone/>
            </a:pPr>
            <a:r>
              <a:rPr lang="en-US" sz="1500" b="1" dirty="0">
                <a:solidFill>
                  <a:srgbClr val="F2911B"/>
                </a:solidFill>
                <a:latin typeface="Calibri" pitchFamily="34" charset="0"/>
                <a:ea typeface="Calibri" pitchFamily="34" charset="-122"/>
                <a:cs typeface="Calibri" pitchFamily="34" charset="-120"/>
              </a:rPr>
              <a:t>Not identification</a:t>
            </a:r>
            <a:endParaRPr lang="en-US" sz="1500" dirty="0"/>
          </a:p>
        </p:txBody>
      </p:sp>
      <p:sp>
        <p:nvSpPr>
          <p:cNvPr id="20" name="Text 15"/>
          <p:cNvSpPr txBox="1"/>
          <p:nvPr/>
        </p:nvSpPr>
        <p:spPr>
          <a:xfrm>
            <a:off x="9153144" y="5120640"/>
            <a:ext cx="2304288" cy="10972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Position and motion only. The system does not recognise individual deer by appearance.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A simple rule decides which tracks are counted</a:t>
            </a:r>
            <a:endParaRPr lang="en-US" sz="3000" dirty="0"/>
          </a:p>
        </p:txBody>
      </p:sp>
      <p:sp>
        <p:nvSpPr>
          <p:cNvPr id="3" name="Text 1"/>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5B6775"/>
                </a:solidFill>
                <a:latin typeface="Calibri" pitchFamily="34" charset="0"/>
                <a:ea typeface="Calibri" pitchFamily="34" charset="-122"/>
                <a:cs typeface="Calibri" pitchFamily="34" charset="-120"/>
              </a:rPr>
              <a:t>8</a:t>
            </a:r>
            <a:endParaRPr lang="en-US" sz="1000" dirty="0"/>
          </a:p>
        </p:txBody>
      </p:sp>
      <p:sp>
        <p:nvSpPr>
          <p:cNvPr id="5" name="Text 2"/>
          <p:cNvSpPr txBox="1"/>
          <p:nvPr/>
        </p:nvSpPr>
        <p:spPr>
          <a:xfrm>
            <a:off x="548640" y="109728"/>
            <a:ext cx="7315200" cy="274320"/>
          </a:xfrm>
          <a:prstGeom prst="rect">
            <a:avLst/>
          </a:prstGeom>
          <a:noFill/>
          <a:ln/>
        </p:spPr>
        <p:txBody>
          <a:bodyPr wrap="square" lIns="0" tIns="0" rIns="0" bIns="0" rtlCol="0" anchor="ctr"/>
          <a:lstStyle/>
          <a:p>
            <a:pPr indent="0" marL="0">
              <a:buNone/>
            </a:pPr>
            <a:r>
              <a:rPr lang="en-US" sz="1100" b="1" spc="100" kern="0" dirty="0">
                <a:solidFill>
                  <a:srgbClr val="F2911B"/>
                </a:solidFill>
                <a:latin typeface="Calibri" pitchFamily="34" charset="0"/>
                <a:ea typeface="Calibri" pitchFamily="34" charset="-122"/>
                <a:cs typeface="Calibri" pitchFamily="34" charset="-120"/>
              </a:rPr>
              <a:t>STEP 4 OF 4  |  CONFIRMATION</a:t>
            </a:r>
            <a:endParaRPr lang="en-US" sz="1100" dirty="0"/>
          </a:p>
        </p:txBody>
      </p:sp>
      <p:pic>
        <p:nvPicPr>
          <p:cNvPr id="6" name="Image 0" descr="Four tracks labelled counted in green and one small deer labelled rejected in red">    </p:cNvPr>
          <p:cNvPicPr>
            <a:picLocks noChangeAspect="1"/>
          </p:cNvPicPr>
          <p:nvPr/>
        </p:nvPicPr>
        <p:blipFill>
          <a:blip r:embed="rId1"/>
          <a:stretch>
            <a:fillRect/>
          </a:stretch>
        </p:blipFill>
        <p:spPr>
          <a:xfrm>
            <a:off x="548640" y="1325880"/>
            <a:ext cx="6035040" cy="3017520"/>
          </a:xfrm>
          <a:prstGeom prst="rect">
            <a:avLst/>
          </a:prstGeom>
        </p:spPr>
      </p:pic>
      <p:sp>
        <p:nvSpPr>
          <p:cNvPr id="7" name="Text 3"/>
          <p:cNvSpPr txBox="1"/>
          <p:nvPr/>
        </p:nvSpPr>
        <p:spPr>
          <a:xfrm>
            <a:off x="548640" y="4398264"/>
            <a:ext cx="6035040" cy="274320"/>
          </a:xfrm>
          <a:prstGeom prst="rect">
            <a:avLst/>
          </a:prstGeom>
          <a:noFill/>
          <a:ln/>
        </p:spPr>
        <p:txBody>
          <a:bodyPr wrap="square" lIns="0" tIns="0" rIns="0" bIns="0" rtlCol="0" anchor="t"/>
          <a:lstStyle/>
          <a:p>
            <a:pPr indent="0" marL="0">
              <a:buNone/>
            </a:pPr>
            <a:r>
              <a:rPr lang="en-US" sz="1100" dirty="0">
                <a:solidFill>
                  <a:srgbClr val="5B6775"/>
                </a:solidFill>
                <a:latin typeface="Calibri" pitchFamily="34" charset="0"/>
                <a:ea typeface="Calibri" pitchFamily="34" charset="-122"/>
                <a:cs typeface="Calibri" pitchFamily="34" charset="-120"/>
              </a:rPr>
              <a:t>Decision of the rule for the five tracks in this scene. The rejected animal is a real, annotated deer.</a:t>
            </a:r>
            <a:endParaRPr lang="en-US" sz="1100" dirty="0"/>
          </a:p>
        </p:txBody>
      </p:sp>
      <p:graphicFrame>
        <p:nvGraphicFramePr>
          <p:cNvPr id="8" name="Chart 0" descr=""/>
          <p:cNvGraphicFramePr/>
          <p:nvPr/>
        </p:nvGraphicFramePr>
        <p:xfrm>
          <a:off x="6766560" y="1234440"/>
          <a:ext cx="4937760" cy="347472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48640" y="4846320"/>
            <a:ext cx="3566160" cy="1463040"/>
          </a:xfrm>
          <a:prstGeom prst="roundRect">
            <a:avLst>
              <a:gd name="adj" fmla="val 5000"/>
            </a:avLst>
          </a:prstGeom>
          <a:solidFill>
            <a:srgbClr val="EEF1F4"/>
          </a:solidFill>
          <a:ln w="12700">
            <a:solidFill>
              <a:srgbClr val="EEF1F4"/>
            </a:solidFill>
            <a:prstDash val="solid"/>
          </a:ln>
        </p:spPr>
      </p:sp>
      <p:sp>
        <p:nvSpPr>
          <p:cNvPr id="10" name="Text 5"/>
          <p:cNvSpPr txBox="1"/>
          <p:nvPr/>
        </p:nvSpPr>
        <p:spPr>
          <a:xfrm>
            <a:off x="731520" y="4983480"/>
            <a:ext cx="3200400" cy="365760"/>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Condition 1: length</a:t>
            </a:r>
            <a:endParaRPr lang="en-US" sz="1500" dirty="0"/>
          </a:p>
        </p:txBody>
      </p:sp>
      <p:sp>
        <p:nvSpPr>
          <p:cNvPr id="11" name="Text 6"/>
          <p:cNvSpPr txBox="1"/>
          <p:nvPr/>
        </p:nvSpPr>
        <p:spPr>
          <a:xfrm>
            <a:off x="731520" y="5394960"/>
            <a:ext cx="3200400" cy="82296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At least 20 detections, which is one third of a second of video.</a:t>
            </a:r>
            <a:endParaRPr lang="en-US" sz="1250" dirty="0"/>
          </a:p>
        </p:txBody>
      </p:sp>
      <p:sp>
        <p:nvSpPr>
          <p:cNvPr id="12" name="Shape 7"/>
          <p:cNvSpPr/>
          <p:nvPr/>
        </p:nvSpPr>
        <p:spPr>
          <a:xfrm>
            <a:off x="4297680" y="4846320"/>
            <a:ext cx="3566160" cy="1463040"/>
          </a:xfrm>
          <a:prstGeom prst="roundRect">
            <a:avLst>
              <a:gd name="adj" fmla="val 5000"/>
            </a:avLst>
          </a:prstGeom>
          <a:solidFill>
            <a:srgbClr val="EEF1F4"/>
          </a:solidFill>
          <a:ln w="12700">
            <a:solidFill>
              <a:srgbClr val="EEF1F4"/>
            </a:solidFill>
            <a:prstDash val="solid"/>
          </a:ln>
        </p:spPr>
      </p:sp>
      <p:sp>
        <p:nvSpPr>
          <p:cNvPr id="13" name="Text 8"/>
          <p:cNvSpPr txBox="1"/>
          <p:nvPr/>
        </p:nvSpPr>
        <p:spPr>
          <a:xfrm>
            <a:off x="4480560" y="4983480"/>
            <a:ext cx="3200400" cy="365760"/>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Condition 2: confidence</a:t>
            </a:r>
            <a:endParaRPr lang="en-US" sz="1500" dirty="0"/>
          </a:p>
        </p:txBody>
      </p:sp>
      <p:sp>
        <p:nvSpPr>
          <p:cNvPr id="14" name="Text 9"/>
          <p:cNvSpPr txBox="1"/>
          <p:nvPr/>
        </p:nvSpPr>
        <p:spPr>
          <a:xfrm>
            <a:off x="4480560" y="5394960"/>
            <a:ext cx="3200400" cy="82296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The five best detections of the track must average 0.65 or more.</a:t>
            </a:r>
            <a:endParaRPr lang="en-US" sz="1250" dirty="0"/>
          </a:p>
        </p:txBody>
      </p:sp>
      <p:sp>
        <p:nvSpPr>
          <p:cNvPr id="15" name="Shape 10"/>
          <p:cNvSpPr/>
          <p:nvPr/>
        </p:nvSpPr>
        <p:spPr>
          <a:xfrm>
            <a:off x="8046720" y="4846320"/>
            <a:ext cx="3593592" cy="1463040"/>
          </a:xfrm>
          <a:prstGeom prst="roundRect">
            <a:avLst>
              <a:gd name="adj" fmla="val 5000"/>
            </a:avLst>
          </a:prstGeom>
          <a:solidFill>
            <a:srgbClr val="12161C"/>
          </a:solidFill>
          <a:ln w="12700">
            <a:solidFill>
              <a:srgbClr val="12161C"/>
            </a:solidFill>
            <a:prstDash val="solid"/>
          </a:ln>
        </p:spPr>
      </p:sp>
      <p:sp>
        <p:nvSpPr>
          <p:cNvPr id="16" name="Text 11"/>
          <p:cNvSpPr txBox="1"/>
          <p:nvPr/>
        </p:nvSpPr>
        <p:spPr>
          <a:xfrm>
            <a:off x="8229600" y="4983480"/>
            <a:ext cx="3227832" cy="365760"/>
          </a:xfrm>
          <a:prstGeom prst="rect">
            <a:avLst/>
          </a:prstGeom>
          <a:noFill/>
          <a:ln/>
        </p:spPr>
        <p:txBody>
          <a:bodyPr wrap="square" lIns="0" tIns="0" rIns="0" bIns="0" rtlCol="0" anchor="ctr"/>
          <a:lstStyle/>
          <a:p>
            <a:pPr indent="0" marL="0">
              <a:buNone/>
            </a:pPr>
            <a:r>
              <a:rPr lang="en-US" sz="1500" b="1" dirty="0">
                <a:solidFill>
                  <a:srgbClr val="F2911B"/>
                </a:solidFill>
                <a:latin typeface="Calibri" pitchFamily="34" charset="0"/>
                <a:ea typeface="Calibri" pitchFamily="34" charset="-122"/>
                <a:cs typeface="Calibri" pitchFamily="34" charset="-120"/>
              </a:rPr>
              <a:t>Not set by hand</a:t>
            </a:r>
            <a:endParaRPr lang="en-US" sz="1500" dirty="0"/>
          </a:p>
        </p:txBody>
      </p:sp>
      <p:sp>
        <p:nvSpPr>
          <p:cNvPr id="17" name="Text 12"/>
          <p:cNvSpPr txBox="1"/>
          <p:nvPr/>
        </p:nvSpPr>
        <p:spPr>
          <a:xfrm>
            <a:off x="8229600" y="5394960"/>
            <a:ext cx="3227832" cy="82296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Chosen by a search over 378 settings on the training videos, then frozen.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How we measure where animals are lost</a:t>
            </a:r>
            <a:endParaRPr lang="en-US" sz="3000" dirty="0"/>
          </a:p>
        </p:txBody>
      </p:sp>
      <p:sp>
        <p:nvSpPr>
          <p:cNvPr id="3" name="Text 1"/>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5B6775"/>
                </a:solidFill>
                <a:latin typeface="Calibri" pitchFamily="34" charset="0"/>
                <a:ea typeface="Calibri" pitchFamily="34" charset="-122"/>
                <a:cs typeface="Calibri" pitchFamily="34" charset="-120"/>
              </a:rPr>
              <a:t>9</a:t>
            </a:r>
            <a:endParaRPr lang="en-US" sz="1000" dirty="0"/>
          </a:p>
        </p:txBody>
      </p:sp>
      <p:graphicFrame>
        <p:nvGraphicFramePr>
          <p:cNvPr id="5" name="Chart 0" descr=""/>
          <p:cNvGraphicFramePr/>
          <p:nvPr/>
        </p:nvGraphicFramePr>
        <p:xfrm>
          <a:off x="457200" y="1280160"/>
          <a:ext cx="5394960" cy="50292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126480" y="1371600"/>
            <a:ext cx="5513832" cy="1143000"/>
          </a:xfrm>
          <a:prstGeom prst="roundRect">
            <a:avLst>
              <a:gd name="adj" fmla="val 6400"/>
            </a:avLst>
          </a:prstGeom>
          <a:solidFill>
            <a:srgbClr val="EEF1F4"/>
          </a:solidFill>
          <a:ln w="12700">
            <a:solidFill>
              <a:srgbClr val="EEF1F4"/>
            </a:solidFill>
            <a:prstDash val="solid"/>
          </a:ln>
        </p:spPr>
      </p:sp>
      <p:sp>
        <p:nvSpPr>
          <p:cNvPr id="7" name="Shape 3"/>
          <p:cNvSpPr/>
          <p:nvPr/>
        </p:nvSpPr>
        <p:spPr>
          <a:xfrm>
            <a:off x="6309360" y="1490472"/>
            <a:ext cx="420624" cy="420624"/>
          </a:xfrm>
          <a:prstGeom prst="ellipse">
            <a:avLst/>
          </a:prstGeom>
          <a:solidFill>
            <a:srgbClr val="F2911B"/>
          </a:solidFill>
          <a:ln w="12700">
            <a:solidFill>
              <a:srgbClr val="F2911B"/>
            </a:solidFill>
            <a:prstDash val="solid"/>
          </a:ln>
        </p:spPr>
      </p:sp>
      <p:sp>
        <p:nvSpPr>
          <p:cNvPr id="8" name="Text 4"/>
          <p:cNvSpPr txBox="1"/>
          <p:nvPr/>
        </p:nvSpPr>
        <p:spPr>
          <a:xfrm>
            <a:off x="6309360" y="1490472"/>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1</a:t>
            </a:r>
            <a:endParaRPr lang="en-US" sz="1400" dirty="0"/>
          </a:p>
        </p:txBody>
      </p:sp>
      <p:sp>
        <p:nvSpPr>
          <p:cNvPr id="9" name="Text 5"/>
          <p:cNvSpPr txBox="1"/>
          <p:nvPr/>
        </p:nvSpPr>
        <p:spPr>
          <a:xfrm>
            <a:off x="6858000" y="1490472"/>
            <a:ext cx="1463040" cy="420624"/>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REACHED</a:t>
            </a:r>
            <a:endParaRPr lang="en-US" sz="1500" dirty="0"/>
          </a:p>
        </p:txBody>
      </p:sp>
      <p:sp>
        <p:nvSpPr>
          <p:cNvPr id="10" name="Text 6"/>
          <p:cNvSpPr txBox="1"/>
          <p:nvPr/>
        </p:nvSpPr>
        <p:spPr>
          <a:xfrm>
            <a:off x="8321040" y="1490472"/>
            <a:ext cx="3154680" cy="420624"/>
          </a:xfrm>
          <a:prstGeom prst="rect">
            <a:avLst/>
          </a:prstGeom>
          <a:noFill/>
          <a:ln/>
        </p:spPr>
        <p:txBody>
          <a:bodyPr wrap="square" lIns="0" tIns="0" rIns="0" bIns="0" rtlCol="0" anchor="ctr"/>
          <a:lstStyle/>
          <a:p>
            <a:pPr algn="r" indent="0" marL="0">
              <a:buNone/>
            </a:pPr>
            <a:r>
              <a:rPr lang="en-US" sz="1200" i="1" dirty="0">
                <a:solidFill>
                  <a:srgbClr val="4F6F8F"/>
                </a:solidFill>
                <a:latin typeface="Calibri" pitchFamily="34" charset="0"/>
                <a:ea typeface="Calibri" pitchFamily="34" charset="-122"/>
                <a:cs typeface="Calibri" pitchFamily="34" charset="-120"/>
              </a:rPr>
              <a:t>If not: lost by detection or tracking</a:t>
            </a:r>
            <a:endParaRPr lang="en-US" sz="1200" dirty="0"/>
          </a:p>
        </p:txBody>
      </p:sp>
      <p:sp>
        <p:nvSpPr>
          <p:cNvPr id="11" name="Text 7"/>
          <p:cNvSpPr txBox="1"/>
          <p:nvPr/>
        </p:nvSpPr>
        <p:spPr>
          <a:xfrm>
            <a:off x="6309360" y="1993392"/>
            <a:ext cx="5166360" cy="45720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Did any candidate track touch the deer in at least one frame?</a:t>
            </a:r>
            <a:endParaRPr lang="en-US" sz="1250" dirty="0"/>
          </a:p>
        </p:txBody>
      </p:sp>
      <p:sp>
        <p:nvSpPr>
          <p:cNvPr id="12" name="Shape 8"/>
          <p:cNvSpPr/>
          <p:nvPr/>
        </p:nvSpPr>
        <p:spPr>
          <a:xfrm>
            <a:off x="6126480" y="2651760"/>
            <a:ext cx="5513832" cy="1143000"/>
          </a:xfrm>
          <a:prstGeom prst="roundRect">
            <a:avLst>
              <a:gd name="adj" fmla="val 6400"/>
            </a:avLst>
          </a:prstGeom>
          <a:solidFill>
            <a:srgbClr val="EEF1F4"/>
          </a:solidFill>
          <a:ln w="12700">
            <a:solidFill>
              <a:srgbClr val="EEF1F4"/>
            </a:solidFill>
            <a:prstDash val="solid"/>
          </a:ln>
        </p:spPr>
      </p:sp>
      <p:sp>
        <p:nvSpPr>
          <p:cNvPr id="13" name="Shape 9"/>
          <p:cNvSpPr/>
          <p:nvPr/>
        </p:nvSpPr>
        <p:spPr>
          <a:xfrm>
            <a:off x="6309360" y="2770632"/>
            <a:ext cx="420624" cy="420624"/>
          </a:xfrm>
          <a:prstGeom prst="ellipse">
            <a:avLst/>
          </a:prstGeom>
          <a:solidFill>
            <a:srgbClr val="F2911B"/>
          </a:solidFill>
          <a:ln w="12700">
            <a:solidFill>
              <a:srgbClr val="F2911B"/>
            </a:solidFill>
            <a:prstDash val="solid"/>
          </a:ln>
        </p:spPr>
      </p:sp>
      <p:sp>
        <p:nvSpPr>
          <p:cNvPr id="14" name="Text 10"/>
          <p:cNvSpPr txBox="1"/>
          <p:nvPr/>
        </p:nvSpPr>
        <p:spPr>
          <a:xfrm>
            <a:off x="6309360" y="2770632"/>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6858000" y="2770632"/>
            <a:ext cx="1463040" cy="420624"/>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PRIMARY</a:t>
            </a:r>
            <a:endParaRPr lang="en-US" sz="1500" dirty="0"/>
          </a:p>
        </p:txBody>
      </p:sp>
      <p:sp>
        <p:nvSpPr>
          <p:cNvPr id="16" name="Text 12"/>
          <p:cNvSpPr txBox="1"/>
          <p:nvPr/>
        </p:nvSpPr>
        <p:spPr>
          <a:xfrm>
            <a:off x="8321040" y="2770632"/>
            <a:ext cx="3154680" cy="420624"/>
          </a:xfrm>
          <a:prstGeom prst="rect">
            <a:avLst/>
          </a:prstGeom>
          <a:noFill/>
          <a:ln/>
        </p:spPr>
        <p:txBody>
          <a:bodyPr wrap="square" lIns="0" tIns="0" rIns="0" bIns="0" rtlCol="0" anchor="ctr"/>
          <a:lstStyle/>
          <a:p>
            <a:pPr algn="r" indent="0" marL="0">
              <a:buNone/>
            </a:pPr>
            <a:r>
              <a:rPr lang="en-US" sz="1200" i="1" dirty="0">
                <a:solidFill>
                  <a:srgbClr val="4F6F8F"/>
                </a:solidFill>
                <a:latin typeface="Calibri" pitchFamily="34" charset="0"/>
                <a:ea typeface="Calibri" pitchFamily="34" charset="-122"/>
                <a:cs typeface="Calibri" pitchFamily="34" charset="-120"/>
              </a:rPr>
              <a:t>If not: lost by association</a:t>
            </a:r>
            <a:endParaRPr lang="en-US" sz="1200" dirty="0"/>
          </a:p>
        </p:txBody>
      </p:sp>
      <p:sp>
        <p:nvSpPr>
          <p:cNvPr id="17" name="Text 13"/>
          <p:cNvSpPr txBox="1"/>
          <p:nvPr/>
        </p:nvSpPr>
        <p:spPr>
          <a:xfrm>
            <a:off x="6309360" y="3273552"/>
            <a:ext cx="5166360" cy="45720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Does the deer have a track of its own, not shared with another deer?</a:t>
            </a:r>
            <a:endParaRPr lang="en-US" sz="1250" dirty="0"/>
          </a:p>
        </p:txBody>
      </p:sp>
      <p:sp>
        <p:nvSpPr>
          <p:cNvPr id="18" name="Shape 14"/>
          <p:cNvSpPr/>
          <p:nvPr/>
        </p:nvSpPr>
        <p:spPr>
          <a:xfrm>
            <a:off x="6126480" y="3931920"/>
            <a:ext cx="5513832" cy="1143000"/>
          </a:xfrm>
          <a:prstGeom prst="roundRect">
            <a:avLst>
              <a:gd name="adj" fmla="val 6400"/>
            </a:avLst>
          </a:prstGeom>
          <a:solidFill>
            <a:srgbClr val="EEF1F4"/>
          </a:solidFill>
          <a:ln w="12700">
            <a:solidFill>
              <a:srgbClr val="EEF1F4"/>
            </a:solidFill>
            <a:prstDash val="solid"/>
          </a:ln>
        </p:spPr>
      </p:sp>
      <p:sp>
        <p:nvSpPr>
          <p:cNvPr id="19" name="Shape 15"/>
          <p:cNvSpPr/>
          <p:nvPr/>
        </p:nvSpPr>
        <p:spPr>
          <a:xfrm>
            <a:off x="6309360" y="4050792"/>
            <a:ext cx="420624" cy="420624"/>
          </a:xfrm>
          <a:prstGeom prst="ellipse">
            <a:avLst/>
          </a:prstGeom>
          <a:solidFill>
            <a:srgbClr val="F2911B"/>
          </a:solidFill>
          <a:ln w="12700">
            <a:solidFill>
              <a:srgbClr val="F2911B"/>
            </a:solidFill>
            <a:prstDash val="solid"/>
          </a:ln>
        </p:spPr>
      </p:sp>
      <p:sp>
        <p:nvSpPr>
          <p:cNvPr id="20" name="Text 16"/>
          <p:cNvSpPr txBox="1"/>
          <p:nvPr/>
        </p:nvSpPr>
        <p:spPr>
          <a:xfrm>
            <a:off x="6309360" y="4050792"/>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6858000" y="4050792"/>
            <a:ext cx="1463040" cy="420624"/>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COUNTED</a:t>
            </a:r>
            <a:endParaRPr lang="en-US" sz="1500" dirty="0"/>
          </a:p>
        </p:txBody>
      </p:sp>
      <p:sp>
        <p:nvSpPr>
          <p:cNvPr id="22" name="Text 18"/>
          <p:cNvSpPr txBox="1"/>
          <p:nvPr/>
        </p:nvSpPr>
        <p:spPr>
          <a:xfrm>
            <a:off x="8321040" y="4050792"/>
            <a:ext cx="3154680" cy="420624"/>
          </a:xfrm>
          <a:prstGeom prst="rect">
            <a:avLst/>
          </a:prstGeom>
          <a:noFill/>
          <a:ln/>
        </p:spPr>
        <p:txBody>
          <a:bodyPr wrap="square" lIns="0" tIns="0" rIns="0" bIns="0" rtlCol="0" anchor="ctr"/>
          <a:lstStyle/>
          <a:p>
            <a:pPr algn="r" indent="0" marL="0">
              <a:buNone/>
            </a:pPr>
            <a:r>
              <a:rPr lang="en-US" sz="1200" i="1" dirty="0">
                <a:solidFill>
                  <a:srgbClr val="4F6F8F"/>
                </a:solidFill>
                <a:latin typeface="Calibri" pitchFamily="34" charset="0"/>
                <a:ea typeface="Calibri" pitchFamily="34" charset="-122"/>
                <a:cs typeface="Calibri" pitchFamily="34" charset="-120"/>
              </a:rPr>
              <a:t>If not: lost by confirmation</a:t>
            </a:r>
            <a:endParaRPr lang="en-US" sz="1200" dirty="0"/>
          </a:p>
        </p:txBody>
      </p:sp>
      <p:sp>
        <p:nvSpPr>
          <p:cNvPr id="23" name="Text 19"/>
          <p:cNvSpPr txBox="1"/>
          <p:nvPr/>
        </p:nvSpPr>
        <p:spPr>
          <a:xfrm>
            <a:off x="6309360" y="4553712"/>
            <a:ext cx="5166360" cy="45720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Did the rule accept a track on this deer?</a:t>
            </a:r>
            <a:endParaRPr lang="en-US" sz="1250" dirty="0"/>
          </a:p>
        </p:txBody>
      </p:sp>
      <p:sp>
        <p:nvSpPr>
          <p:cNvPr id="24" name="Shape 20"/>
          <p:cNvSpPr/>
          <p:nvPr/>
        </p:nvSpPr>
        <p:spPr>
          <a:xfrm>
            <a:off x="6126480" y="5212080"/>
            <a:ext cx="5513832" cy="1097280"/>
          </a:xfrm>
          <a:prstGeom prst="roundRect">
            <a:avLst>
              <a:gd name="adj" fmla="val 6667"/>
            </a:avLst>
          </a:prstGeom>
          <a:solidFill>
            <a:srgbClr val="12161C"/>
          </a:solidFill>
          <a:ln w="12700">
            <a:solidFill>
              <a:srgbClr val="12161C"/>
            </a:solidFill>
            <a:prstDash val="solid"/>
          </a:ln>
        </p:spPr>
      </p:sp>
      <p:sp>
        <p:nvSpPr>
          <p:cNvPr id="25" name="Text 21"/>
          <p:cNvSpPr txBox="1"/>
          <p:nvPr/>
        </p:nvSpPr>
        <p:spPr>
          <a:xfrm>
            <a:off x="6309360" y="5349240"/>
            <a:ext cx="5148072" cy="365760"/>
          </a:xfrm>
          <a:prstGeom prst="rect">
            <a:avLst/>
          </a:prstGeom>
          <a:noFill/>
          <a:ln/>
        </p:spPr>
        <p:txBody>
          <a:bodyPr wrap="square" lIns="0" tIns="0" rIns="0" bIns="0" rtlCol="0" anchor="ctr"/>
          <a:lstStyle/>
          <a:p>
            <a:pPr indent="0" marL="0">
              <a:buNone/>
            </a:pPr>
            <a:r>
              <a:rPr lang="en-US" sz="1500" b="1" dirty="0">
                <a:solidFill>
                  <a:srgbClr val="F2911B"/>
                </a:solidFill>
                <a:latin typeface="Calibri" pitchFamily="34" charset="0"/>
                <a:ea typeface="Calibri" pitchFamily="34" charset="-122"/>
                <a:cs typeface="Calibri" pitchFamily="34" charset="-120"/>
              </a:rPr>
              <a:t>Held-out videos only</a:t>
            </a:r>
            <a:endParaRPr lang="en-US" sz="1500" dirty="0"/>
          </a:p>
        </p:txBody>
      </p:sp>
      <p:sp>
        <p:nvSpPr>
          <p:cNvPr id="26" name="Text 22"/>
          <p:cNvSpPr txBox="1"/>
          <p:nvPr/>
        </p:nvSpPr>
        <p:spPr>
          <a:xfrm>
            <a:off x="6309360" y="5760720"/>
            <a:ext cx="5148072" cy="457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Results come from 13 videos the detector never trained on. Measured on all 32 videos, coverage looks 15.5 points higher.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Output: tracks through overlap and low contrast</a:t>
            </a:r>
            <a:endParaRPr lang="en-US" sz="3000" dirty="0"/>
          </a:p>
        </p:txBody>
      </p:sp>
      <p:sp>
        <p:nvSpPr>
          <p:cNvPr id="3" name="Text 1"/>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5B6775"/>
                </a:solidFill>
                <a:latin typeface="Calibri" pitchFamily="34" charset="0"/>
                <a:ea typeface="Calibri" pitchFamily="34" charset="-122"/>
                <a:cs typeface="Calibri" pitchFamily="34" charset="-120"/>
              </a:rPr>
              <a:t>10</a:t>
            </a:r>
            <a:endParaRPr lang="en-US" sz="1000" dirty="0"/>
          </a:p>
        </p:txBody>
      </p:sp>
      <p:pic>
        <p:nvPicPr>
          <p:cNvPr id="5" name="Image 0" descr="Six thermal frames with coloured track boxes on deer, including overlapping animals and low-contrast scenes">    </p:cNvPr>
          <p:cNvPicPr>
            <a:picLocks noChangeAspect="1"/>
          </p:cNvPicPr>
          <p:nvPr/>
        </p:nvPicPr>
        <p:blipFill>
          <a:blip r:embed="rId1"/>
          <a:stretch>
            <a:fillRect/>
          </a:stretch>
        </p:blipFill>
        <p:spPr>
          <a:xfrm>
            <a:off x="548640" y="1280160"/>
            <a:ext cx="8229600" cy="4671670"/>
          </a:xfrm>
          <a:prstGeom prst="rect">
            <a:avLst/>
          </a:prstGeom>
        </p:spPr>
      </p:pic>
      <p:sp>
        <p:nvSpPr>
          <p:cNvPr id="6" name="Shape 2"/>
          <p:cNvSpPr/>
          <p:nvPr/>
        </p:nvSpPr>
        <p:spPr>
          <a:xfrm>
            <a:off x="9006840" y="1280160"/>
            <a:ext cx="2633472" cy="1417320"/>
          </a:xfrm>
          <a:prstGeom prst="roundRect">
            <a:avLst>
              <a:gd name="adj" fmla="val 5161"/>
            </a:avLst>
          </a:prstGeom>
          <a:solidFill>
            <a:srgbClr val="EEF1F4"/>
          </a:solidFill>
          <a:ln w="12700">
            <a:solidFill>
              <a:srgbClr val="EEF1F4"/>
            </a:solidFill>
            <a:prstDash val="solid"/>
          </a:ln>
        </p:spPr>
      </p:sp>
      <p:sp>
        <p:nvSpPr>
          <p:cNvPr id="7" name="Text 3"/>
          <p:cNvSpPr txBox="1"/>
          <p:nvPr/>
        </p:nvSpPr>
        <p:spPr>
          <a:xfrm>
            <a:off x="9189720" y="1417320"/>
            <a:ext cx="2267712" cy="365760"/>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Identity persists</a:t>
            </a:r>
            <a:endParaRPr lang="en-US" sz="1500" dirty="0"/>
          </a:p>
        </p:txBody>
      </p:sp>
      <p:sp>
        <p:nvSpPr>
          <p:cNvPr id="8" name="Text 4"/>
          <p:cNvSpPr txBox="1"/>
          <p:nvPr/>
        </p:nvSpPr>
        <p:spPr>
          <a:xfrm>
            <a:off x="9189720" y="1828800"/>
            <a:ext cx="2267712" cy="77724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Top left pair: same scene, 0.3 s apart, five deer, five tracks.</a:t>
            </a:r>
            <a:endParaRPr lang="en-US" sz="1250" dirty="0"/>
          </a:p>
        </p:txBody>
      </p:sp>
      <p:sp>
        <p:nvSpPr>
          <p:cNvPr id="9" name="Shape 5"/>
          <p:cNvSpPr/>
          <p:nvPr/>
        </p:nvSpPr>
        <p:spPr>
          <a:xfrm>
            <a:off x="9006840" y="2907792"/>
            <a:ext cx="2633472" cy="1417320"/>
          </a:xfrm>
          <a:prstGeom prst="roundRect">
            <a:avLst>
              <a:gd name="adj" fmla="val 5161"/>
            </a:avLst>
          </a:prstGeom>
          <a:solidFill>
            <a:srgbClr val="EEF1F4"/>
          </a:solidFill>
          <a:ln w="12700">
            <a:solidFill>
              <a:srgbClr val="EEF1F4"/>
            </a:solidFill>
            <a:prstDash val="solid"/>
          </a:ln>
        </p:spPr>
      </p:sp>
      <p:sp>
        <p:nvSpPr>
          <p:cNvPr id="10" name="Text 6"/>
          <p:cNvSpPr txBox="1"/>
          <p:nvPr/>
        </p:nvSpPr>
        <p:spPr>
          <a:xfrm>
            <a:off x="9189720" y="3044952"/>
            <a:ext cx="2267712" cy="365760"/>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Overlap</a:t>
            </a:r>
            <a:endParaRPr lang="en-US" sz="1500" dirty="0"/>
          </a:p>
        </p:txBody>
      </p:sp>
      <p:sp>
        <p:nvSpPr>
          <p:cNvPr id="11" name="Text 7"/>
          <p:cNvSpPr txBox="1"/>
          <p:nvPr/>
        </p:nvSpPr>
        <p:spPr>
          <a:xfrm>
            <a:off x="9189720" y="3456432"/>
            <a:ext cx="2267712" cy="77724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Deer standing together are kept as separate tracks.</a:t>
            </a:r>
            <a:endParaRPr lang="en-US" sz="1250" dirty="0"/>
          </a:p>
        </p:txBody>
      </p:sp>
      <p:sp>
        <p:nvSpPr>
          <p:cNvPr id="12" name="Shape 8"/>
          <p:cNvSpPr/>
          <p:nvPr/>
        </p:nvSpPr>
        <p:spPr>
          <a:xfrm>
            <a:off x="9006840" y="4535424"/>
            <a:ext cx="2633472" cy="1417320"/>
          </a:xfrm>
          <a:prstGeom prst="roundRect">
            <a:avLst>
              <a:gd name="adj" fmla="val 5161"/>
            </a:avLst>
          </a:prstGeom>
          <a:solidFill>
            <a:srgbClr val="EEF1F4"/>
          </a:solidFill>
          <a:ln w="12700">
            <a:solidFill>
              <a:srgbClr val="EEF1F4"/>
            </a:solidFill>
            <a:prstDash val="solid"/>
          </a:ln>
        </p:spPr>
      </p:sp>
      <p:sp>
        <p:nvSpPr>
          <p:cNvPr id="13" name="Text 9"/>
          <p:cNvSpPr txBox="1"/>
          <p:nvPr/>
        </p:nvSpPr>
        <p:spPr>
          <a:xfrm>
            <a:off x="9189720" y="4672584"/>
            <a:ext cx="2267712" cy="365760"/>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Low contrast</a:t>
            </a:r>
            <a:endParaRPr lang="en-US" sz="1500" dirty="0"/>
          </a:p>
        </p:txBody>
      </p:sp>
      <p:sp>
        <p:nvSpPr>
          <p:cNvPr id="14" name="Text 10"/>
          <p:cNvSpPr txBox="1"/>
          <p:nvPr/>
        </p:nvSpPr>
        <p:spPr>
          <a:xfrm>
            <a:off x="9189720" y="5084064"/>
            <a:ext cx="2267712" cy="77724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Two faint deer on a uniform background are still two tracks.</a:t>
            </a:r>
            <a:endParaRPr lang="en-US" sz="1250" dirty="0"/>
          </a:p>
        </p:txBody>
      </p:sp>
      <p:sp>
        <p:nvSpPr>
          <p:cNvPr id="15" name="Text 11"/>
          <p:cNvSpPr txBox="1"/>
          <p:nvPr/>
        </p:nvSpPr>
        <p:spPr>
          <a:xfrm>
            <a:off x="548640" y="6007608"/>
            <a:ext cx="8229600" cy="274320"/>
          </a:xfrm>
          <a:prstGeom prst="rect">
            <a:avLst/>
          </a:prstGeom>
          <a:noFill/>
          <a:ln/>
        </p:spPr>
        <p:txBody>
          <a:bodyPr wrap="square" lIns="0" tIns="0" rIns="0" bIns="0" rtlCol="0" anchor="t"/>
          <a:lstStyle/>
          <a:p>
            <a:pPr indent="0" marL="0">
              <a:buNone/>
            </a:pPr>
            <a:r>
              <a:rPr lang="en-US" sz="1100" dirty="0">
                <a:solidFill>
                  <a:srgbClr val="5B6775"/>
                </a:solidFill>
                <a:latin typeface="Calibri" pitchFamily="34" charset="0"/>
                <a:ea typeface="Calibri" pitchFamily="34" charset="-122"/>
                <a:cs typeface="Calibri" pitchFamily="34" charset="-120"/>
              </a:rPr>
              <a:t>Frames from four held-out transects (NShelbyRd, GolfDr, Robinson, NWolfCreek).</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Output: evidence and a confidence for every counted deer</a:t>
            </a:r>
            <a:endParaRPr lang="en-US" sz="3000" dirty="0"/>
          </a:p>
        </p:txBody>
      </p:sp>
      <p:sp>
        <p:nvSpPr>
          <p:cNvPr id="3" name="Text 1"/>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5B6775"/>
                </a:solidFill>
                <a:latin typeface="Calibri" pitchFamily="34" charset="0"/>
                <a:ea typeface="Calibri" pitchFamily="34" charset="-122"/>
                <a:cs typeface="Calibri" pitchFamily="34" charset="-120"/>
              </a:rPr>
              <a:t>11</a:t>
            </a:r>
            <a:endParaRPr lang="en-US" sz="1000" dirty="0"/>
          </a:p>
        </p:txBody>
      </p:sp>
      <p:pic>
        <p:nvPicPr>
          <p:cNvPr id="5" name="Image 0" descr="Two rows of six thermal crops, each row following one deer over time with time stamp and confidence under each crop">    </p:cNvPr>
          <p:cNvPicPr>
            <a:picLocks noChangeAspect="1"/>
          </p:cNvPicPr>
          <p:nvPr/>
        </p:nvPicPr>
        <p:blipFill>
          <a:blip r:embed="rId1"/>
          <a:stretch>
            <a:fillRect/>
          </a:stretch>
        </p:blipFill>
        <p:spPr>
          <a:xfrm>
            <a:off x="1065276" y="1234440"/>
            <a:ext cx="10058400" cy="3802990"/>
          </a:xfrm>
          <a:prstGeom prst="rect">
            <a:avLst/>
          </a:prstGeom>
        </p:spPr>
      </p:pic>
      <p:sp>
        <p:nvSpPr>
          <p:cNvPr id="6" name="Shape 2"/>
          <p:cNvSpPr/>
          <p:nvPr/>
        </p:nvSpPr>
        <p:spPr>
          <a:xfrm>
            <a:off x="548640" y="5212080"/>
            <a:ext cx="3566160" cy="1143000"/>
          </a:xfrm>
          <a:prstGeom prst="roundRect">
            <a:avLst>
              <a:gd name="adj" fmla="val 6400"/>
            </a:avLst>
          </a:prstGeom>
          <a:solidFill>
            <a:srgbClr val="EEF1F4"/>
          </a:solidFill>
          <a:ln w="12700">
            <a:solidFill>
              <a:srgbClr val="EEF1F4"/>
            </a:solidFill>
            <a:prstDash val="solid"/>
          </a:ln>
        </p:spPr>
      </p:sp>
      <p:sp>
        <p:nvSpPr>
          <p:cNvPr id="7" name="Text 3"/>
          <p:cNvSpPr txBox="1"/>
          <p:nvPr/>
        </p:nvSpPr>
        <p:spPr>
          <a:xfrm>
            <a:off x="731520" y="5303520"/>
            <a:ext cx="3200400" cy="548640"/>
          </a:xfrm>
          <a:prstGeom prst="rect">
            <a:avLst/>
          </a:prstGeom>
          <a:noFill/>
          <a:ln/>
        </p:spPr>
        <p:txBody>
          <a:bodyPr wrap="square" lIns="0" tIns="0" rIns="0" bIns="0" rtlCol="0" anchor="ctr"/>
          <a:lstStyle/>
          <a:p>
            <a:pPr indent="0" marL="0">
              <a:buNone/>
            </a:pPr>
            <a:r>
              <a:rPr lang="en-US" sz="2400" b="1" dirty="0">
                <a:solidFill>
                  <a:srgbClr val="F2911B"/>
                </a:solidFill>
                <a:latin typeface="Cambria" pitchFamily="34" charset="0"/>
                <a:ea typeface="Cambria" pitchFamily="34" charset="-122"/>
                <a:cs typeface="Cambria" pitchFamily="34" charset="-120"/>
              </a:rPr>
              <a:t>92.1%</a:t>
            </a:r>
            <a:endParaRPr lang="en-US" sz="2400" dirty="0"/>
          </a:p>
        </p:txBody>
      </p:sp>
      <p:sp>
        <p:nvSpPr>
          <p:cNvPr id="8" name="Text 4"/>
          <p:cNvSpPr txBox="1"/>
          <p:nvPr/>
        </p:nvSpPr>
        <p:spPr>
          <a:xfrm>
            <a:off x="731520" y="5870448"/>
            <a:ext cx="3200400" cy="41148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of counted deer have confidence 0.80 or higher</a:t>
            </a:r>
            <a:endParaRPr lang="en-US" sz="1200" dirty="0"/>
          </a:p>
        </p:txBody>
      </p:sp>
      <p:sp>
        <p:nvSpPr>
          <p:cNvPr id="9" name="Shape 5"/>
          <p:cNvSpPr/>
          <p:nvPr/>
        </p:nvSpPr>
        <p:spPr>
          <a:xfrm>
            <a:off x="4297680" y="5212080"/>
            <a:ext cx="3566160" cy="1143000"/>
          </a:xfrm>
          <a:prstGeom prst="roundRect">
            <a:avLst>
              <a:gd name="adj" fmla="val 6400"/>
            </a:avLst>
          </a:prstGeom>
          <a:solidFill>
            <a:srgbClr val="EEF1F4"/>
          </a:solidFill>
          <a:ln w="12700">
            <a:solidFill>
              <a:srgbClr val="EEF1F4"/>
            </a:solidFill>
            <a:prstDash val="solid"/>
          </a:ln>
        </p:spPr>
      </p:sp>
      <p:sp>
        <p:nvSpPr>
          <p:cNvPr id="10" name="Text 6"/>
          <p:cNvSpPr txBox="1"/>
          <p:nvPr/>
        </p:nvSpPr>
        <p:spPr>
          <a:xfrm>
            <a:off x="4480560" y="5303520"/>
            <a:ext cx="3200400" cy="548640"/>
          </a:xfrm>
          <a:prstGeom prst="rect">
            <a:avLst/>
          </a:prstGeom>
          <a:noFill/>
          <a:ln/>
        </p:spPr>
        <p:txBody>
          <a:bodyPr wrap="square" lIns="0" tIns="0" rIns="0" bIns="0" rtlCol="0" anchor="ctr"/>
          <a:lstStyle/>
          <a:p>
            <a:pPr indent="0" marL="0">
              <a:buNone/>
            </a:pPr>
            <a:r>
              <a:rPr lang="en-US" sz="2400" b="1" dirty="0">
                <a:solidFill>
                  <a:srgbClr val="F2911B"/>
                </a:solidFill>
                <a:latin typeface="Cambria" pitchFamily="34" charset="0"/>
                <a:ea typeface="Cambria" pitchFamily="34" charset="-122"/>
                <a:cs typeface="Cambria" pitchFamily="34" charset="-120"/>
              </a:rPr>
              <a:t>793 tracks</a:t>
            </a:r>
            <a:endParaRPr lang="en-US" sz="2400" dirty="0"/>
          </a:p>
        </p:txBody>
      </p:sp>
      <p:sp>
        <p:nvSpPr>
          <p:cNvPr id="11" name="Text 7"/>
          <p:cNvSpPr txBox="1"/>
          <p:nvPr/>
        </p:nvSpPr>
        <p:spPr>
          <a:xfrm>
            <a:off x="4480560" y="5870448"/>
            <a:ext cx="3200400" cy="41148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with low confidence are flagged for human review</a:t>
            </a:r>
            <a:endParaRPr lang="en-US" sz="1200" dirty="0"/>
          </a:p>
        </p:txBody>
      </p:sp>
      <p:sp>
        <p:nvSpPr>
          <p:cNvPr id="12" name="Shape 8"/>
          <p:cNvSpPr/>
          <p:nvPr/>
        </p:nvSpPr>
        <p:spPr>
          <a:xfrm>
            <a:off x="8046720" y="5212080"/>
            <a:ext cx="3593592" cy="1143000"/>
          </a:xfrm>
          <a:prstGeom prst="roundRect">
            <a:avLst>
              <a:gd name="adj" fmla="val 6400"/>
            </a:avLst>
          </a:prstGeom>
          <a:solidFill>
            <a:srgbClr val="EEF1F4"/>
          </a:solidFill>
          <a:ln w="12700">
            <a:solidFill>
              <a:srgbClr val="EEF1F4"/>
            </a:solidFill>
            <a:prstDash val="solid"/>
          </a:ln>
        </p:spPr>
      </p:sp>
      <p:sp>
        <p:nvSpPr>
          <p:cNvPr id="13" name="Text 9"/>
          <p:cNvSpPr txBox="1"/>
          <p:nvPr/>
        </p:nvSpPr>
        <p:spPr>
          <a:xfrm>
            <a:off x="8229600" y="5303520"/>
            <a:ext cx="3227832" cy="548640"/>
          </a:xfrm>
          <a:prstGeom prst="rect">
            <a:avLst/>
          </a:prstGeom>
          <a:noFill/>
          <a:ln/>
        </p:spPr>
        <p:txBody>
          <a:bodyPr wrap="square" lIns="0" tIns="0" rIns="0" bIns="0" rtlCol="0" anchor="ctr"/>
          <a:lstStyle/>
          <a:p>
            <a:pPr indent="0" marL="0">
              <a:buNone/>
            </a:pPr>
            <a:r>
              <a:rPr lang="en-US" sz="2400" b="1" dirty="0">
                <a:solidFill>
                  <a:srgbClr val="F2911B"/>
                </a:solidFill>
                <a:latin typeface="Cambria" pitchFamily="34" charset="0"/>
                <a:ea typeface="Cambria" pitchFamily="34" charset="-122"/>
                <a:cs typeface="Cambria" pitchFamily="34" charset="-120"/>
              </a:rPr>
              <a:t>One sheet per deer</a:t>
            </a:r>
            <a:endParaRPr lang="en-US" sz="2400" dirty="0"/>
          </a:p>
        </p:txBody>
      </p:sp>
      <p:sp>
        <p:nvSpPr>
          <p:cNvPr id="14" name="Text 10"/>
          <p:cNvSpPr txBox="1"/>
          <p:nvPr/>
        </p:nvSpPr>
        <p:spPr>
          <a:xfrm>
            <a:off x="8229600" y="5870448"/>
            <a:ext cx="3227832" cy="41148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so every count can be checked by eye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Result 1: detection is close to solved</a:t>
            </a:r>
            <a:endParaRPr lang="en-US" sz="3000" dirty="0"/>
          </a:p>
        </p:txBody>
      </p:sp>
      <p:sp>
        <p:nvSpPr>
          <p:cNvPr id="3" name="Text 1"/>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5B6775"/>
                </a:solidFill>
                <a:latin typeface="Calibri" pitchFamily="34" charset="0"/>
                <a:ea typeface="Calibri" pitchFamily="34" charset="-122"/>
                <a:cs typeface="Calibri" pitchFamily="34" charset="-120"/>
              </a:rPr>
              <a:t>12</a:t>
            </a:r>
            <a:endParaRPr lang="en-US" sz="1000" dirty="0"/>
          </a:p>
        </p:txBody>
      </p:sp>
      <p:graphicFrame>
        <p:nvGraphicFramePr>
          <p:cNvPr id="5" name="Chart 0" descr=""/>
          <p:cNvGraphicFramePr/>
          <p:nvPr/>
        </p:nvGraphicFramePr>
        <p:xfrm>
          <a:off x="457200" y="1280160"/>
          <a:ext cx="6949440" cy="51206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772400" y="1371600"/>
            <a:ext cx="3886200" cy="1508760"/>
          </a:xfrm>
          <a:prstGeom prst="roundRect">
            <a:avLst>
              <a:gd name="adj" fmla="val 4848"/>
            </a:avLst>
          </a:prstGeom>
          <a:solidFill>
            <a:srgbClr val="EEF1F4"/>
          </a:solidFill>
          <a:ln w="12700">
            <a:solidFill>
              <a:srgbClr val="EEF1F4"/>
            </a:solidFill>
            <a:prstDash val="solid"/>
          </a:ln>
        </p:spPr>
      </p:sp>
      <p:sp>
        <p:nvSpPr>
          <p:cNvPr id="7" name="Text 3"/>
          <p:cNvSpPr txBox="1"/>
          <p:nvPr/>
        </p:nvSpPr>
        <p:spPr>
          <a:xfrm>
            <a:off x="7955280" y="1463040"/>
            <a:ext cx="3520440" cy="548640"/>
          </a:xfrm>
          <a:prstGeom prst="rect">
            <a:avLst/>
          </a:prstGeom>
          <a:noFill/>
          <a:ln/>
        </p:spPr>
        <p:txBody>
          <a:bodyPr wrap="square" lIns="0" tIns="0" rIns="0" bIns="0" rtlCol="0" anchor="ctr"/>
          <a:lstStyle/>
          <a:p>
            <a:pPr indent="0" marL="0">
              <a:buNone/>
            </a:pPr>
            <a:r>
              <a:rPr lang="en-US" sz="2400" b="1" dirty="0">
                <a:solidFill>
                  <a:srgbClr val="F2911B"/>
                </a:solidFill>
                <a:latin typeface="Cambria" pitchFamily="34" charset="0"/>
                <a:ea typeface="Cambria" pitchFamily="34" charset="-122"/>
                <a:cs typeface="Cambria" pitchFamily="34" charset="-120"/>
              </a:rPr>
              <a:t>82 to 99.6%</a:t>
            </a:r>
            <a:endParaRPr lang="en-US" sz="2400" dirty="0"/>
          </a:p>
        </p:txBody>
      </p:sp>
      <p:sp>
        <p:nvSpPr>
          <p:cNvPr id="8" name="Text 4"/>
          <p:cNvSpPr txBox="1"/>
          <p:nvPr/>
        </p:nvSpPr>
        <p:spPr>
          <a:xfrm>
            <a:off x="7955280" y="2029968"/>
            <a:ext cx="3520440" cy="77724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of deer are found at least once by every detector</a:t>
            </a:r>
            <a:endParaRPr lang="en-US" sz="1200" dirty="0"/>
          </a:p>
        </p:txBody>
      </p:sp>
      <p:sp>
        <p:nvSpPr>
          <p:cNvPr id="9" name="Shape 5"/>
          <p:cNvSpPr/>
          <p:nvPr/>
        </p:nvSpPr>
        <p:spPr>
          <a:xfrm>
            <a:off x="7772400" y="3063240"/>
            <a:ext cx="3886200" cy="1508760"/>
          </a:xfrm>
          <a:prstGeom prst="roundRect">
            <a:avLst>
              <a:gd name="adj" fmla="val 4848"/>
            </a:avLst>
          </a:prstGeom>
          <a:solidFill>
            <a:srgbClr val="EEF1F4"/>
          </a:solidFill>
          <a:ln w="12700">
            <a:solidFill>
              <a:srgbClr val="EEF1F4"/>
            </a:solidFill>
            <a:prstDash val="solid"/>
          </a:ln>
        </p:spPr>
      </p:sp>
      <p:sp>
        <p:nvSpPr>
          <p:cNvPr id="10" name="Text 6"/>
          <p:cNvSpPr txBox="1"/>
          <p:nvPr/>
        </p:nvSpPr>
        <p:spPr>
          <a:xfrm>
            <a:off x="7955280" y="3154680"/>
            <a:ext cx="3520440" cy="548640"/>
          </a:xfrm>
          <a:prstGeom prst="rect">
            <a:avLst/>
          </a:prstGeom>
          <a:noFill/>
          <a:ln/>
        </p:spPr>
        <p:txBody>
          <a:bodyPr wrap="square" lIns="0" tIns="0" rIns="0" bIns="0" rtlCol="0" anchor="ctr"/>
          <a:lstStyle/>
          <a:p>
            <a:pPr indent="0" marL="0">
              <a:buNone/>
            </a:pPr>
            <a:r>
              <a:rPr lang="en-US" sz="2400" b="1" dirty="0">
                <a:solidFill>
                  <a:srgbClr val="F2911B"/>
                </a:solidFill>
                <a:latin typeface="Cambria" pitchFamily="34" charset="0"/>
                <a:ea typeface="Cambria" pitchFamily="34" charset="-122"/>
                <a:cs typeface="Cambria" pitchFamily="34" charset="-120"/>
              </a:rPr>
              <a:t>0.37 to 0.51</a:t>
            </a:r>
            <a:endParaRPr lang="en-US" sz="2400" dirty="0"/>
          </a:p>
        </p:txBody>
      </p:sp>
      <p:sp>
        <p:nvSpPr>
          <p:cNvPr id="11" name="Text 7"/>
          <p:cNvSpPr txBox="1"/>
          <p:nvPr/>
        </p:nvSpPr>
        <p:spPr>
          <a:xfrm>
            <a:off x="7955280" y="3721608"/>
            <a:ext cx="3520440" cy="77724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is the usual per-box score for the same models. It is strict for 27-pixel animals.</a:t>
            </a:r>
            <a:endParaRPr lang="en-US" sz="1200" dirty="0"/>
          </a:p>
        </p:txBody>
      </p:sp>
      <p:sp>
        <p:nvSpPr>
          <p:cNvPr id="12" name="Shape 8"/>
          <p:cNvSpPr/>
          <p:nvPr/>
        </p:nvSpPr>
        <p:spPr>
          <a:xfrm>
            <a:off x="7772400" y="4754880"/>
            <a:ext cx="3886200" cy="1600200"/>
          </a:xfrm>
          <a:prstGeom prst="roundRect">
            <a:avLst>
              <a:gd name="adj" fmla="val 4571"/>
            </a:avLst>
          </a:prstGeom>
          <a:solidFill>
            <a:srgbClr val="12161C"/>
          </a:solidFill>
          <a:ln w="12700">
            <a:solidFill>
              <a:srgbClr val="12161C"/>
            </a:solidFill>
            <a:prstDash val="solid"/>
          </a:ln>
        </p:spPr>
      </p:sp>
      <p:sp>
        <p:nvSpPr>
          <p:cNvPr id="13" name="Text 9"/>
          <p:cNvSpPr txBox="1"/>
          <p:nvPr/>
        </p:nvSpPr>
        <p:spPr>
          <a:xfrm>
            <a:off x="7955280" y="4892040"/>
            <a:ext cx="3520440" cy="365760"/>
          </a:xfrm>
          <a:prstGeom prst="rect">
            <a:avLst/>
          </a:prstGeom>
          <a:noFill/>
          <a:ln/>
        </p:spPr>
        <p:txBody>
          <a:bodyPr wrap="square" lIns="0" tIns="0" rIns="0" bIns="0" rtlCol="0" anchor="ctr"/>
          <a:lstStyle/>
          <a:p>
            <a:pPr indent="0" marL="0">
              <a:buNone/>
            </a:pPr>
            <a:r>
              <a:rPr lang="en-US" sz="1500" b="1" dirty="0">
                <a:solidFill>
                  <a:srgbClr val="F2911B"/>
                </a:solidFill>
                <a:latin typeface="Calibri" pitchFamily="34" charset="0"/>
                <a:ea typeface="Calibri" pitchFamily="34" charset="-122"/>
                <a:cs typeface="Calibri" pitchFamily="34" charset="-120"/>
              </a:rPr>
              <a:t>Our choice: YOLO11m</a:t>
            </a:r>
            <a:endParaRPr lang="en-US" sz="1500" dirty="0"/>
          </a:p>
        </p:txBody>
      </p:sp>
      <p:sp>
        <p:nvSpPr>
          <p:cNvPr id="14" name="Text 10"/>
          <p:cNvSpPr txBox="1"/>
          <p:nvPr/>
        </p:nvSpPr>
        <p:spPr>
          <a:xfrm>
            <a:off x="7955280" y="5303520"/>
            <a:ext cx="3520440" cy="96012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Chosen for few false alarms (precision 0.90), not for the best per-box score.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Result 2: counts per transect on unseen videos</a:t>
            </a:r>
            <a:endParaRPr lang="en-US" sz="3000" dirty="0"/>
          </a:p>
        </p:txBody>
      </p:sp>
      <p:sp>
        <p:nvSpPr>
          <p:cNvPr id="3" name="Text 1"/>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5B6775"/>
                </a:solidFill>
                <a:latin typeface="Calibri" pitchFamily="34" charset="0"/>
                <a:ea typeface="Calibri" pitchFamily="34" charset="-122"/>
                <a:cs typeface="Calibri" pitchFamily="34" charset="-120"/>
              </a:rPr>
              <a:t>13</a:t>
            </a:r>
            <a:endParaRPr lang="en-US" sz="1000" dirty="0"/>
          </a:p>
        </p:txBody>
      </p:sp>
      <p:graphicFrame>
        <p:nvGraphicFramePr>
          <p:cNvPr id="5" name="Chart 0" descr=""/>
          <p:cNvGraphicFramePr/>
          <p:nvPr/>
        </p:nvGraphicFramePr>
        <p:xfrm>
          <a:off x="457200" y="1280160"/>
          <a:ext cx="7680960" cy="51206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8412480" y="1371600"/>
            <a:ext cx="3246120" cy="1508760"/>
          </a:xfrm>
          <a:prstGeom prst="roundRect">
            <a:avLst>
              <a:gd name="adj" fmla="val 4848"/>
            </a:avLst>
          </a:prstGeom>
          <a:solidFill>
            <a:srgbClr val="EEF1F4"/>
          </a:solidFill>
          <a:ln w="12700">
            <a:solidFill>
              <a:srgbClr val="EEF1F4"/>
            </a:solidFill>
            <a:prstDash val="solid"/>
          </a:ln>
        </p:spPr>
      </p:sp>
      <p:sp>
        <p:nvSpPr>
          <p:cNvPr id="7" name="Text 3"/>
          <p:cNvSpPr txBox="1"/>
          <p:nvPr/>
        </p:nvSpPr>
        <p:spPr>
          <a:xfrm>
            <a:off x="8595360" y="1463040"/>
            <a:ext cx="2880360" cy="548640"/>
          </a:xfrm>
          <a:prstGeom prst="rect">
            <a:avLst/>
          </a:prstGeom>
          <a:noFill/>
          <a:ln/>
        </p:spPr>
        <p:txBody>
          <a:bodyPr wrap="square" lIns="0" tIns="0" rIns="0" bIns="0" rtlCol="0" anchor="ctr"/>
          <a:lstStyle/>
          <a:p>
            <a:pPr indent="0" marL="0">
              <a:buNone/>
            </a:pPr>
            <a:r>
              <a:rPr lang="en-US" sz="2400" b="1" dirty="0">
                <a:solidFill>
                  <a:srgbClr val="F2911B"/>
                </a:solidFill>
                <a:latin typeface="Cambria" pitchFamily="34" charset="0"/>
                <a:ea typeface="Cambria" pitchFamily="34" charset="-122"/>
                <a:cs typeface="Cambria" pitchFamily="34" charset="-120"/>
              </a:rPr>
              <a:t>58 of 83</a:t>
            </a:r>
            <a:endParaRPr lang="en-US" sz="2400" dirty="0"/>
          </a:p>
        </p:txBody>
      </p:sp>
      <p:sp>
        <p:nvSpPr>
          <p:cNvPr id="8" name="Text 4"/>
          <p:cNvSpPr txBox="1"/>
          <p:nvPr/>
        </p:nvSpPr>
        <p:spPr>
          <a:xfrm>
            <a:off x="8595360" y="2029968"/>
            <a:ext cx="2880360" cy="77724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deer reported over the 13 videos</a:t>
            </a:r>
            <a:endParaRPr lang="en-US" sz="1200" dirty="0"/>
          </a:p>
        </p:txBody>
      </p:sp>
      <p:sp>
        <p:nvSpPr>
          <p:cNvPr id="9" name="Shape 5"/>
          <p:cNvSpPr/>
          <p:nvPr/>
        </p:nvSpPr>
        <p:spPr>
          <a:xfrm>
            <a:off x="8412480" y="3063240"/>
            <a:ext cx="3246120" cy="1508760"/>
          </a:xfrm>
          <a:prstGeom prst="roundRect">
            <a:avLst>
              <a:gd name="adj" fmla="val 4848"/>
            </a:avLst>
          </a:prstGeom>
          <a:solidFill>
            <a:srgbClr val="EEF1F4"/>
          </a:solidFill>
          <a:ln w="12700">
            <a:solidFill>
              <a:srgbClr val="EEF1F4"/>
            </a:solidFill>
            <a:prstDash val="solid"/>
          </a:ln>
        </p:spPr>
      </p:sp>
      <p:sp>
        <p:nvSpPr>
          <p:cNvPr id="10" name="Text 6"/>
          <p:cNvSpPr txBox="1"/>
          <p:nvPr/>
        </p:nvSpPr>
        <p:spPr>
          <a:xfrm>
            <a:off x="8595360" y="3154680"/>
            <a:ext cx="2880360" cy="548640"/>
          </a:xfrm>
          <a:prstGeom prst="rect">
            <a:avLst/>
          </a:prstGeom>
          <a:noFill/>
          <a:ln/>
        </p:spPr>
        <p:txBody>
          <a:bodyPr wrap="square" lIns="0" tIns="0" rIns="0" bIns="0" rtlCol="0" anchor="ctr"/>
          <a:lstStyle/>
          <a:p>
            <a:pPr indent="0" marL="0">
              <a:buNone/>
            </a:pPr>
            <a:r>
              <a:rPr lang="en-US" sz="2400" b="1" dirty="0">
                <a:solidFill>
                  <a:srgbClr val="F2911B"/>
                </a:solidFill>
                <a:latin typeface="Cambria" pitchFamily="34" charset="0"/>
                <a:ea typeface="Cambria" pitchFamily="34" charset="-122"/>
                <a:cs typeface="Cambria" pitchFamily="34" charset="-120"/>
              </a:rPr>
              <a:t>2.38</a:t>
            </a:r>
            <a:endParaRPr lang="en-US" sz="2400" dirty="0"/>
          </a:p>
        </p:txBody>
      </p:sp>
      <p:sp>
        <p:nvSpPr>
          <p:cNvPr id="11" name="Text 7"/>
          <p:cNvSpPr txBox="1"/>
          <p:nvPr/>
        </p:nvSpPr>
        <p:spPr>
          <a:xfrm>
            <a:off x="8595360" y="3721608"/>
            <a:ext cx="2880360" cy="777240"/>
          </a:xfrm>
          <a:prstGeom prst="rect">
            <a:avLst/>
          </a:prstGeom>
          <a:noFill/>
          <a:ln/>
        </p:spPr>
        <p:txBody>
          <a:bodyPr wrap="square" lIns="0" tIns="0" rIns="0" bIns="0" rtlCol="0" anchor="t"/>
          <a:lstStyle/>
          <a:p>
            <a:pPr indent="0" marL="0">
              <a:buNone/>
            </a:pPr>
            <a:r>
              <a:rPr lang="en-US" sz="1200" dirty="0">
                <a:solidFill>
                  <a:srgbClr val="5B6775"/>
                </a:solidFill>
                <a:latin typeface="Calibri" pitchFamily="34" charset="0"/>
                <a:ea typeface="Calibri" pitchFamily="34" charset="-122"/>
                <a:cs typeface="Calibri" pitchFamily="34" charset="-120"/>
              </a:rPr>
              <a:t>mean absolute error, in deer per video</a:t>
            </a:r>
            <a:endParaRPr lang="en-US" sz="1200" dirty="0"/>
          </a:p>
        </p:txBody>
      </p:sp>
      <p:sp>
        <p:nvSpPr>
          <p:cNvPr id="12" name="Shape 8"/>
          <p:cNvSpPr/>
          <p:nvPr/>
        </p:nvSpPr>
        <p:spPr>
          <a:xfrm>
            <a:off x="8412480" y="4754880"/>
            <a:ext cx="3246120" cy="1600200"/>
          </a:xfrm>
          <a:prstGeom prst="roundRect">
            <a:avLst>
              <a:gd name="adj" fmla="val 4571"/>
            </a:avLst>
          </a:prstGeom>
          <a:solidFill>
            <a:srgbClr val="12161C"/>
          </a:solidFill>
          <a:ln w="12700">
            <a:solidFill>
              <a:srgbClr val="12161C"/>
            </a:solidFill>
            <a:prstDash val="solid"/>
          </a:ln>
        </p:spPr>
      </p:sp>
      <p:sp>
        <p:nvSpPr>
          <p:cNvPr id="13" name="Text 9"/>
          <p:cNvSpPr txBox="1"/>
          <p:nvPr/>
        </p:nvSpPr>
        <p:spPr>
          <a:xfrm>
            <a:off x="8595360" y="4892040"/>
            <a:ext cx="2880360" cy="365760"/>
          </a:xfrm>
          <a:prstGeom prst="rect">
            <a:avLst/>
          </a:prstGeom>
          <a:noFill/>
          <a:ln/>
        </p:spPr>
        <p:txBody>
          <a:bodyPr wrap="square" lIns="0" tIns="0" rIns="0" bIns="0" rtlCol="0" anchor="ctr"/>
          <a:lstStyle/>
          <a:p>
            <a:pPr indent="0" marL="0">
              <a:buNone/>
            </a:pPr>
            <a:r>
              <a:rPr lang="en-US" sz="1500" b="1" dirty="0">
                <a:solidFill>
                  <a:srgbClr val="F2911B"/>
                </a:solidFill>
                <a:latin typeface="Calibri" pitchFamily="34" charset="0"/>
                <a:ea typeface="Calibri" pitchFamily="34" charset="-122"/>
                <a:cs typeface="Calibri" pitchFamily="34" charset="-120"/>
              </a:rPr>
              <a:t>Under-counts</a:t>
            </a:r>
            <a:endParaRPr lang="en-US" sz="1500" dirty="0"/>
          </a:p>
        </p:txBody>
      </p:sp>
      <p:sp>
        <p:nvSpPr>
          <p:cNvPr id="14" name="Text 10"/>
          <p:cNvSpPr txBox="1"/>
          <p:nvPr/>
        </p:nvSpPr>
        <p:spPr>
          <a:xfrm>
            <a:off x="8595360" y="5303520"/>
            <a:ext cx="2880360" cy="96012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Only 2 of 13 videos are counted too high. The error is in the safe direction.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Result 3: more candidates, fewer deer counted</a:t>
            </a:r>
            <a:endParaRPr lang="en-US" sz="3000" dirty="0"/>
          </a:p>
        </p:txBody>
      </p:sp>
      <p:sp>
        <p:nvSpPr>
          <p:cNvPr id="3" name="Text 1"/>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5B6775"/>
                </a:solidFill>
                <a:latin typeface="Calibri" pitchFamily="34" charset="0"/>
                <a:ea typeface="Calibri" pitchFamily="34" charset="-122"/>
                <a:cs typeface="Calibri" pitchFamily="34" charset="-120"/>
              </a:rPr>
              <a:t>14</a:t>
            </a:r>
            <a:endParaRPr lang="en-US" sz="1000" dirty="0"/>
          </a:p>
        </p:txBody>
      </p:sp>
      <p:graphicFrame>
        <p:nvGraphicFramePr>
          <p:cNvPr id="5" name="Chart 0" descr=""/>
          <p:cNvGraphicFramePr/>
          <p:nvPr/>
        </p:nvGraphicFramePr>
        <p:xfrm>
          <a:off x="457200" y="1280160"/>
          <a:ext cx="6126480" cy="39776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766560" y="1280160"/>
          <a:ext cx="4937760" cy="397764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48640" y="5440680"/>
            <a:ext cx="3566160" cy="914400"/>
          </a:xfrm>
          <a:prstGeom prst="roundRect">
            <a:avLst>
              <a:gd name="adj" fmla="val 8000"/>
            </a:avLst>
          </a:prstGeom>
          <a:solidFill>
            <a:srgbClr val="EEF1F4"/>
          </a:solidFill>
          <a:ln w="12700">
            <a:solidFill>
              <a:srgbClr val="EEF1F4"/>
            </a:solidFill>
            <a:prstDash val="solid"/>
          </a:ln>
        </p:spPr>
      </p:sp>
      <p:sp>
        <p:nvSpPr>
          <p:cNvPr id="8" name="Text 3"/>
          <p:cNvSpPr txBox="1"/>
          <p:nvPr/>
        </p:nvSpPr>
        <p:spPr>
          <a:xfrm>
            <a:off x="713232" y="5440680"/>
            <a:ext cx="3236976" cy="914400"/>
          </a:xfrm>
          <a:prstGeom prst="rect">
            <a:avLst/>
          </a:prstGeom>
          <a:noFill/>
          <a:ln/>
        </p:spPr>
        <p:txBody>
          <a:bodyPr wrap="square" lIns="0" tIns="0" rIns="0" bIns="0" rtlCol="0" anchor="ctr"/>
          <a:lstStyle/>
          <a:p>
            <a:pPr indent="0" marL="0">
              <a:buNone/>
            </a:pPr>
            <a:r>
              <a:rPr lang="en-US" sz="1200" dirty="0">
                <a:solidFill>
                  <a:srgbClr val="1B2129"/>
                </a:solidFill>
                <a:latin typeface="Calibri" pitchFamily="34" charset="0"/>
                <a:ea typeface="Calibri" pitchFamily="34" charset="-122"/>
                <a:cs typeface="Calibri" pitchFamily="34" charset="-120"/>
              </a:rPr>
              <a:t>More candidates reach more deer but count fewer. The extra tracks are second sightings of deer already counted.</a:t>
            </a:r>
            <a:endParaRPr lang="en-US" sz="1200" dirty="0"/>
          </a:p>
        </p:txBody>
      </p:sp>
      <p:sp>
        <p:nvSpPr>
          <p:cNvPr id="9" name="Shape 4"/>
          <p:cNvSpPr/>
          <p:nvPr/>
        </p:nvSpPr>
        <p:spPr>
          <a:xfrm>
            <a:off x="4297680" y="5440680"/>
            <a:ext cx="3566160" cy="914400"/>
          </a:xfrm>
          <a:prstGeom prst="roundRect">
            <a:avLst>
              <a:gd name="adj" fmla="val 8000"/>
            </a:avLst>
          </a:prstGeom>
          <a:solidFill>
            <a:srgbClr val="EEF1F4"/>
          </a:solidFill>
          <a:ln w="12700">
            <a:solidFill>
              <a:srgbClr val="EEF1F4"/>
            </a:solidFill>
            <a:prstDash val="solid"/>
          </a:ln>
        </p:spPr>
      </p:sp>
      <p:sp>
        <p:nvSpPr>
          <p:cNvPr id="10" name="Text 5"/>
          <p:cNvSpPr txBox="1"/>
          <p:nvPr/>
        </p:nvSpPr>
        <p:spPr>
          <a:xfrm>
            <a:off x="4462272" y="5440680"/>
            <a:ext cx="3236976" cy="914400"/>
          </a:xfrm>
          <a:prstGeom prst="rect">
            <a:avLst/>
          </a:prstGeom>
          <a:noFill/>
          <a:ln/>
        </p:spPr>
        <p:txBody>
          <a:bodyPr wrap="square" lIns="0" tIns="0" rIns="0" bIns="0" rtlCol="0" anchor="ctr"/>
          <a:lstStyle/>
          <a:p>
            <a:pPr indent="0" marL="0">
              <a:buNone/>
            </a:pPr>
            <a:r>
              <a:rPr lang="en-US" sz="1200" dirty="0">
                <a:solidFill>
                  <a:srgbClr val="1B2129"/>
                </a:solidFill>
                <a:latin typeface="Calibri" pitchFamily="34" charset="0"/>
                <a:ea typeface="Calibri" pitchFamily="34" charset="-122"/>
                <a:cs typeface="Calibri" pitchFamily="34" charset="-120"/>
              </a:rPr>
              <a:t>Lowering the threshold brings back missed deer, with about two duplicates for each one.</a:t>
            </a:r>
            <a:endParaRPr lang="en-US" sz="1200" dirty="0"/>
          </a:p>
        </p:txBody>
      </p:sp>
      <p:sp>
        <p:nvSpPr>
          <p:cNvPr id="11" name="Shape 6"/>
          <p:cNvSpPr/>
          <p:nvPr/>
        </p:nvSpPr>
        <p:spPr>
          <a:xfrm>
            <a:off x="8046720" y="5440680"/>
            <a:ext cx="3566160" cy="914400"/>
          </a:xfrm>
          <a:prstGeom prst="roundRect">
            <a:avLst>
              <a:gd name="adj" fmla="val 8000"/>
            </a:avLst>
          </a:prstGeom>
          <a:solidFill>
            <a:srgbClr val="EEF1F4"/>
          </a:solidFill>
          <a:ln w="12700">
            <a:solidFill>
              <a:srgbClr val="EEF1F4"/>
            </a:solidFill>
            <a:prstDash val="solid"/>
          </a:ln>
        </p:spPr>
      </p:sp>
      <p:sp>
        <p:nvSpPr>
          <p:cNvPr id="12" name="Text 7"/>
          <p:cNvSpPr txBox="1"/>
          <p:nvPr/>
        </p:nvSpPr>
        <p:spPr>
          <a:xfrm>
            <a:off x="8211312" y="5440680"/>
            <a:ext cx="3236976" cy="914400"/>
          </a:xfrm>
          <a:prstGeom prst="rect">
            <a:avLst/>
          </a:prstGeom>
          <a:noFill/>
          <a:ln/>
        </p:spPr>
        <p:txBody>
          <a:bodyPr wrap="square" lIns="0" tIns="0" rIns="0" bIns="0" rtlCol="0" anchor="ctr"/>
          <a:lstStyle/>
          <a:p>
            <a:pPr indent="0" marL="0">
              <a:buNone/>
            </a:pPr>
            <a:r>
              <a:rPr lang="en-US" sz="1200" dirty="0">
                <a:solidFill>
                  <a:srgbClr val="1B2129"/>
                </a:solidFill>
                <a:latin typeface="Calibri" pitchFamily="34" charset="0"/>
                <a:ea typeface="Calibri" pitchFamily="34" charset="-122"/>
                <a:cs typeface="Calibri" pitchFamily="34" charset="-120"/>
              </a:rPr>
              <a:t>Machine learning in place of the rule was worse: error 2.85 to 3.00 deer per video, against 2.38.</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Result 4: chance of being counted, by size in the image</a:t>
            </a:r>
            <a:endParaRPr lang="en-US" sz="3000" dirty="0"/>
          </a:p>
        </p:txBody>
      </p:sp>
      <p:sp>
        <p:nvSpPr>
          <p:cNvPr id="3" name="Text 1"/>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5B6775"/>
                </a:solidFill>
                <a:latin typeface="Calibri" pitchFamily="34" charset="0"/>
                <a:ea typeface="Calibri" pitchFamily="34" charset="-122"/>
                <a:cs typeface="Calibri" pitchFamily="34" charset="-120"/>
              </a:rPr>
              <a:t>15</a:t>
            </a:r>
            <a:endParaRPr lang="en-US" sz="1000" dirty="0"/>
          </a:p>
        </p:txBody>
      </p:sp>
      <p:graphicFrame>
        <p:nvGraphicFramePr>
          <p:cNvPr id="5" name="Chart 0" descr=""/>
          <p:cNvGraphicFramePr/>
          <p:nvPr/>
        </p:nvGraphicFramePr>
        <p:xfrm>
          <a:off x="457200" y="1280160"/>
          <a:ext cx="7315200" cy="51206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8046720" y="1371600"/>
            <a:ext cx="3611880" cy="1508760"/>
          </a:xfrm>
          <a:prstGeom prst="roundRect">
            <a:avLst>
              <a:gd name="adj" fmla="val 4848"/>
            </a:avLst>
          </a:prstGeom>
          <a:solidFill>
            <a:srgbClr val="EEF1F4"/>
          </a:solidFill>
          <a:ln w="12700">
            <a:solidFill>
              <a:srgbClr val="EEF1F4"/>
            </a:solidFill>
            <a:prstDash val="solid"/>
          </a:ln>
        </p:spPr>
      </p:sp>
      <p:sp>
        <p:nvSpPr>
          <p:cNvPr id="7" name="Text 3"/>
          <p:cNvSpPr txBox="1"/>
          <p:nvPr/>
        </p:nvSpPr>
        <p:spPr>
          <a:xfrm>
            <a:off x="8229600" y="1508760"/>
            <a:ext cx="3246120" cy="365760"/>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Distance costs counts</a:t>
            </a:r>
            <a:endParaRPr lang="en-US" sz="1500" dirty="0"/>
          </a:p>
        </p:txBody>
      </p:sp>
      <p:sp>
        <p:nvSpPr>
          <p:cNvPr id="8" name="Text 4"/>
          <p:cNvSpPr txBox="1"/>
          <p:nvPr/>
        </p:nvSpPr>
        <p:spPr>
          <a:xfrm>
            <a:off x="8229600" y="1920240"/>
            <a:ext cx="3246120" cy="86868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Small, distant deer are usually detected, but their tracks are too weak to be accepted.</a:t>
            </a:r>
            <a:endParaRPr lang="en-US" sz="1250" dirty="0"/>
          </a:p>
        </p:txBody>
      </p:sp>
      <p:sp>
        <p:nvSpPr>
          <p:cNvPr id="9" name="Shape 5"/>
          <p:cNvSpPr/>
          <p:nvPr/>
        </p:nvSpPr>
        <p:spPr>
          <a:xfrm>
            <a:off x="8046720" y="3063240"/>
            <a:ext cx="3611880" cy="1508760"/>
          </a:xfrm>
          <a:prstGeom prst="roundRect">
            <a:avLst>
              <a:gd name="adj" fmla="val 4848"/>
            </a:avLst>
          </a:prstGeom>
          <a:solidFill>
            <a:srgbClr val="EEF1F4"/>
          </a:solidFill>
          <a:ln w="12700">
            <a:solidFill>
              <a:srgbClr val="EEF1F4"/>
            </a:solidFill>
            <a:prstDash val="solid"/>
          </a:ln>
        </p:spPr>
      </p:sp>
      <p:sp>
        <p:nvSpPr>
          <p:cNvPr id="10" name="Text 6"/>
          <p:cNvSpPr txBox="1"/>
          <p:nvPr/>
        </p:nvSpPr>
        <p:spPr>
          <a:xfrm>
            <a:off x="8229600" y="3200400"/>
            <a:ext cx="3246120" cy="365760"/>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Box size is a proxy</a:t>
            </a:r>
            <a:endParaRPr lang="en-US" sz="1500" dirty="0"/>
          </a:p>
        </p:txBody>
      </p:sp>
      <p:sp>
        <p:nvSpPr>
          <p:cNvPr id="11" name="Text 7"/>
          <p:cNvSpPr txBox="1"/>
          <p:nvPr/>
        </p:nvSpPr>
        <p:spPr>
          <a:xfrm>
            <a:off x="8229600" y="3611880"/>
            <a:ext cx="3246120" cy="86868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It mixes distance with body size and posture. It needs checking against real distances.</a:t>
            </a:r>
            <a:endParaRPr lang="en-US" sz="1250" dirty="0"/>
          </a:p>
        </p:txBody>
      </p:sp>
      <p:sp>
        <p:nvSpPr>
          <p:cNvPr id="12" name="Shape 8"/>
          <p:cNvSpPr/>
          <p:nvPr/>
        </p:nvSpPr>
        <p:spPr>
          <a:xfrm>
            <a:off x="8046720" y="4754880"/>
            <a:ext cx="3611880" cy="1600200"/>
          </a:xfrm>
          <a:prstGeom prst="roundRect">
            <a:avLst>
              <a:gd name="adj" fmla="val 4571"/>
            </a:avLst>
          </a:prstGeom>
          <a:solidFill>
            <a:srgbClr val="12161C"/>
          </a:solidFill>
          <a:ln w="12700">
            <a:solidFill>
              <a:srgbClr val="12161C"/>
            </a:solidFill>
            <a:prstDash val="solid"/>
          </a:ln>
        </p:spPr>
      </p:sp>
      <p:sp>
        <p:nvSpPr>
          <p:cNvPr id="13" name="Text 9"/>
          <p:cNvSpPr txBox="1"/>
          <p:nvPr/>
        </p:nvSpPr>
        <p:spPr>
          <a:xfrm>
            <a:off x="8229600" y="4892040"/>
            <a:ext cx="3246120" cy="365760"/>
          </a:xfrm>
          <a:prstGeom prst="rect">
            <a:avLst/>
          </a:prstGeom>
          <a:noFill/>
          <a:ln/>
        </p:spPr>
        <p:txBody>
          <a:bodyPr wrap="square" lIns="0" tIns="0" rIns="0" bIns="0" rtlCol="0" anchor="ctr"/>
          <a:lstStyle/>
          <a:p>
            <a:pPr indent="0" marL="0">
              <a:buNone/>
            </a:pPr>
            <a:r>
              <a:rPr lang="en-US" sz="1500" b="1" dirty="0">
                <a:solidFill>
                  <a:srgbClr val="F2911B"/>
                </a:solidFill>
                <a:latin typeface="Calibri" pitchFamily="34" charset="0"/>
                <a:ea typeface="Calibri" pitchFamily="34" charset="-122"/>
                <a:cs typeface="Calibri" pitchFamily="34" charset="-120"/>
              </a:rPr>
              <a:t>A detection function?</a:t>
            </a:r>
            <a:endParaRPr lang="en-US" sz="1500" dirty="0"/>
          </a:p>
        </p:txBody>
      </p:sp>
      <p:sp>
        <p:nvSpPr>
          <p:cNvPr id="14" name="Text 10"/>
          <p:cNvSpPr txBox="1"/>
          <p:nvPr/>
        </p:nvSpPr>
        <p:spPr>
          <a:xfrm>
            <a:off x="8229600" y="5303520"/>
            <a:ext cx="3246120" cy="96012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This curve could feed distance sampling. The annotation itself thins out below about 20 px.</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rgbClr val="1B2129"/>
                </a:solidFill>
                <a:latin typeface="Cambria" pitchFamily="34" charset="0"/>
                <a:ea typeface="Cambria" pitchFamily="34" charset="-122"/>
                <a:cs typeface="Cambria" pitchFamily="34" charset="-120"/>
              </a:rPr>
              <a:t>Result 5: a new site needs its own threshold</a:t>
            </a:r>
            <a:endParaRPr lang="en-US" sz="3000" dirty="0"/>
          </a:p>
        </p:txBody>
      </p:sp>
      <p:sp>
        <p:nvSpPr>
          <p:cNvPr id="3" name="Text 1"/>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5B6775"/>
                </a:solidFill>
                <a:latin typeface="Calibri" pitchFamily="34" charset="0"/>
                <a:ea typeface="Calibri" pitchFamily="34" charset="-122"/>
                <a:cs typeface="Calibri" pitchFamily="34" charset="-120"/>
              </a:rPr>
              <a:t>16</a:t>
            </a:r>
            <a:endParaRPr lang="en-US" sz="1000" dirty="0"/>
          </a:p>
        </p:txBody>
      </p:sp>
      <p:graphicFrame>
        <p:nvGraphicFramePr>
          <p:cNvPr id="5" name="Chart 0" descr=""/>
          <p:cNvGraphicFramePr/>
          <p:nvPr/>
        </p:nvGraphicFramePr>
        <p:xfrm>
          <a:off x="457200" y="1280160"/>
          <a:ext cx="5852160" cy="51206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492240" y="1280160"/>
          <a:ext cx="5212080" cy="310896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6583680" y="4572000"/>
            <a:ext cx="2468880" cy="1783080"/>
          </a:xfrm>
          <a:prstGeom prst="roundRect">
            <a:avLst>
              <a:gd name="adj" fmla="val 4103"/>
            </a:avLst>
          </a:prstGeom>
          <a:solidFill>
            <a:srgbClr val="EEF1F4"/>
          </a:solidFill>
          <a:ln w="12700">
            <a:solidFill>
              <a:srgbClr val="EEF1F4"/>
            </a:solidFill>
            <a:prstDash val="solid"/>
          </a:ln>
        </p:spPr>
      </p:sp>
      <p:sp>
        <p:nvSpPr>
          <p:cNvPr id="8" name="Text 3"/>
          <p:cNvSpPr txBox="1"/>
          <p:nvPr/>
        </p:nvSpPr>
        <p:spPr>
          <a:xfrm>
            <a:off x="6766560" y="4709160"/>
            <a:ext cx="2103120" cy="365760"/>
          </a:xfrm>
          <a:prstGeom prst="rect">
            <a:avLst/>
          </a:prstGeom>
          <a:noFill/>
          <a:ln/>
        </p:spPr>
        <p:txBody>
          <a:bodyPr wrap="square" lIns="0" tIns="0" rIns="0" bIns="0" rtlCol="0" anchor="ctr"/>
          <a:lstStyle/>
          <a:p>
            <a:pPr indent="0" marL="0">
              <a:buNone/>
            </a:pPr>
            <a:r>
              <a:rPr lang="en-US" sz="1500" b="1" dirty="0">
                <a:solidFill>
                  <a:srgbClr val="1B2129"/>
                </a:solidFill>
                <a:latin typeface="Calibri" pitchFamily="34" charset="0"/>
                <a:ea typeface="Calibri" pitchFamily="34" charset="-122"/>
                <a:cs typeface="Calibri" pitchFamily="34" charset="-120"/>
              </a:rPr>
              <a:t>What transfers</a:t>
            </a:r>
            <a:endParaRPr lang="en-US" sz="1500" dirty="0"/>
          </a:p>
        </p:txBody>
      </p:sp>
      <p:sp>
        <p:nvSpPr>
          <p:cNvPr id="9" name="Text 4"/>
          <p:cNvSpPr txBox="1"/>
          <p:nvPr/>
        </p:nvSpPr>
        <p:spPr>
          <a:xfrm>
            <a:off x="6766560" y="5120640"/>
            <a:ext cx="2103120" cy="1143000"/>
          </a:xfrm>
          <a:prstGeom prst="rect">
            <a:avLst/>
          </a:prstGeom>
          <a:noFill/>
          <a:ln/>
        </p:spPr>
        <p:txBody>
          <a:bodyPr wrap="square" lIns="0" tIns="0" rIns="0" bIns="0" rtlCol="0" anchor="t"/>
          <a:lstStyle/>
          <a:p>
            <a:pPr indent="0" marL="0">
              <a:buNone/>
            </a:pPr>
            <a:r>
              <a:rPr lang="en-US" sz="1250" dirty="0">
                <a:solidFill>
                  <a:srgbClr val="1B2129"/>
                </a:solidFill>
                <a:latin typeface="Calibri" pitchFamily="34" charset="0"/>
                <a:ea typeface="Calibri" pitchFamily="34" charset="-122"/>
                <a:cs typeface="Calibri" pitchFamily="34" charset="-120"/>
              </a:rPr>
              <a:t>Detection and tracking: 91% reached and 78% primary over the four sites.</a:t>
            </a:r>
            <a:endParaRPr lang="en-US" sz="1250" dirty="0"/>
          </a:p>
        </p:txBody>
      </p:sp>
      <p:sp>
        <p:nvSpPr>
          <p:cNvPr id="10" name="Shape 5"/>
          <p:cNvSpPr/>
          <p:nvPr/>
        </p:nvSpPr>
        <p:spPr>
          <a:xfrm>
            <a:off x="9189720" y="4572000"/>
            <a:ext cx="2468880" cy="1783080"/>
          </a:xfrm>
          <a:prstGeom prst="roundRect">
            <a:avLst>
              <a:gd name="adj" fmla="val 4103"/>
            </a:avLst>
          </a:prstGeom>
          <a:solidFill>
            <a:srgbClr val="12161C"/>
          </a:solidFill>
          <a:ln w="12700">
            <a:solidFill>
              <a:srgbClr val="12161C"/>
            </a:solidFill>
            <a:prstDash val="solid"/>
          </a:ln>
        </p:spPr>
      </p:sp>
      <p:sp>
        <p:nvSpPr>
          <p:cNvPr id="11" name="Text 6"/>
          <p:cNvSpPr txBox="1"/>
          <p:nvPr/>
        </p:nvSpPr>
        <p:spPr>
          <a:xfrm>
            <a:off x="9372600" y="4709160"/>
            <a:ext cx="2103120" cy="365760"/>
          </a:xfrm>
          <a:prstGeom prst="rect">
            <a:avLst/>
          </a:prstGeom>
          <a:noFill/>
          <a:ln/>
        </p:spPr>
        <p:txBody>
          <a:bodyPr wrap="square" lIns="0" tIns="0" rIns="0" bIns="0" rtlCol="0" anchor="ctr"/>
          <a:lstStyle/>
          <a:p>
            <a:pPr indent="0" marL="0">
              <a:buNone/>
            </a:pPr>
            <a:r>
              <a:rPr lang="en-US" sz="1500" b="1" dirty="0">
                <a:solidFill>
                  <a:srgbClr val="F2911B"/>
                </a:solidFill>
                <a:latin typeface="Calibri" pitchFamily="34" charset="0"/>
                <a:ea typeface="Calibri" pitchFamily="34" charset="-122"/>
                <a:cs typeface="Calibri" pitchFamily="34" charset="-120"/>
              </a:rPr>
              <a:t>What does not</a:t>
            </a:r>
            <a:endParaRPr lang="en-US" sz="1500" dirty="0"/>
          </a:p>
        </p:txBody>
      </p:sp>
      <p:sp>
        <p:nvSpPr>
          <p:cNvPr id="12" name="Text 7"/>
          <p:cNvSpPr txBox="1"/>
          <p:nvPr/>
        </p:nvSpPr>
        <p:spPr>
          <a:xfrm>
            <a:off x="9372600" y="5120640"/>
            <a:ext cx="2103120" cy="11430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The fixed threshold. One night per site, so site and weather cannot be separated.</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we learned, and what we would like to do with you</a:t>
            </a:r>
            <a:endParaRPr lang="en-US" sz="3000" dirty="0"/>
          </a:p>
        </p:txBody>
      </p:sp>
      <p:sp>
        <p:nvSpPr>
          <p:cNvPr id="3" name="Text 1"/>
          <p:cNvSpPr txBox="1"/>
          <p:nvPr/>
        </p:nvSpPr>
        <p:spPr>
          <a:xfrm>
            <a:off x="11155680" y="6400800"/>
            <a:ext cx="502920" cy="274320"/>
          </a:xfrm>
          <a:prstGeom prst="rect">
            <a:avLst/>
          </a:prstGeom>
          <a:noFill/>
          <a:ln/>
        </p:spPr>
        <p:txBody>
          <a:bodyPr wrap="square" lIns="0" tIns="0" rIns="0" bIns="0" rtlCol="0" anchor="ctr"/>
          <a:lstStyle/>
          <a:p>
            <a:pPr algn="r" indent="0" marL="0">
              <a:buNone/>
            </a:pPr>
            <a:r>
              <a:rPr lang="en-US" sz="1000" dirty="0">
                <a:solidFill>
                  <a:srgbClr val="9DB4C8"/>
                </a:solidFill>
                <a:latin typeface="Calibri" pitchFamily="34" charset="0"/>
                <a:ea typeface="Calibri" pitchFamily="34" charset="-122"/>
                <a:cs typeface="Calibri" pitchFamily="34" charset="-120"/>
              </a:rPr>
              <a:t>17</a:t>
            </a:r>
            <a:endParaRPr lang="en-US" sz="1000" dirty="0"/>
          </a:p>
        </p:txBody>
      </p:sp>
      <p:sp>
        <p:nvSpPr>
          <p:cNvPr id="5" name="Text 2"/>
          <p:cNvSpPr txBox="1"/>
          <p:nvPr/>
        </p:nvSpPr>
        <p:spPr>
          <a:xfrm>
            <a:off x="548640" y="1280160"/>
            <a:ext cx="5486400" cy="365760"/>
          </a:xfrm>
          <a:prstGeom prst="rect">
            <a:avLst/>
          </a:prstGeom>
          <a:noFill/>
          <a:ln/>
        </p:spPr>
        <p:txBody>
          <a:bodyPr wrap="square" lIns="0" tIns="0" rIns="0" bIns="0" rtlCol="0" anchor="t"/>
          <a:lstStyle/>
          <a:p>
            <a:pPr indent="0" marL="0">
              <a:buNone/>
            </a:pPr>
            <a:r>
              <a:rPr lang="en-US" sz="1400" b="1" spc="100" kern="0" dirty="0">
                <a:solidFill>
                  <a:srgbClr val="F2911B"/>
                </a:solidFill>
                <a:latin typeface="Calibri" pitchFamily="34" charset="0"/>
                <a:ea typeface="Calibri" pitchFamily="34" charset="-122"/>
                <a:cs typeface="Calibri" pitchFamily="34" charset="-120"/>
              </a:rPr>
              <a:t>What we learned</a:t>
            </a:r>
            <a:endParaRPr lang="en-US" sz="1400" dirty="0"/>
          </a:p>
        </p:txBody>
      </p:sp>
      <p:sp>
        <p:nvSpPr>
          <p:cNvPr id="6" name="Shape 3"/>
          <p:cNvSpPr/>
          <p:nvPr/>
        </p:nvSpPr>
        <p:spPr>
          <a:xfrm>
            <a:off x="548640" y="1828800"/>
            <a:ext cx="420624" cy="420624"/>
          </a:xfrm>
          <a:prstGeom prst="ellipse">
            <a:avLst/>
          </a:prstGeom>
          <a:solidFill>
            <a:srgbClr val="F2911B"/>
          </a:solidFill>
          <a:ln w="12700">
            <a:solidFill>
              <a:srgbClr val="F2911B"/>
            </a:solidFill>
            <a:prstDash val="solid"/>
          </a:ln>
        </p:spPr>
      </p:sp>
      <p:sp>
        <p:nvSpPr>
          <p:cNvPr id="7" name="Text 4"/>
          <p:cNvSpPr txBox="1"/>
          <p:nvPr/>
        </p:nvSpPr>
        <p:spPr>
          <a:xfrm>
            <a:off x="548640" y="1828800"/>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1143000" y="1783080"/>
            <a:ext cx="475488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Detection is not the bottleneck</a:t>
            </a:r>
            <a:endParaRPr lang="en-US" sz="1600" dirty="0"/>
          </a:p>
        </p:txBody>
      </p:sp>
      <p:sp>
        <p:nvSpPr>
          <p:cNvPr id="9" name="Text 6"/>
          <p:cNvSpPr txBox="1"/>
          <p:nvPr/>
        </p:nvSpPr>
        <p:spPr>
          <a:xfrm>
            <a:off x="1143000" y="2185416"/>
            <a:ext cx="4754880" cy="640080"/>
          </a:xfrm>
          <a:prstGeom prst="rect">
            <a:avLst/>
          </a:prstGeom>
          <a:noFill/>
          <a:ln/>
        </p:spPr>
        <p:txBody>
          <a:bodyPr wrap="square" lIns="0" tIns="0" rIns="0" bIns="0" rtlCol="0" anchor="t"/>
          <a:lstStyle/>
          <a:p>
            <a:pPr indent="0" marL="0">
              <a:buNone/>
            </a:pPr>
            <a:r>
              <a:rPr lang="en-US" sz="1250" dirty="0">
                <a:solidFill>
                  <a:srgbClr val="C9D3DD"/>
                </a:solidFill>
                <a:latin typeface="Calibri" pitchFamily="34" charset="0"/>
                <a:ea typeface="Calibri" pitchFamily="34" charset="-122"/>
                <a:cs typeface="Calibri" pitchFamily="34" charset="-120"/>
              </a:rPr>
              <a:t>Per animal, almost every deer is found. Confirmation is where deer are lost.</a:t>
            </a:r>
            <a:endParaRPr lang="en-US" sz="1250" dirty="0"/>
          </a:p>
        </p:txBody>
      </p:sp>
      <p:sp>
        <p:nvSpPr>
          <p:cNvPr id="10" name="Shape 7"/>
          <p:cNvSpPr/>
          <p:nvPr/>
        </p:nvSpPr>
        <p:spPr>
          <a:xfrm>
            <a:off x="548640" y="2944368"/>
            <a:ext cx="420624" cy="420624"/>
          </a:xfrm>
          <a:prstGeom prst="ellipse">
            <a:avLst/>
          </a:prstGeom>
          <a:solidFill>
            <a:srgbClr val="F2911B"/>
          </a:solidFill>
          <a:ln w="12700">
            <a:solidFill>
              <a:srgbClr val="F2911B"/>
            </a:solidFill>
            <a:prstDash val="solid"/>
          </a:ln>
        </p:spPr>
      </p:sp>
      <p:sp>
        <p:nvSpPr>
          <p:cNvPr id="11" name="Text 8"/>
          <p:cNvSpPr txBox="1"/>
          <p:nvPr/>
        </p:nvSpPr>
        <p:spPr>
          <a:xfrm>
            <a:off x="548640" y="2944368"/>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1143000" y="2898648"/>
            <a:ext cx="475488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More candidates did not help</a:t>
            </a:r>
            <a:endParaRPr lang="en-US" sz="1600" dirty="0"/>
          </a:p>
        </p:txBody>
      </p:sp>
      <p:sp>
        <p:nvSpPr>
          <p:cNvPr id="13" name="Text 10"/>
          <p:cNvSpPr txBox="1"/>
          <p:nvPr/>
        </p:nvSpPr>
        <p:spPr>
          <a:xfrm>
            <a:off x="1143000" y="3300984"/>
            <a:ext cx="4754880" cy="640080"/>
          </a:xfrm>
          <a:prstGeom prst="rect">
            <a:avLst/>
          </a:prstGeom>
          <a:noFill/>
          <a:ln/>
        </p:spPr>
        <p:txBody>
          <a:bodyPr wrap="square" lIns="0" tIns="0" rIns="0" bIns="0" rtlCol="0" anchor="t"/>
          <a:lstStyle/>
          <a:p>
            <a:pPr indent="0" marL="0">
              <a:buNone/>
            </a:pPr>
            <a:r>
              <a:rPr lang="en-US" sz="1250" dirty="0">
                <a:solidFill>
                  <a:srgbClr val="C9D3DD"/>
                </a:solidFill>
                <a:latin typeface="Calibri" pitchFamily="34" charset="0"/>
                <a:ea typeface="Calibri" pitchFamily="34" charset="-122"/>
                <a:cs typeface="Calibri" pitchFamily="34" charset="-120"/>
              </a:rPr>
              <a:t>Better detection, tracking and looser filtering each left the count equal or lower.</a:t>
            </a:r>
            <a:endParaRPr lang="en-US" sz="1250" dirty="0"/>
          </a:p>
        </p:txBody>
      </p:sp>
      <p:sp>
        <p:nvSpPr>
          <p:cNvPr id="14" name="Shape 11"/>
          <p:cNvSpPr/>
          <p:nvPr/>
        </p:nvSpPr>
        <p:spPr>
          <a:xfrm>
            <a:off x="548640" y="4059936"/>
            <a:ext cx="420624" cy="420624"/>
          </a:xfrm>
          <a:prstGeom prst="ellipse">
            <a:avLst/>
          </a:prstGeom>
          <a:solidFill>
            <a:srgbClr val="F2911B"/>
          </a:solidFill>
          <a:ln w="12700">
            <a:solidFill>
              <a:srgbClr val="F2911B"/>
            </a:solidFill>
            <a:prstDash val="solid"/>
          </a:ln>
        </p:spPr>
      </p:sp>
      <p:sp>
        <p:nvSpPr>
          <p:cNvPr id="15" name="Text 12"/>
          <p:cNvSpPr txBox="1"/>
          <p:nvPr/>
        </p:nvSpPr>
        <p:spPr>
          <a:xfrm>
            <a:off x="548640" y="4059936"/>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3</a:t>
            </a:r>
            <a:endParaRPr lang="en-US" sz="1400" dirty="0"/>
          </a:p>
        </p:txBody>
      </p:sp>
      <p:sp>
        <p:nvSpPr>
          <p:cNvPr id="16" name="Text 13"/>
          <p:cNvSpPr txBox="1"/>
          <p:nvPr/>
        </p:nvSpPr>
        <p:spPr>
          <a:xfrm>
            <a:off x="1143000" y="4014216"/>
            <a:ext cx="475488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limit is data, not the model</a:t>
            </a:r>
            <a:endParaRPr lang="en-US" sz="1600" dirty="0"/>
          </a:p>
        </p:txBody>
      </p:sp>
      <p:sp>
        <p:nvSpPr>
          <p:cNvPr id="17" name="Text 14"/>
          <p:cNvSpPr txBox="1"/>
          <p:nvPr/>
        </p:nvSpPr>
        <p:spPr>
          <a:xfrm>
            <a:off x="1143000" y="4416552"/>
            <a:ext cx="4754880" cy="640080"/>
          </a:xfrm>
          <a:prstGeom prst="rect">
            <a:avLst/>
          </a:prstGeom>
          <a:noFill/>
          <a:ln/>
        </p:spPr>
        <p:txBody>
          <a:bodyPr wrap="square" lIns="0" tIns="0" rIns="0" bIns="0" rtlCol="0" anchor="t"/>
          <a:lstStyle/>
          <a:p>
            <a:pPr indent="0" marL="0">
              <a:buNone/>
            </a:pPr>
            <a:r>
              <a:rPr lang="en-US" sz="1250" dirty="0">
                <a:solidFill>
                  <a:srgbClr val="C9D3DD"/>
                </a:solidFill>
                <a:latin typeface="Calibri" pitchFamily="34" charset="0"/>
                <a:ea typeface="Calibri" pitchFamily="34" charset="-122"/>
                <a:cs typeface="Calibri" pitchFamily="34" charset="-120"/>
              </a:rPr>
              <a:t>About 200 real tracks. Duplicates look like real deer, because they are real deer.</a:t>
            </a:r>
            <a:endParaRPr lang="en-US" sz="1250" dirty="0"/>
          </a:p>
        </p:txBody>
      </p:sp>
      <p:sp>
        <p:nvSpPr>
          <p:cNvPr id="18" name="Shape 15"/>
          <p:cNvSpPr/>
          <p:nvPr/>
        </p:nvSpPr>
        <p:spPr>
          <a:xfrm>
            <a:off x="548640" y="5175504"/>
            <a:ext cx="420624" cy="420624"/>
          </a:xfrm>
          <a:prstGeom prst="ellipse">
            <a:avLst/>
          </a:prstGeom>
          <a:solidFill>
            <a:srgbClr val="F2911B"/>
          </a:solidFill>
          <a:ln w="12700">
            <a:solidFill>
              <a:srgbClr val="F2911B"/>
            </a:solidFill>
            <a:prstDash val="solid"/>
          </a:ln>
        </p:spPr>
      </p:sp>
      <p:sp>
        <p:nvSpPr>
          <p:cNvPr id="19" name="Text 16"/>
          <p:cNvSpPr txBox="1"/>
          <p:nvPr/>
        </p:nvSpPr>
        <p:spPr>
          <a:xfrm>
            <a:off x="548640" y="5175504"/>
            <a:ext cx="420624" cy="420624"/>
          </a:xfrm>
          <a:prstGeom prst="rect">
            <a:avLst/>
          </a:prstGeom>
          <a:noFill/>
          <a:ln/>
        </p:spPr>
        <p:txBody>
          <a:bodyPr wrap="square" lIns="0" tIns="0" rIns="0" bIns="0" rtlCol="0" anchor="ctr"/>
          <a:lstStyle/>
          <a:p>
            <a:pPr algn="ctr" indent="0" marL="0">
              <a:buNone/>
            </a:pPr>
            <a:r>
              <a:rPr lang="en-US" sz="1400" b="1" dirty="0">
                <a:solidFill>
                  <a:srgbClr val="12161C"/>
                </a:solidFill>
                <a:latin typeface="Calibri" pitchFamily="34" charset="0"/>
                <a:ea typeface="Calibri" pitchFamily="34" charset="-122"/>
                <a:cs typeface="Calibri" pitchFamily="34" charset="-120"/>
              </a:rPr>
              <a:t>4</a:t>
            </a:r>
            <a:endParaRPr lang="en-US" sz="1400" dirty="0"/>
          </a:p>
        </p:txBody>
      </p:sp>
      <p:sp>
        <p:nvSpPr>
          <p:cNvPr id="20" name="Text 17"/>
          <p:cNvSpPr txBox="1"/>
          <p:nvPr/>
        </p:nvSpPr>
        <p:spPr>
          <a:xfrm>
            <a:off x="1143000" y="5129784"/>
            <a:ext cx="475488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threshold is a choice</a:t>
            </a:r>
            <a:endParaRPr lang="en-US" sz="1600" dirty="0"/>
          </a:p>
        </p:txBody>
      </p:sp>
      <p:sp>
        <p:nvSpPr>
          <p:cNvPr id="21" name="Text 18"/>
          <p:cNvSpPr txBox="1"/>
          <p:nvPr/>
        </p:nvSpPr>
        <p:spPr>
          <a:xfrm>
            <a:off x="1143000" y="5532120"/>
            <a:ext cx="4754880" cy="640080"/>
          </a:xfrm>
          <a:prstGeom prst="rect">
            <a:avLst/>
          </a:prstGeom>
          <a:noFill/>
          <a:ln/>
        </p:spPr>
        <p:txBody>
          <a:bodyPr wrap="square" lIns="0" tIns="0" rIns="0" bIns="0" rtlCol="0" anchor="t"/>
          <a:lstStyle/>
          <a:p>
            <a:pPr indent="0" marL="0">
              <a:buNone/>
            </a:pPr>
            <a:r>
              <a:rPr lang="en-US" sz="1250" dirty="0">
                <a:solidFill>
                  <a:srgbClr val="C9D3DD"/>
                </a:solidFill>
                <a:latin typeface="Calibri" pitchFamily="34" charset="0"/>
                <a:ea typeface="Calibri" pitchFamily="34" charset="-122"/>
                <a:cs typeface="Calibri" pitchFamily="34" charset="-120"/>
              </a:rPr>
              <a:t>0.65 for one transect; 0.45 for an almost unbiased total (81 of 83).</a:t>
            </a:r>
            <a:endParaRPr lang="en-US" sz="1250" dirty="0"/>
          </a:p>
        </p:txBody>
      </p:sp>
      <p:sp>
        <p:nvSpPr>
          <p:cNvPr id="22" name="Text 19"/>
          <p:cNvSpPr txBox="1"/>
          <p:nvPr/>
        </p:nvSpPr>
        <p:spPr>
          <a:xfrm>
            <a:off x="6400800" y="1280160"/>
            <a:ext cx="5212080" cy="365760"/>
          </a:xfrm>
          <a:prstGeom prst="rect">
            <a:avLst/>
          </a:prstGeom>
          <a:noFill/>
          <a:ln/>
        </p:spPr>
        <p:txBody>
          <a:bodyPr wrap="square" lIns="0" tIns="0" rIns="0" bIns="0" rtlCol="0" anchor="t"/>
          <a:lstStyle/>
          <a:p>
            <a:pPr indent="0" marL="0">
              <a:buNone/>
            </a:pPr>
            <a:r>
              <a:rPr lang="en-US" sz="1400" b="1" spc="100" kern="0" dirty="0">
                <a:solidFill>
                  <a:srgbClr val="F2911B"/>
                </a:solidFill>
                <a:latin typeface="Calibri" pitchFamily="34" charset="0"/>
                <a:ea typeface="Calibri" pitchFamily="34" charset="-122"/>
                <a:cs typeface="Calibri" pitchFamily="34" charset="-120"/>
              </a:rPr>
              <a:t>What we would like to do with you</a:t>
            </a:r>
            <a:endParaRPr lang="en-US" sz="1400" dirty="0"/>
          </a:p>
        </p:txBody>
      </p:sp>
      <p:sp>
        <p:nvSpPr>
          <p:cNvPr id="23" name="Shape 20"/>
          <p:cNvSpPr/>
          <p:nvPr/>
        </p:nvSpPr>
        <p:spPr>
          <a:xfrm>
            <a:off x="6400800" y="1783080"/>
            <a:ext cx="5239512" cy="987552"/>
          </a:xfrm>
          <a:prstGeom prst="roundRect">
            <a:avLst>
              <a:gd name="adj" fmla="val 7407"/>
            </a:avLst>
          </a:prstGeom>
          <a:solidFill>
            <a:srgbClr val="1E2530"/>
          </a:solidFill>
          <a:ln w="12700">
            <a:solidFill>
              <a:srgbClr val="1E2530"/>
            </a:solidFill>
            <a:prstDash val="solid"/>
          </a:ln>
        </p:spPr>
      </p:sp>
      <p:sp>
        <p:nvSpPr>
          <p:cNvPr id="24" name="Text 21"/>
          <p:cNvSpPr txBox="1"/>
          <p:nvPr/>
        </p:nvSpPr>
        <p:spPr>
          <a:xfrm>
            <a:off x="6583680" y="1856232"/>
            <a:ext cx="4892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Box size against real distance</a:t>
            </a:r>
            <a:endParaRPr lang="en-US" sz="1500" dirty="0"/>
          </a:p>
        </p:txBody>
      </p:sp>
      <p:sp>
        <p:nvSpPr>
          <p:cNvPr id="25" name="Text 22"/>
          <p:cNvSpPr txBox="1"/>
          <p:nvPr/>
        </p:nvSpPr>
        <p:spPr>
          <a:xfrm>
            <a:off x="6583680" y="2240280"/>
            <a:ext cx="4892040" cy="457200"/>
          </a:xfrm>
          <a:prstGeom prst="rect">
            <a:avLst/>
          </a:prstGeom>
          <a:noFill/>
          <a:ln/>
        </p:spPr>
        <p:txBody>
          <a:bodyPr wrap="square" lIns="0" tIns="0" rIns="0" bIns="0" rtlCol="0" anchor="t"/>
          <a:lstStyle/>
          <a:p>
            <a:pPr indent="0" marL="0">
              <a:buNone/>
            </a:pPr>
            <a:r>
              <a:rPr lang="en-US" sz="1250" dirty="0">
                <a:solidFill>
                  <a:srgbClr val="C9D3DD"/>
                </a:solidFill>
                <a:latin typeface="Calibri" pitchFamily="34" charset="0"/>
                <a:ea typeface="Calibri" pitchFamily="34" charset="-122"/>
                <a:cs typeface="Calibri" pitchFamily="34" charset="-120"/>
              </a:rPr>
              <a:t>Validate the proxy, then build a detection function for distance sampling.</a:t>
            </a:r>
            <a:endParaRPr lang="en-US" sz="1250" dirty="0"/>
          </a:p>
        </p:txBody>
      </p:sp>
      <p:sp>
        <p:nvSpPr>
          <p:cNvPr id="26" name="Shape 23"/>
          <p:cNvSpPr/>
          <p:nvPr/>
        </p:nvSpPr>
        <p:spPr>
          <a:xfrm>
            <a:off x="6400800" y="2898648"/>
            <a:ext cx="5239512" cy="987552"/>
          </a:xfrm>
          <a:prstGeom prst="roundRect">
            <a:avLst>
              <a:gd name="adj" fmla="val 7407"/>
            </a:avLst>
          </a:prstGeom>
          <a:solidFill>
            <a:srgbClr val="1E2530"/>
          </a:solidFill>
          <a:ln w="12700">
            <a:solidFill>
              <a:srgbClr val="1E2530"/>
            </a:solidFill>
            <a:prstDash val="solid"/>
          </a:ln>
        </p:spPr>
      </p:sp>
      <p:sp>
        <p:nvSpPr>
          <p:cNvPr id="27" name="Text 24"/>
          <p:cNvSpPr txBox="1"/>
          <p:nvPr/>
        </p:nvSpPr>
        <p:spPr>
          <a:xfrm>
            <a:off x="6583680" y="2971800"/>
            <a:ext cx="4892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Repeated nights at one site</a:t>
            </a:r>
            <a:endParaRPr lang="en-US" sz="1500" dirty="0"/>
          </a:p>
        </p:txBody>
      </p:sp>
      <p:sp>
        <p:nvSpPr>
          <p:cNvPr id="28" name="Text 25"/>
          <p:cNvSpPr txBox="1"/>
          <p:nvPr/>
        </p:nvSpPr>
        <p:spPr>
          <a:xfrm>
            <a:off x="6583680" y="3355848"/>
            <a:ext cx="4892040" cy="457200"/>
          </a:xfrm>
          <a:prstGeom prst="rect">
            <a:avLst/>
          </a:prstGeom>
          <a:noFill/>
          <a:ln/>
        </p:spPr>
        <p:txBody>
          <a:bodyPr wrap="square" lIns="0" tIns="0" rIns="0" bIns="0" rtlCol="0" anchor="t"/>
          <a:lstStyle/>
          <a:p>
            <a:pPr indent="0" marL="0">
              <a:buNone/>
            </a:pPr>
            <a:r>
              <a:rPr lang="en-US" sz="1250" dirty="0">
                <a:solidFill>
                  <a:srgbClr val="C9D3DD"/>
                </a:solidFill>
                <a:latin typeface="Calibri" pitchFamily="34" charset="0"/>
                <a:ea typeface="Calibri" pitchFamily="34" charset="-122"/>
                <a:cs typeface="Calibri" pitchFamily="34" charset="-120"/>
              </a:rPr>
              <a:t>To separate the effect of the site from the weather of the night.</a:t>
            </a:r>
            <a:endParaRPr lang="en-US" sz="1250" dirty="0"/>
          </a:p>
        </p:txBody>
      </p:sp>
      <p:sp>
        <p:nvSpPr>
          <p:cNvPr id="29" name="Shape 26"/>
          <p:cNvSpPr/>
          <p:nvPr/>
        </p:nvSpPr>
        <p:spPr>
          <a:xfrm>
            <a:off x="6400800" y="4014216"/>
            <a:ext cx="5239512" cy="987552"/>
          </a:xfrm>
          <a:prstGeom prst="roundRect">
            <a:avLst>
              <a:gd name="adj" fmla="val 7407"/>
            </a:avLst>
          </a:prstGeom>
          <a:solidFill>
            <a:srgbClr val="1E2530"/>
          </a:solidFill>
          <a:ln w="12700">
            <a:solidFill>
              <a:srgbClr val="1E2530"/>
            </a:solidFill>
            <a:prstDash val="solid"/>
          </a:ln>
        </p:spPr>
      </p:sp>
      <p:sp>
        <p:nvSpPr>
          <p:cNvPr id="30" name="Text 27"/>
          <p:cNvSpPr txBox="1"/>
          <p:nvPr/>
        </p:nvSpPr>
        <p:spPr>
          <a:xfrm>
            <a:off x="6583680" y="4087368"/>
            <a:ext cx="4892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small annotated sample per new site</a:t>
            </a:r>
            <a:endParaRPr lang="en-US" sz="1500" dirty="0"/>
          </a:p>
        </p:txBody>
      </p:sp>
      <p:sp>
        <p:nvSpPr>
          <p:cNvPr id="31" name="Text 28"/>
          <p:cNvSpPr txBox="1"/>
          <p:nvPr/>
        </p:nvSpPr>
        <p:spPr>
          <a:xfrm>
            <a:off x="6583680" y="4471416"/>
            <a:ext cx="4892040" cy="457200"/>
          </a:xfrm>
          <a:prstGeom prst="rect">
            <a:avLst/>
          </a:prstGeom>
          <a:noFill/>
          <a:ln/>
        </p:spPr>
        <p:txBody>
          <a:bodyPr wrap="square" lIns="0" tIns="0" rIns="0" bIns="0" rtlCol="0" anchor="t"/>
          <a:lstStyle/>
          <a:p>
            <a:pPr indent="0" marL="0">
              <a:buNone/>
            </a:pPr>
            <a:r>
              <a:rPr lang="en-US" sz="1250" dirty="0">
                <a:solidFill>
                  <a:srgbClr val="C9D3DD"/>
                </a:solidFill>
                <a:latin typeface="Calibri" pitchFamily="34" charset="0"/>
                <a:ea typeface="Calibri" pitchFamily="34" charset="-122"/>
                <a:cs typeface="Calibri" pitchFamily="34" charset="-120"/>
              </a:rPr>
              <a:t>To set the threshold again before counting there.</a:t>
            </a:r>
            <a:endParaRPr lang="en-US" sz="1250" dirty="0"/>
          </a:p>
        </p:txBody>
      </p:sp>
      <p:sp>
        <p:nvSpPr>
          <p:cNvPr id="32" name="Shape 29"/>
          <p:cNvSpPr/>
          <p:nvPr/>
        </p:nvSpPr>
        <p:spPr>
          <a:xfrm>
            <a:off x="6400800" y="5129784"/>
            <a:ext cx="5239512" cy="987552"/>
          </a:xfrm>
          <a:prstGeom prst="roundRect">
            <a:avLst>
              <a:gd name="adj" fmla="val 7407"/>
            </a:avLst>
          </a:prstGeom>
          <a:solidFill>
            <a:srgbClr val="1E2530"/>
          </a:solidFill>
          <a:ln w="12700">
            <a:solidFill>
              <a:srgbClr val="1E2530"/>
            </a:solidFill>
            <a:prstDash val="solid"/>
          </a:ln>
        </p:spPr>
      </p:sp>
      <p:sp>
        <p:nvSpPr>
          <p:cNvPr id="33" name="Text 30"/>
          <p:cNvSpPr txBox="1"/>
          <p:nvPr/>
        </p:nvSpPr>
        <p:spPr>
          <a:xfrm>
            <a:off x="6583680" y="5202936"/>
            <a:ext cx="48920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Dataset, code and a software tool</a:t>
            </a:r>
            <a:endParaRPr lang="en-US" sz="1500" dirty="0"/>
          </a:p>
        </p:txBody>
      </p:sp>
      <p:sp>
        <p:nvSpPr>
          <p:cNvPr id="34" name="Text 31"/>
          <p:cNvSpPr txBox="1"/>
          <p:nvPr/>
        </p:nvSpPr>
        <p:spPr>
          <a:xfrm>
            <a:off x="6583680" y="5586984"/>
            <a:ext cx="4892040" cy="457200"/>
          </a:xfrm>
          <a:prstGeom prst="rect">
            <a:avLst/>
          </a:prstGeom>
          <a:noFill/>
          <a:ln/>
        </p:spPr>
        <p:txBody>
          <a:bodyPr wrap="square" lIns="0" tIns="0" rIns="0" bIns="0" rtlCol="0" anchor="t"/>
          <a:lstStyle/>
          <a:p>
            <a:pPr indent="0" marL="0">
              <a:buNone/>
            </a:pPr>
            <a:r>
              <a:rPr lang="en-US" sz="1250" dirty="0">
                <a:solidFill>
                  <a:srgbClr val="C9D3DD"/>
                </a:solidFill>
                <a:latin typeface="Calibri" pitchFamily="34" charset="0"/>
                <a:ea typeface="Calibri" pitchFamily="34" charset="-122"/>
                <a:cs typeface="Calibri" pitchFamily="34" charset="-120"/>
              </a:rPr>
              <a:t>Video in; video with boxes, tracks and the count out.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 counting white-tailed deer in thermal road-transect video</dc:title>
  <dc:subject>PptxGenJS Presentation</dc:subject>
  <dc:creator>Taminul Islam</dc:creator>
  <cp:lastModifiedBy>Taminul Islam</cp:lastModifiedBy>
  <cp:revision>1</cp:revision>
  <dcterms:created xsi:type="dcterms:W3CDTF">2026-09-29T04:37:23Z</dcterms:created>
  <dcterms:modified xsi:type="dcterms:W3CDTF">2026-09-29T04:37:23Z</dcterms:modified>
</cp:coreProperties>
</file>